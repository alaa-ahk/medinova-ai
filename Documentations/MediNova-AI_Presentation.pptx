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4"/>
  </p:notesMasterIdLst>
  <p:sldIdLst>
    <p:sldId id="256" r:id="rId2"/>
    <p:sldId id="284" r:id="rId3"/>
    <p:sldId id="257" r:id="rId4"/>
    <p:sldId id="258" r:id="rId5"/>
    <p:sldId id="261" r:id="rId6"/>
    <p:sldId id="262" r:id="rId7"/>
    <p:sldId id="285" r:id="rId8"/>
    <p:sldId id="286" r:id="rId9"/>
    <p:sldId id="287" r:id="rId10"/>
    <p:sldId id="288" r:id="rId11"/>
    <p:sldId id="289" r:id="rId12"/>
    <p:sldId id="290" r:id="rId13"/>
    <p:sldId id="291" r:id="rId14"/>
    <p:sldId id="293" r:id="rId15"/>
    <p:sldId id="294" r:id="rId16"/>
    <p:sldId id="295" r:id="rId17"/>
    <p:sldId id="296" r:id="rId18"/>
    <p:sldId id="297" r:id="rId19"/>
    <p:sldId id="298" r:id="rId20"/>
    <p:sldId id="299" r:id="rId21"/>
    <p:sldId id="300" r:id="rId22"/>
    <p:sldId id="301" r:id="rId23"/>
    <p:sldId id="302" r:id="rId24"/>
    <p:sldId id="303" r:id="rId25"/>
    <p:sldId id="305" r:id="rId26"/>
    <p:sldId id="304" r:id="rId27"/>
    <p:sldId id="306" r:id="rId28"/>
    <p:sldId id="307" r:id="rId29"/>
    <p:sldId id="308" r:id="rId30"/>
    <p:sldId id="281" r:id="rId31"/>
    <p:sldId id="283" r:id="rId32"/>
    <p:sldId id="309" r:id="rId3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3" d="100"/>
          <a:sy n="63" d="100"/>
        </p:scale>
        <p:origin x="676"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181166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47EB04-EFFE-6403-6C6C-54793A8D7A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C10C757-1A18-C267-12F3-E647611E07C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0C0C272-BDF2-00C5-1F88-F6284B6AEEF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A3AACA9-59AD-1F71-E3C6-4D68E27A9F13}"/>
              </a:ext>
            </a:extLst>
          </p:cNvPr>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41844558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62F183-9C96-B549-B39E-D041FCCDB8D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2BF6D70-79A3-5A44-A209-4E3DF973253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2CA92CB-287E-D0E8-97B4-B4A07C17FB7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F736B33-DED4-FC33-6BB6-99B30DD29B27}"/>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354595017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482DDD-E061-9704-59D4-A394B119767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7A6DCA8-2ACA-1CAB-861F-EF3AA77DBBE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4196D47-242C-1905-682B-5E12B7B525E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F60F643-4641-6058-58C2-A9710A14B5AA}"/>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39637224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C03998-CA4F-1396-BFD9-5EE773127D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AFDF8DB-B01B-934A-2006-A5C1334F987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67F63C-D5F7-19A7-A289-97BC5EEB80E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38190F9-FFE0-0640-BAE8-D025D5E1564E}"/>
              </a:ext>
            </a:extLst>
          </p:cNvPr>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38352769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192912-3E1F-385F-482A-B96BFC7503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B11125C-719C-7554-16D3-9DC5BCEEFD2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20904EA-187F-B00A-B05E-C03E5DE8811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5C28D1C-77BD-00EB-589E-095145C12BAC}"/>
              </a:ext>
            </a:extLst>
          </p:cNvPr>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366239354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8CC9C8-D007-C44D-71B0-C8CBAECD2AC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C3BBAD8-AA2F-2AA9-0B5F-0152D444D80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7B74FA9-EFC3-FC5C-1E17-067E0A011EA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50A8F6C-F2C9-6FFC-E078-521CD5F354BF}"/>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300709876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1BD31D-2D89-A476-9EE5-7C14D53469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2B1422F-4453-D342-60FC-9F0507445B9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9C04EDB-2307-14BA-CB33-A41A1450170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80D39C3-4D06-609A-D848-3DD1B5327B4F}"/>
              </a:ext>
            </a:extLst>
          </p:cNvPr>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358632878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ED31F3-34BB-6E6A-2988-7A49425A6D8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FE21587-1F45-71B0-67F3-CDDC74D7D07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FD0913D-B7E5-2B8F-94CE-4D395F4607B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102808C-099E-4F64-DA48-8E3EB10C9228}"/>
              </a:ext>
            </a:extLst>
          </p:cNvPr>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239894821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228C03-7345-5BF4-EFA6-CF6104B1068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283B721-B1B4-35FD-EC57-AE4569F4A94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CBFFC8F-ADB3-66AD-5EBB-BAC86F68DA7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6BD0A9F-4673-0529-E3A1-39857D1E3F20}"/>
              </a:ext>
            </a:extLst>
          </p:cNvPr>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89505295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76EB3F-7330-C6F2-75E6-71D587927B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E6DAD74-73E7-E23C-ECAA-D67566070E6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379D8FF-076D-FBC9-F18D-8C492C30916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10742BD-BE9D-A5E1-E443-0A1F8407E8CE}"/>
              </a:ext>
            </a:extLst>
          </p:cNvPr>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31149674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6F6C76-96E2-EEBB-B207-CAB9DE066B1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2F86E4B-66F5-C38C-AD2A-A71790409A5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7917DA7-C47A-761E-B114-922D5A5B567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C447EF3-D6F1-46C5-2C00-AF6C465746BE}"/>
              </a:ext>
            </a:extLst>
          </p:cNvPr>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30924373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E7BE86-2367-DF2A-36AD-EEDA3650DF8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80B848A-A280-416C-C811-54CA3E7F245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3930579-5324-1FFC-9FEB-02E85D4564F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E440863-4EC3-674B-069C-75413C6249EE}"/>
              </a:ext>
            </a:extLst>
          </p:cNvPr>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398289315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3FCB89-BA4E-1788-78DA-45293C0BB55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733CE0A-94CC-E24E-993B-6E700B095C5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DC76BEA-56A0-FDDF-2328-8559E17DD85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4658658-1677-4D62-909A-9C7FB2A0DC86}"/>
              </a:ext>
            </a:extLst>
          </p:cNvPr>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340608443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59A818-C4EE-0349-1F4D-521FE690D57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60E804-28A0-5606-1F25-7DB3C264D61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3C59E6C-A21C-26AC-000F-D139D2AE7DD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CBEAF9F-C11D-0550-DF77-C32491D8C334}"/>
              </a:ext>
            </a:extLst>
          </p:cNvPr>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43071680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5BF17B-B6FB-817B-5C93-51645008FB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90929F4-E1C0-4C8D-B3FC-4E944FB11D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F00C178-E91E-4216-AA08-BE5F8FA3A48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E82E8F4-CE43-D41D-DBA8-2C861BB1D2BF}"/>
              </a:ext>
            </a:extLst>
          </p:cNvPr>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241300304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82009A-6901-010D-7DA5-739925B7DC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F17745A-AABB-5275-DA41-C34024BC9AC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09A42FF-784F-E828-A43D-D5709B67D8D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9F2BB25-F912-D457-14CD-FDF503BF6B1C}"/>
              </a:ext>
            </a:extLst>
          </p:cNvPr>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83156685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1A00F1-2BC5-44CF-6AC4-187A69EFA4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1D641E2-F23F-AE13-B0B1-8224883220F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F3AF2D0-E06E-1800-85B2-9E038B84DD9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ED7B571-0E5A-24B4-97DD-18D71B7E6244}"/>
              </a:ext>
            </a:extLst>
          </p:cNvPr>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409259793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E5362B-A43D-0707-B946-F7B1977809C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C830DEB-3715-0284-1E97-936564BB0CE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DA4EB5C-D721-EEFC-1914-81504E00769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E473D59-766F-46F7-7D90-A36E7F37777F}"/>
              </a:ext>
            </a:extLst>
          </p:cNvPr>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279892892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95C458-F175-BE4A-4E32-EE4E8261350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914F3D7-2262-3F00-56EE-79B9D9633EE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9EF8FA-D0D5-690E-2A70-CEA6F9559CB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2F3D837-7807-B9ED-096A-2D308076469F}"/>
              </a:ext>
            </a:extLst>
          </p:cNvPr>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260070236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20F725-4B2C-491E-BA84-72CAFD40497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B718C5-D124-2714-9C32-DAA191F94D3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BF2E155-0045-2ABF-2CD9-B5A7DD4CDEB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46CBDE4-FB17-9BDE-E115-1E8C2E59F9A3}"/>
              </a:ext>
            </a:extLst>
          </p:cNvPr>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395792455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A33D97-4992-1E93-D029-D151216CEBC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E386256-2393-2E23-0F40-A03BC7F0D7B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892667F-825F-A191-D3DE-43A86B9F5F9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EB0880C-43E7-D3C8-0DE2-CAA65201F585}"/>
              </a:ext>
            </a:extLst>
          </p:cNvPr>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4296408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883C9F-D0F4-27CC-46DE-A585CC0120E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D6CB78A-C5A3-93FD-2F3A-0A310205CC5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EC5D93B-E965-22CB-BC75-71878205F6D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D5EDB0A-DBC6-EB71-BF4B-2CE211733BEA}"/>
              </a:ext>
            </a:extLst>
          </p:cNvPr>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427347265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3BEDB0-59ED-E542-CF5F-7790373D7A1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4730E02-D85D-8984-CCDA-B57E63DCE03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ADE61A9-7205-41DA-DC61-42700F838A8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285DD4A-32A9-4909-6BD5-BD015E1FF740}"/>
              </a:ext>
            </a:extLst>
          </p:cNvPr>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239872284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00D342-543E-891B-CF96-BFEAF906774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D7A52D2-B07F-C279-B566-B95F8EB9605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A4CC70F-A3C8-C031-73CE-F449B454886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9BCA82A-479B-7215-0248-BF3E75FA59A2}"/>
              </a:ext>
            </a:extLst>
          </p:cNvPr>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59474522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861B17-0A1D-ED9C-9BD7-4ED94141A3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D35866-D434-87C5-889E-C0FBC119A4F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777687A-0598-5355-66CD-11B1E8F0880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68D8BE1-76E4-9A3B-C50F-1E665E75020D}"/>
              </a:ext>
            </a:extLst>
          </p:cNvPr>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64528387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1.pn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E3C4E"/>
        </a:solidFill>
        <a:effectLst/>
      </p:bgPr>
    </p:bg>
    <p:spTree>
      <p:nvGrpSpPr>
        <p:cNvPr id="1" name=""/>
        <p:cNvGrpSpPr/>
        <p:nvPr/>
      </p:nvGrpSpPr>
      <p:grpSpPr>
        <a:xfrm>
          <a:off x="0" y="0"/>
          <a:ext cx="0" cy="0"/>
          <a:chOff x="0" y="0"/>
          <a:chExt cx="0" cy="0"/>
        </a:xfrm>
      </p:grpSpPr>
      <p:sp>
        <p:nvSpPr>
          <p:cNvPr id="2" name="Shape 0"/>
          <p:cNvSpPr/>
          <p:nvPr/>
        </p:nvSpPr>
        <p:spPr>
          <a:xfrm>
            <a:off x="9692640" y="-1463040"/>
            <a:ext cx="4754880" cy="4754880"/>
          </a:xfrm>
          <a:prstGeom prst="ellipse">
            <a:avLst/>
          </a:prstGeom>
          <a:solidFill>
            <a:srgbClr val="004A66">
              <a:alpha val="45000"/>
            </a:srgbClr>
          </a:solidFill>
          <a:ln/>
        </p:spPr>
        <p:txBody>
          <a:bodyPr/>
          <a:lstStyle/>
          <a:p>
            <a:endParaRPr lang="en-US"/>
          </a:p>
        </p:txBody>
      </p:sp>
      <p:sp>
        <p:nvSpPr>
          <p:cNvPr id="3" name="Shape 1"/>
          <p:cNvSpPr/>
          <p:nvPr/>
        </p:nvSpPr>
        <p:spPr>
          <a:xfrm>
            <a:off x="-1645920" y="4937760"/>
            <a:ext cx="4206240" cy="4206240"/>
          </a:xfrm>
          <a:prstGeom prst="ellipse">
            <a:avLst/>
          </a:prstGeom>
          <a:solidFill>
            <a:srgbClr val="0077A8">
              <a:alpha val="38000"/>
            </a:srgbClr>
          </a:solidFill>
          <a:ln/>
        </p:spPr>
        <p:txBody>
          <a:bodyPr/>
          <a:lstStyle/>
          <a:p>
            <a:endParaRPr lang="en-US"/>
          </a:p>
        </p:txBody>
      </p:sp>
      <p:sp>
        <p:nvSpPr>
          <p:cNvPr id="4" name="Shape 2"/>
          <p:cNvSpPr/>
          <p:nvPr/>
        </p:nvSpPr>
        <p:spPr>
          <a:xfrm>
            <a:off x="548640" y="640080"/>
            <a:ext cx="2834640" cy="384048"/>
          </a:xfrm>
          <a:prstGeom prst="roundRect">
            <a:avLst>
              <a:gd name="adj" fmla="val 50000"/>
            </a:avLst>
          </a:prstGeom>
          <a:solidFill>
            <a:srgbClr val="004A66"/>
          </a:solidFill>
          <a:ln/>
        </p:spPr>
        <p:txBody>
          <a:bodyPr/>
          <a:lstStyle/>
          <a:p>
            <a:endParaRPr lang="en-US"/>
          </a:p>
        </p:txBody>
      </p:sp>
      <p:sp>
        <p:nvSpPr>
          <p:cNvPr id="6" name="Text 4"/>
          <p:cNvSpPr/>
          <p:nvPr/>
        </p:nvSpPr>
        <p:spPr>
          <a:xfrm>
            <a:off x="548640" y="2240280"/>
            <a:ext cx="10058400" cy="1051560"/>
          </a:xfrm>
          <a:prstGeom prst="rect">
            <a:avLst/>
          </a:prstGeom>
          <a:noFill/>
          <a:ln/>
        </p:spPr>
        <p:txBody>
          <a:bodyPr wrap="square" lIns="0" tIns="0" rIns="0" bIns="0" rtlCol="0" anchor="ctr"/>
          <a:lstStyle/>
          <a:p>
            <a:pPr marL="0" indent="0">
              <a:buNone/>
            </a:pPr>
            <a:r>
              <a:rPr lang="en-US" sz="5800" b="1" dirty="0">
                <a:solidFill>
                  <a:srgbClr val="FFFFFF"/>
                </a:solidFill>
                <a:latin typeface="Calibri" pitchFamily="34" charset="0"/>
                <a:ea typeface="Calibri" pitchFamily="34" charset="-122"/>
                <a:cs typeface="Calibri" pitchFamily="34" charset="-120"/>
              </a:rPr>
              <a:t>MediNova-AI</a:t>
            </a:r>
            <a:endParaRPr lang="en-US" sz="5800" dirty="0"/>
          </a:p>
        </p:txBody>
      </p:sp>
      <p:sp>
        <p:nvSpPr>
          <p:cNvPr id="7" name="Text 5"/>
          <p:cNvSpPr/>
          <p:nvPr/>
        </p:nvSpPr>
        <p:spPr>
          <a:xfrm>
            <a:off x="777240" y="3246120"/>
            <a:ext cx="9601200" cy="502920"/>
          </a:xfrm>
          <a:prstGeom prst="rect">
            <a:avLst/>
          </a:prstGeom>
          <a:noFill/>
          <a:ln/>
        </p:spPr>
        <p:txBody>
          <a:bodyPr wrap="square" lIns="0" tIns="0" rIns="0" bIns="0" rtlCol="0" anchor="ctr"/>
          <a:lstStyle/>
          <a:p>
            <a:pPr marL="0" indent="0">
              <a:buNone/>
            </a:pPr>
            <a:r>
              <a:rPr lang="en-US" sz="2400" dirty="0">
                <a:solidFill>
                  <a:srgbClr val="95CCDA"/>
                </a:solidFill>
                <a:latin typeface="Calibri" pitchFamily="34" charset="0"/>
                <a:ea typeface="Calibri" pitchFamily="34" charset="-122"/>
                <a:cs typeface="Calibri" pitchFamily="34" charset="-120"/>
              </a:rPr>
              <a:t>A Unified AI-Powered Medical Diagnosis Platform</a:t>
            </a:r>
            <a:endParaRPr lang="en-US" sz="2400" dirty="0"/>
          </a:p>
        </p:txBody>
      </p:sp>
      <p:sp>
        <p:nvSpPr>
          <p:cNvPr id="8" name="Text 6"/>
          <p:cNvSpPr/>
          <p:nvPr/>
        </p:nvSpPr>
        <p:spPr>
          <a:xfrm>
            <a:off x="566928" y="3840480"/>
            <a:ext cx="7863840" cy="685800"/>
          </a:xfrm>
          <a:prstGeom prst="rect">
            <a:avLst/>
          </a:prstGeom>
          <a:noFill/>
          <a:ln/>
        </p:spPr>
        <p:txBody>
          <a:bodyPr wrap="square" lIns="0" tIns="0" rIns="0" bIns="0" rtlCol="0" anchor="ctr"/>
          <a:lstStyle/>
          <a:p>
            <a:pPr marL="0" indent="0">
              <a:buNone/>
            </a:pPr>
            <a:r>
              <a:rPr lang="en-US" sz="1400" dirty="0">
                <a:solidFill>
                  <a:srgbClr val="D9EDF2"/>
                </a:solidFill>
                <a:latin typeface="Calibri" pitchFamily="34" charset="0"/>
                <a:ea typeface="Calibri" pitchFamily="34" charset="-122"/>
                <a:cs typeface="Calibri" pitchFamily="34" charset="-120"/>
              </a:rPr>
              <a:t>Three specialised AI systems — dermatology vision, radiology vision, and a bilingual clinical LLM — fused into one intelligent medical assistant.</a:t>
            </a:r>
            <a:endParaRPr lang="en-US" sz="1400" dirty="0"/>
          </a:p>
        </p:txBody>
      </p:sp>
      <p:sp>
        <p:nvSpPr>
          <p:cNvPr id="15" name="Text 13"/>
          <p:cNvSpPr/>
          <p:nvPr/>
        </p:nvSpPr>
        <p:spPr>
          <a:xfrm>
            <a:off x="8385048" y="4892040"/>
            <a:ext cx="2468880" cy="457200"/>
          </a:xfrm>
          <a:prstGeom prst="rect">
            <a:avLst/>
          </a:prstGeom>
          <a:noFill/>
          <a:ln/>
        </p:spPr>
        <p:txBody>
          <a:bodyPr wrap="square" lIns="0" tIns="0" rIns="0" bIns="0" rtlCol="0" anchor="ctr"/>
          <a:lstStyle/>
          <a:p>
            <a:pPr marL="0" indent="0">
              <a:buNone/>
            </a:pPr>
            <a:endParaRPr lang="en-US" sz="2400" dirty="0"/>
          </a:p>
        </p:txBody>
      </p:sp>
      <p:sp>
        <p:nvSpPr>
          <p:cNvPr id="16" name="Text 14"/>
          <p:cNvSpPr/>
          <p:nvPr/>
        </p:nvSpPr>
        <p:spPr>
          <a:xfrm>
            <a:off x="8385048" y="5349240"/>
            <a:ext cx="2468880" cy="365760"/>
          </a:xfrm>
          <a:prstGeom prst="rect">
            <a:avLst/>
          </a:prstGeom>
          <a:noFill/>
          <a:ln/>
        </p:spPr>
        <p:txBody>
          <a:bodyPr wrap="square" lIns="0" tIns="0" rIns="0" bIns="0" rtlCol="0" anchor="ctr"/>
          <a:lstStyle/>
          <a:p>
            <a:pPr marL="0" indent="0">
              <a:buNone/>
            </a:pPr>
            <a:endParaRPr lang="en-US" sz="1050" dirty="0"/>
          </a:p>
        </p:txBody>
      </p:sp>
      <p:sp>
        <p:nvSpPr>
          <p:cNvPr id="17" name="Text 15"/>
          <p:cNvSpPr/>
          <p:nvPr/>
        </p:nvSpPr>
        <p:spPr>
          <a:xfrm>
            <a:off x="566928" y="6172200"/>
            <a:ext cx="9144000" cy="365760"/>
          </a:xfrm>
          <a:prstGeom prst="rect">
            <a:avLst/>
          </a:prstGeom>
          <a:noFill/>
          <a:ln/>
        </p:spPr>
        <p:txBody>
          <a:bodyPr wrap="square" lIns="0" tIns="0" rIns="0" bIns="0" rtlCol="0" anchor="ctr"/>
          <a:lstStyle/>
          <a:p>
            <a:pPr marL="0" indent="0">
              <a:buNone/>
            </a:pP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2E3C4E"/>
        </a:solidFill>
        <a:effectLst/>
      </p:bgPr>
    </p:bg>
    <p:spTree>
      <p:nvGrpSpPr>
        <p:cNvPr id="1" name="">
          <a:extLst>
            <a:ext uri="{FF2B5EF4-FFF2-40B4-BE49-F238E27FC236}">
              <a16:creationId xmlns:a16="http://schemas.microsoft.com/office/drawing/2014/main" id="{4B69C056-98C2-0F3C-688C-1416ECFC9F07}"/>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B5FC55CD-C8BB-F42D-BF43-D0C82BEE7EC6}"/>
              </a:ext>
            </a:extLst>
          </p:cNvPr>
          <p:cNvSpPr/>
          <p:nvPr/>
        </p:nvSpPr>
        <p:spPr>
          <a:xfrm>
            <a:off x="9692640" y="-1463040"/>
            <a:ext cx="4754880" cy="4754880"/>
          </a:xfrm>
          <a:prstGeom prst="ellipse">
            <a:avLst/>
          </a:prstGeom>
          <a:solidFill>
            <a:srgbClr val="004A66">
              <a:alpha val="45000"/>
            </a:srgbClr>
          </a:solidFill>
          <a:ln/>
        </p:spPr>
        <p:txBody>
          <a:bodyPr/>
          <a:lstStyle/>
          <a:p>
            <a:endParaRPr lang="en-US"/>
          </a:p>
        </p:txBody>
      </p:sp>
      <p:sp>
        <p:nvSpPr>
          <p:cNvPr id="3" name="Shape 1">
            <a:extLst>
              <a:ext uri="{FF2B5EF4-FFF2-40B4-BE49-F238E27FC236}">
                <a16:creationId xmlns:a16="http://schemas.microsoft.com/office/drawing/2014/main" id="{10F9A101-CC8E-CE58-AC2D-637C817A69CF}"/>
              </a:ext>
            </a:extLst>
          </p:cNvPr>
          <p:cNvSpPr/>
          <p:nvPr/>
        </p:nvSpPr>
        <p:spPr>
          <a:xfrm>
            <a:off x="-1645920" y="4937760"/>
            <a:ext cx="4206240" cy="4206240"/>
          </a:xfrm>
          <a:prstGeom prst="ellipse">
            <a:avLst/>
          </a:prstGeom>
          <a:solidFill>
            <a:srgbClr val="0077A8">
              <a:alpha val="38000"/>
            </a:srgbClr>
          </a:solidFill>
          <a:ln/>
        </p:spPr>
        <p:txBody>
          <a:bodyPr/>
          <a:lstStyle/>
          <a:p>
            <a:endParaRPr lang="en-US"/>
          </a:p>
        </p:txBody>
      </p:sp>
      <p:sp>
        <p:nvSpPr>
          <p:cNvPr id="4" name="Shape 2">
            <a:extLst>
              <a:ext uri="{FF2B5EF4-FFF2-40B4-BE49-F238E27FC236}">
                <a16:creationId xmlns:a16="http://schemas.microsoft.com/office/drawing/2014/main" id="{1451BB8B-7272-276A-9F29-87AC2E5187E5}"/>
              </a:ext>
            </a:extLst>
          </p:cNvPr>
          <p:cNvSpPr/>
          <p:nvPr/>
        </p:nvSpPr>
        <p:spPr>
          <a:xfrm>
            <a:off x="548640" y="640080"/>
            <a:ext cx="2834640" cy="384048"/>
          </a:xfrm>
          <a:prstGeom prst="roundRect">
            <a:avLst>
              <a:gd name="adj" fmla="val 50000"/>
            </a:avLst>
          </a:prstGeom>
          <a:solidFill>
            <a:srgbClr val="004A66"/>
          </a:solidFill>
          <a:ln/>
        </p:spPr>
        <p:txBody>
          <a:bodyPr/>
          <a:lstStyle/>
          <a:p>
            <a:endParaRPr lang="en-US"/>
          </a:p>
        </p:txBody>
      </p:sp>
      <p:sp>
        <p:nvSpPr>
          <p:cNvPr id="15" name="Text 13">
            <a:extLst>
              <a:ext uri="{FF2B5EF4-FFF2-40B4-BE49-F238E27FC236}">
                <a16:creationId xmlns:a16="http://schemas.microsoft.com/office/drawing/2014/main" id="{1E988540-3218-E3E1-8732-62800F6FCD89}"/>
              </a:ext>
            </a:extLst>
          </p:cNvPr>
          <p:cNvSpPr/>
          <p:nvPr/>
        </p:nvSpPr>
        <p:spPr>
          <a:xfrm>
            <a:off x="8385048" y="4892040"/>
            <a:ext cx="2468880" cy="457200"/>
          </a:xfrm>
          <a:prstGeom prst="rect">
            <a:avLst/>
          </a:prstGeom>
          <a:noFill/>
          <a:ln/>
        </p:spPr>
        <p:txBody>
          <a:bodyPr wrap="square" lIns="0" tIns="0" rIns="0" bIns="0" rtlCol="0" anchor="ctr"/>
          <a:lstStyle/>
          <a:p>
            <a:pPr marL="0" indent="0">
              <a:buNone/>
            </a:pPr>
            <a:endParaRPr lang="en-US" sz="2400" dirty="0"/>
          </a:p>
        </p:txBody>
      </p:sp>
      <p:sp>
        <p:nvSpPr>
          <p:cNvPr id="16" name="Text 14">
            <a:extLst>
              <a:ext uri="{FF2B5EF4-FFF2-40B4-BE49-F238E27FC236}">
                <a16:creationId xmlns:a16="http://schemas.microsoft.com/office/drawing/2014/main" id="{6ADCFB9D-1ED5-88A4-87C0-1601935010A5}"/>
              </a:ext>
            </a:extLst>
          </p:cNvPr>
          <p:cNvSpPr/>
          <p:nvPr/>
        </p:nvSpPr>
        <p:spPr>
          <a:xfrm>
            <a:off x="8385048" y="5349240"/>
            <a:ext cx="2468880" cy="365760"/>
          </a:xfrm>
          <a:prstGeom prst="rect">
            <a:avLst/>
          </a:prstGeom>
          <a:noFill/>
          <a:ln/>
        </p:spPr>
        <p:txBody>
          <a:bodyPr wrap="square" lIns="0" tIns="0" rIns="0" bIns="0" rtlCol="0" anchor="ctr"/>
          <a:lstStyle/>
          <a:p>
            <a:pPr marL="0" indent="0">
              <a:buNone/>
            </a:pPr>
            <a:endParaRPr lang="en-US" sz="1050" dirty="0"/>
          </a:p>
        </p:txBody>
      </p:sp>
      <p:sp>
        <p:nvSpPr>
          <p:cNvPr id="17" name="Text 15">
            <a:extLst>
              <a:ext uri="{FF2B5EF4-FFF2-40B4-BE49-F238E27FC236}">
                <a16:creationId xmlns:a16="http://schemas.microsoft.com/office/drawing/2014/main" id="{39A83CEE-9994-A991-EC10-F4107CBDBA03}"/>
              </a:ext>
            </a:extLst>
          </p:cNvPr>
          <p:cNvSpPr/>
          <p:nvPr/>
        </p:nvSpPr>
        <p:spPr>
          <a:xfrm>
            <a:off x="566928" y="6172200"/>
            <a:ext cx="9144000" cy="365760"/>
          </a:xfrm>
          <a:prstGeom prst="rect">
            <a:avLst/>
          </a:prstGeom>
          <a:noFill/>
          <a:ln/>
        </p:spPr>
        <p:txBody>
          <a:bodyPr wrap="square" lIns="0" tIns="0" rIns="0" bIns="0" rtlCol="0" anchor="ctr"/>
          <a:lstStyle/>
          <a:p>
            <a:pPr marL="0" indent="0">
              <a:buNone/>
            </a:pPr>
            <a:endParaRPr lang="en-US" sz="1250" dirty="0"/>
          </a:p>
        </p:txBody>
      </p:sp>
      <p:pic>
        <p:nvPicPr>
          <p:cNvPr id="5" name="vedio pres">
            <a:hlinkClick r:id="" action="ppaction://media"/>
            <a:extLst>
              <a:ext uri="{FF2B5EF4-FFF2-40B4-BE49-F238E27FC236}">
                <a16:creationId xmlns:a16="http://schemas.microsoft.com/office/drawing/2014/main" id="{862BD884-31E4-8FB7-792F-5196911C1244}"/>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287861" y="173421"/>
            <a:ext cx="11695526" cy="6364539"/>
          </a:xfrm>
          <a:prstGeom prst="rect">
            <a:avLst/>
          </a:prstGeom>
        </p:spPr>
      </p:pic>
    </p:spTree>
    <p:extLst>
      <p:ext uri="{BB962C8B-B14F-4D97-AF65-F5344CB8AC3E}">
        <p14:creationId xmlns:p14="http://schemas.microsoft.com/office/powerpoint/2010/main" val="11603781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0026"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5"/>
                </p:tgtEl>
              </p:cMediaNode>
            </p:video>
            <p:seq concurrent="1" nextAc="seek">
              <p:cTn id="8" restart="whenNotActive" fill="hold" evtFilter="cancelBubble" nodeType="interactiveSeq">
                <p:stCondLst>
                  <p:cond evt="onClick" delay="0">
                    <p:tgtEl>
                      <p:spTgt spid="5"/>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5"/>
                                        </p:tgtEl>
                                      </p:cBhvr>
                                    </p:cmd>
                                  </p:childTnLst>
                                </p:cTn>
                              </p:par>
                            </p:childTnLst>
                          </p:cTn>
                        </p:par>
                      </p:childTnLst>
                    </p:cTn>
                  </p:par>
                </p:childTnLst>
              </p:cTn>
              <p:nextCondLst>
                <p:cond evt="onClick" delay="0">
                  <p:tgtEl>
                    <p:spTgt spid="5"/>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2">
    <p:bg>
      <p:bgPr>
        <a:solidFill>
          <a:srgbClr val="2E3C4E"/>
        </a:solidFill>
        <a:effectLst/>
      </p:bgPr>
    </p:bg>
    <p:spTree>
      <p:nvGrpSpPr>
        <p:cNvPr id="1" name=""/>
        <p:cNvGrpSpPr/>
        <p:nvPr/>
      </p:nvGrpSpPr>
      <p:grpSpPr>
        <a:xfrm>
          <a:off x="0" y="0"/>
          <a:ext cx="0" cy="0"/>
          <a:chOff x="0" y="0"/>
          <a:chExt cx="0" cy="0"/>
        </a:xfrm>
      </p:grpSpPr>
      <p:sp>
        <p:nvSpPr>
          <p:cNvPr id="2" name="Text 0"/>
          <p:cNvSpPr/>
          <p:nvPr/>
        </p:nvSpPr>
        <p:spPr>
          <a:xfrm>
            <a:off x="548640" y="292608"/>
            <a:ext cx="9144000" cy="292608"/>
          </a:xfrm>
          <a:prstGeom prst="rect">
            <a:avLst/>
          </a:prstGeom>
          <a:noFill/>
          <a:ln/>
        </p:spPr>
        <p:txBody>
          <a:bodyPr wrap="square" rtlCol="0" anchor="ctr"/>
          <a:lstStyle/>
          <a:p>
            <a:pPr marL="0" indent="0">
              <a:buNone/>
            </a:pPr>
            <a:r>
              <a:rPr lang="en-US" sz="1250" b="1" kern="0" spc="200" dirty="0">
                <a:solidFill>
                  <a:srgbClr val="95CCDA"/>
                </a:solidFill>
                <a:latin typeface="Calibri" pitchFamily="34" charset="0"/>
                <a:ea typeface="Calibri" pitchFamily="34" charset="-122"/>
                <a:cs typeface="Calibri" pitchFamily="34" charset="-120"/>
              </a:rPr>
              <a:t>THE PEOPLE BEHIND IT</a:t>
            </a:r>
            <a:endParaRPr lang="en-US" sz="1250" dirty="0"/>
          </a:p>
        </p:txBody>
      </p:sp>
      <p:sp>
        <p:nvSpPr>
          <p:cNvPr id="3" name="Text 1"/>
          <p:cNvSpPr/>
          <p:nvPr/>
        </p:nvSpPr>
        <p:spPr>
          <a:xfrm>
            <a:off x="548640" y="566928"/>
            <a:ext cx="10789920" cy="685800"/>
          </a:xfrm>
          <a:prstGeom prst="rect">
            <a:avLst/>
          </a:prstGeom>
          <a:noFill/>
          <a:ln/>
        </p:spPr>
        <p:txBody>
          <a:bodyPr wrap="square" lIns="0" tIns="0" rIns="0" bIns="0" rtlCol="0" anchor="ctr"/>
          <a:lstStyle/>
          <a:p>
            <a:pPr marL="0" indent="0">
              <a:buNone/>
            </a:pPr>
            <a:r>
              <a:rPr lang="en-US" sz="2900" b="1" dirty="0">
                <a:solidFill>
                  <a:srgbClr val="FFFFFF"/>
                </a:solidFill>
                <a:latin typeface="Calibri" pitchFamily="34" charset="0"/>
                <a:ea typeface="Calibri" pitchFamily="34" charset="-122"/>
                <a:cs typeface="Calibri" pitchFamily="34" charset="-120"/>
              </a:rPr>
              <a:t>Project Team</a:t>
            </a:r>
            <a:endParaRPr lang="en-US" sz="2900" dirty="0"/>
          </a:p>
        </p:txBody>
      </p:sp>
      <p:sp>
        <p:nvSpPr>
          <p:cNvPr id="4" name="Shape 2"/>
          <p:cNvSpPr/>
          <p:nvPr/>
        </p:nvSpPr>
        <p:spPr>
          <a:xfrm>
            <a:off x="548640" y="1600200"/>
            <a:ext cx="3520440" cy="2331720"/>
          </a:xfrm>
          <a:prstGeom prst="roundRect">
            <a:avLst>
              <a:gd name="adj" fmla="val 3529"/>
            </a:avLst>
          </a:prstGeom>
          <a:solidFill>
            <a:srgbClr val="384653"/>
          </a:solidFill>
          <a:ln/>
          <a:effectLst>
            <a:outerShdw blurRad="101600" dist="38100" dir="5400000" algn="bl" rotWithShape="0">
              <a:srgbClr val="000000">
                <a:alpha val="35000"/>
              </a:srgbClr>
            </a:outerShdw>
          </a:effectLst>
        </p:spPr>
        <p:txBody>
          <a:bodyPr/>
          <a:lstStyle/>
          <a:p>
            <a:endParaRPr lang="en-US"/>
          </a:p>
        </p:txBody>
      </p:sp>
      <p:sp>
        <p:nvSpPr>
          <p:cNvPr id="5" name="Shape 3"/>
          <p:cNvSpPr/>
          <p:nvPr/>
        </p:nvSpPr>
        <p:spPr>
          <a:xfrm>
            <a:off x="1851660" y="1856232"/>
            <a:ext cx="914400" cy="914400"/>
          </a:xfrm>
          <a:prstGeom prst="ellipse">
            <a:avLst/>
          </a:prstGeom>
          <a:solidFill>
            <a:srgbClr val="0077A8"/>
          </a:solidFill>
          <a:ln/>
        </p:spPr>
        <p:txBody>
          <a:bodyPr/>
          <a:lstStyle/>
          <a:p>
            <a:endParaRPr lang="en-US"/>
          </a:p>
        </p:txBody>
      </p:sp>
      <p:sp>
        <p:nvSpPr>
          <p:cNvPr id="6" name="Text 4"/>
          <p:cNvSpPr/>
          <p:nvPr/>
        </p:nvSpPr>
        <p:spPr>
          <a:xfrm>
            <a:off x="1851660" y="1837944"/>
            <a:ext cx="914400" cy="914400"/>
          </a:xfrm>
          <a:prstGeom prst="rect">
            <a:avLst/>
          </a:prstGeom>
          <a:noFill/>
          <a:ln/>
        </p:spPr>
        <p:txBody>
          <a:bodyPr wrap="square" rtlCol="0" anchor="ctr"/>
          <a:lstStyle/>
          <a:p>
            <a:pPr marL="0" indent="0" algn="ctr">
              <a:buNone/>
            </a:pPr>
            <a:r>
              <a:rPr lang="en-US" sz="3400" dirty="0">
                <a:solidFill>
                  <a:srgbClr val="000000"/>
                </a:solidFill>
              </a:rPr>
              <a:t>⭐</a:t>
            </a:r>
            <a:endParaRPr lang="en-US" sz="3400" dirty="0"/>
          </a:p>
        </p:txBody>
      </p:sp>
      <p:sp>
        <p:nvSpPr>
          <p:cNvPr id="7" name="Text 5"/>
          <p:cNvSpPr/>
          <p:nvPr/>
        </p:nvSpPr>
        <p:spPr>
          <a:xfrm>
            <a:off x="685800" y="2926080"/>
            <a:ext cx="3246120" cy="365760"/>
          </a:xfrm>
          <a:prstGeom prst="rect">
            <a:avLst/>
          </a:prstGeom>
          <a:noFill/>
          <a:ln/>
        </p:spPr>
        <p:txBody>
          <a:bodyPr wrap="square" lIns="0" tIns="0" rIns="0" bIns="0" rtlCol="0" anchor="ctr"/>
          <a:lstStyle/>
          <a:p>
            <a:pPr marL="0" indent="0" algn="ctr">
              <a:buNone/>
            </a:pPr>
            <a:r>
              <a:rPr lang="en-US" sz="1550" b="1" dirty="0">
                <a:solidFill>
                  <a:srgbClr val="FFFFFF"/>
                </a:solidFill>
                <a:latin typeface="Calibri" pitchFamily="34" charset="0"/>
                <a:ea typeface="Calibri" pitchFamily="34" charset="-122"/>
                <a:cs typeface="Calibri" pitchFamily="34" charset="-120"/>
              </a:rPr>
              <a:t>Fady Yousef</a:t>
            </a:r>
            <a:endParaRPr lang="en-US" sz="1550" dirty="0"/>
          </a:p>
        </p:txBody>
      </p:sp>
      <p:sp>
        <p:nvSpPr>
          <p:cNvPr id="8" name="Text 6"/>
          <p:cNvSpPr/>
          <p:nvPr/>
        </p:nvSpPr>
        <p:spPr>
          <a:xfrm>
            <a:off x="685800" y="3319272"/>
            <a:ext cx="3246120" cy="502920"/>
          </a:xfrm>
          <a:prstGeom prst="rect">
            <a:avLst/>
          </a:prstGeom>
          <a:noFill/>
          <a:ln/>
        </p:spPr>
        <p:txBody>
          <a:bodyPr wrap="square" lIns="0" tIns="0" rIns="0" bIns="0" rtlCol="0" anchor="ctr"/>
          <a:lstStyle/>
          <a:p>
            <a:pPr marL="0" indent="0" algn="ctr">
              <a:buNone/>
            </a:pPr>
            <a:endParaRPr lang="en-US" sz="1100" dirty="0"/>
          </a:p>
        </p:txBody>
      </p:sp>
      <p:sp>
        <p:nvSpPr>
          <p:cNvPr id="9" name="Shape 7"/>
          <p:cNvSpPr/>
          <p:nvPr/>
        </p:nvSpPr>
        <p:spPr>
          <a:xfrm>
            <a:off x="3017520" y="1764792"/>
            <a:ext cx="914400" cy="292608"/>
          </a:xfrm>
          <a:prstGeom prst="roundRect">
            <a:avLst>
              <a:gd name="adj" fmla="val 25000"/>
            </a:avLst>
          </a:prstGeom>
          <a:solidFill>
            <a:srgbClr val="95CCDA"/>
          </a:solidFill>
          <a:ln/>
        </p:spPr>
        <p:txBody>
          <a:bodyPr/>
          <a:lstStyle/>
          <a:p>
            <a:endParaRPr lang="en-US"/>
          </a:p>
        </p:txBody>
      </p:sp>
      <p:sp>
        <p:nvSpPr>
          <p:cNvPr id="10" name="Text 8"/>
          <p:cNvSpPr/>
          <p:nvPr/>
        </p:nvSpPr>
        <p:spPr>
          <a:xfrm>
            <a:off x="3017520" y="1764792"/>
            <a:ext cx="914400" cy="292608"/>
          </a:xfrm>
          <a:prstGeom prst="rect">
            <a:avLst/>
          </a:prstGeom>
          <a:noFill/>
          <a:ln/>
        </p:spPr>
        <p:txBody>
          <a:bodyPr wrap="square" lIns="0" tIns="0" rIns="0" bIns="0" rtlCol="0" anchor="ctr"/>
          <a:lstStyle/>
          <a:p>
            <a:pPr marL="0" indent="0" algn="ctr">
              <a:buNone/>
            </a:pPr>
            <a:r>
              <a:rPr lang="en-US" sz="950" b="1" dirty="0">
                <a:solidFill>
                  <a:srgbClr val="2E3C4E"/>
                </a:solidFill>
                <a:latin typeface="Calibri" pitchFamily="34" charset="0"/>
                <a:ea typeface="Calibri" pitchFamily="34" charset="-122"/>
                <a:cs typeface="Calibri" pitchFamily="34" charset="-120"/>
              </a:rPr>
              <a:t>LEADER</a:t>
            </a:r>
            <a:endParaRPr lang="en-US" sz="950" dirty="0"/>
          </a:p>
        </p:txBody>
      </p:sp>
      <p:sp>
        <p:nvSpPr>
          <p:cNvPr id="11" name="Shape 9"/>
          <p:cNvSpPr/>
          <p:nvPr/>
        </p:nvSpPr>
        <p:spPr>
          <a:xfrm>
            <a:off x="4251960" y="1600200"/>
            <a:ext cx="3520440" cy="2331720"/>
          </a:xfrm>
          <a:prstGeom prst="roundRect">
            <a:avLst>
              <a:gd name="adj" fmla="val 3529"/>
            </a:avLst>
          </a:prstGeom>
          <a:solidFill>
            <a:srgbClr val="384653"/>
          </a:solidFill>
          <a:ln/>
          <a:effectLst>
            <a:outerShdw blurRad="101600" dist="38100" dir="5400000" algn="bl" rotWithShape="0">
              <a:srgbClr val="000000">
                <a:alpha val="35000"/>
              </a:srgbClr>
            </a:outerShdw>
          </a:effectLst>
        </p:spPr>
        <p:txBody>
          <a:bodyPr/>
          <a:lstStyle/>
          <a:p>
            <a:endParaRPr lang="en-US"/>
          </a:p>
        </p:txBody>
      </p:sp>
      <p:sp>
        <p:nvSpPr>
          <p:cNvPr id="12" name="Shape 10"/>
          <p:cNvSpPr/>
          <p:nvPr/>
        </p:nvSpPr>
        <p:spPr>
          <a:xfrm>
            <a:off x="5554980" y="1856232"/>
            <a:ext cx="914400" cy="914400"/>
          </a:xfrm>
          <a:prstGeom prst="ellipse">
            <a:avLst/>
          </a:prstGeom>
          <a:solidFill>
            <a:srgbClr val="004A66"/>
          </a:solidFill>
          <a:ln/>
        </p:spPr>
        <p:txBody>
          <a:bodyPr/>
          <a:lstStyle/>
          <a:p>
            <a:endParaRPr lang="en-US"/>
          </a:p>
        </p:txBody>
      </p:sp>
      <p:sp>
        <p:nvSpPr>
          <p:cNvPr id="13" name="Text 11"/>
          <p:cNvSpPr/>
          <p:nvPr/>
        </p:nvSpPr>
        <p:spPr>
          <a:xfrm>
            <a:off x="5554980" y="1837944"/>
            <a:ext cx="914400" cy="914400"/>
          </a:xfrm>
          <a:prstGeom prst="rect">
            <a:avLst/>
          </a:prstGeom>
          <a:noFill/>
          <a:ln/>
        </p:spPr>
        <p:txBody>
          <a:bodyPr wrap="square" rtlCol="0" anchor="ctr"/>
          <a:lstStyle/>
          <a:p>
            <a:pPr marL="0" indent="0" algn="ctr">
              <a:buNone/>
            </a:pPr>
            <a:r>
              <a:rPr lang="en-US" sz="3400" dirty="0">
                <a:solidFill>
                  <a:srgbClr val="000000"/>
                </a:solidFill>
              </a:rPr>
              <a:t>💻</a:t>
            </a:r>
            <a:endParaRPr lang="en-US" sz="3400" dirty="0"/>
          </a:p>
        </p:txBody>
      </p:sp>
      <p:sp>
        <p:nvSpPr>
          <p:cNvPr id="14" name="Text 12"/>
          <p:cNvSpPr/>
          <p:nvPr/>
        </p:nvSpPr>
        <p:spPr>
          <a:xfrm>
            <a:off x="4389120" y="2926080"/>
            <a:ext cx="3246120" cy="365760"/>
          </a:xfrm>
          <a:prstGeom prst="rect">
            <a:avLst/>
          </a:prstGeom>
          <a:noFill/>
          <a:ln/>
        </p:spPr>
        <p:txBody>
          <a:bodyPr wrap="square" lIns="0" tIns="0" rIns="0" bIns="0" rtlCol="0" anchor="ctr"/>
          <a:lstStyle/>
          <a:p>
            <a:pPr marL="0" indent="0" algn="ctr">
              <a:buNone/>
            </a:pPr>
            <a:r>
              <a:rPr lang="en-US" sz="1550" b="1" dirty="0">
                <a:solidFill>
                  <a:srgbClr val="FFFFFF"/>
                </a:solidFill>
                <a:latin typeface="Calibri" pitchFamily="34" charset="0"/>
                <a:ea typeface="Calibri" pitchFamily="34" charset="-122"/>
                <a:cs typeface="Calibri" pitchFamily="34" charset="-120"/>
              </a:rPr>
              <a:t>Salma Samak</a:t>
            </a:r>
            <a:endParaRPr lang="en-US" sz="1550" dirty="0"/>
          </a:p>
        </p:txBody>
      </p:sp>
      <p:sp>
        <p:nvSpPr>
          <p:cNvPr id="15" name="Text 13"/>
          <p:cNvSpPr/>
          <p:nvPr/>
        </p:nvSpPr>
        <p:spPr>
          <a:xfrm>
            <a:off x="4389120" y="3319272"/>
            <a:ext cx="3246120" cy="502920"/>
          </a:xfrm>
          <a:prstGeom prst="rect">
            <a:avLst/>
          </a:prstGeom>
          <a:noFill/>
          <a:ln/>
        </p:spPr>
        <p:txBody>
          <a:bodyPr wrap="square" lIns="0" tIns="0" rIns="0" bIns="0" rtlCol="0" anchor="ctr"/>
          <a:lstStyle/>
          <a:p>
            <a:pPr marL="0" indent="0" algn="ctr">
              <a:buNone/>
            </a:pPr>
            <a:endParaRPr lang="en-US" sz="1100" dirty="0"/>
          </a:p>
        </p:txBody>
      </p:sp>
      <p:sp>
        <p:nvSpPr>
          <p:cNvPr id="16" name="Shape 14"/>
          <p:cNvSpPr/>
          <p:nvPr/>
        </p:nvSpPr>
        <p:spPr>
          <a:xfrm>
            <a:off x="7955280" y="1600200"/>
            <a:ext cx="3520440" cy="2331720"/>
          </a:xfrm>
          <a:prstGeom prst="roundRect">
            <a:avLst>
              <a:gd name="adj" fmla="val 3529"/>
            </a:avLst>
          </a:prstGeom>
          <a:solidFill>
            <a:srgbClr val="384653"/>
          </a:solidFill>
          <a:ln/>
          <a:effectLst>
            <a:outerShdw blurRad="101600" dist="38100" dir="5400000" algn="bl" rotWithShape="0">
              <a:srgbClr val="000000">
                <a:alpha val="35000"/>
              </a:srgbClr>
            </a:outerShdw>
          </a:effectLst>
        </p:spPr>
        <p:txBody>
          <a:bodyPr/>
          <a:lstStyle/>
          <a:p>
            <a:endParaRPr lang="en-US"/>
          </a:p>
        </p:txBody>
      </p:sp>
      <p:sp>
        <p:nvSpPr>
          <p:cNvPr id="17" name="Shape 15"/>
          <p:cNvSpPr/>
          <p:nvPr/>
        </p:nvSpPr>
        <p:spPr>
          <a:xfrm>
            <a:off x="9258300" y="1856232"/>
            <a:ext cx="914400" cy="914400"/>
          </a:xfrm>
          <a:prstGeom prst="ellipse">
            <a:avLst/>
          </a:prstGeom>
          <a:solidFill>
            <a:srgbClr val="004A66"/>
          </a:solidFill>
          <a:ln/>
        </p:spPr>
        <p:txBody>
          <a:bodyPr/>
          <a:lstStyle/>
          <a:p>
            <a:endParaRPr lang="en-US"/>
          </a:p>
        </p:txBody>
      </p:sp>
      <p:sp>
        <p:nvSpPr>
          <p:cNvPr id="18" name="Text 16"/>
          <p:cNvSpPr/>
          <p:nvPr/>
        </p:nvSpPr>
        <p:spPr>
          <a:xfrm>
            <a:off x="9258300" y="1837944"/>
            <a:ext cx="914400" cy="914400"/>
          </a:xfrm>
          <a:prstGeom prst="rect">
            <a:avLst/>
          </a:prstGeom>
          <a:noFill/>
          <a:ln/>
        </p:spPr>
        <p:txBody>
          <a:bodyPr wrap="square" rtlCol="0" anchor="ctr"/>
          <a:lstStyle/>
          <a:p>
            <a:pPr marL="0" indent="0" algn="ctr">
              <a:buNone/>
            </a:pPr>
            <a:r>
              <a:rPr lang="en-US" sz="3400" dirty="0">
                <a:solidFill>
                  <a:srgbClr val="000000"/>
                </a:solidFill>
              </a:rPr>
              <a:t>🔬</a:t>
            </a:r>
            <a:endParaRPr lang="en-US" sz="3400" dirty="0"/>
          </a:p>
        </p:txBody>
      </p:sp>
      <p:sp>
        <p:nvSpPr>
          <p:cNvPr id="19" name="Text 17"/>
          <p:cNvSpPr/>
          <p:nvPr/>
        </p:nvSpPr>
        <p:spPr>
          <a:xfrm>
            <a:off x="8092440" y="2926080"/>
            <a:ext cx="3246120" cy="365760"/>
          </a:xfrm>
          <a:prstGeom prst="rect">
            <a:avLst/>
          </a:prstGeom>
          <a:noFill/>
          <a:ln/>
        </p:spPr>
        <p:txBody>
          <a:bodyPr wrap="square" lIns="0" tIns="0" rIns="0" bIns="0" rtlCol="0" anchor="ctr"/>
          <a:lstStyle/>
          <a:p>
            <a:pPr marL="0" indent="0" algn="ctr">
              <a:buNone/>
            </a:pPr>
            <a:r>
              <a:rPr lang="en-US" sz="1550" b="1" dirty="0">
                <a:solidFill>
                  <a:srgbClr val="FFFFFF"/>
                </a:solidFill>
                <a:latin typeface="Calibri" pitchFamily="34" charset="0"/>
                <a:ea typeface="Calibri" pitchFamily="34" charset="-122"/>
                <a:cs typeface="Calibri" pitchFamily="34" charset="-120"/>
              </a:rPr>
              <a:t>Rokia Hassan</a:t>
            </a:r>
            <a:endParaRPr lang="en-US" sz="1550" dirty="0"/>
          </a:p>
        </p:txBody>
      </p:sp>
      <p:sp>
        <p:nvSpPr>
          <p:cNvPr id="20" name="Text 18"/>
          <p:cNvSpPr/>
          <p:nvPr/>
        </p:nvSpPr>
        <p:spPr>
          <a:xfrm>
            <a:off x="8092440" y="3319272"/>
            <a:ext cx="3246120" cy="502920"/>
          </a:xfrm>
          <a:prstGeom prst="rect">
            <a:avLst/>
          </a:prstGeom>
          <a:noFill/>
          <a:ln/>
        </p:spPr>
        <p:txBody>
          <a:bodyPr wrap="square" lIns="0" tIns="0" rIns="0" bIns="0" rtlCol="0" anchor="ctr"/>
          <a:lstStyle/>
          <a:p>
            <a:pPr marL="0" indent="0" algn="ctr">
              <a:buNone/>
            </a:pPr>
            <a:endParaRPr lang="en-US" sz="1100" dirty="0"/>
          </a:p>
        </p:txBody>
      </p:sp>
      <p:sp>
        <p:nvSpPr>
          <p:cNvPr id="21" name="Shape 19"/>
          <p:cNvSpPr/>
          <p:nvPr/>
        </p:nvSpPr>
        <p:spPr>
          <a:xfrm>
            <a:off x="548640" y="4251960"/>
            <a:ext cx="3520440" cy="2331720"/>
          </a:xfrm>
          <a:prstGeom prst="roundRect">
            <a:avLst>
              <a:gd name="adj" fmla="val 3529"/>
            </a:avLst>
          </a:prstGeom>
          <a:solidFill>
            <a:srgbClr val="384653"/>
          </a:solidFill>
          <a:ln/>
          <a:effectLst>
            <a:outerShdw blurRad="101600" dist="38100" dir="5400000" algn="bl" rotWithShape="0">
              <a:srgbClr val="000000">
                <a:alpha val="35000"/>
              </a:srgbClr>
            </a:outerShdw>
          </a:effectLst>
        </p:spPr>
        <p:txBody>
          <a:bodyPr/>
          <a:lstStyle/>
          <a:p>
            <a:endParaRPr lang="en-US"/>
          </a:p>
        </p:txBody>
      </p:sp>
      <p:sp>
        <p:nvSpPr>
          <p:cNvPr id="22" name="Shape 20"/>
          <p:cNvSpPr/>
          <p:nvPr/>
        </p:nvSpPr>
        <p:spPr>
          <a:xfrm>
            <a:off x="1851660" y="4507992"/>
            <a:ext cx="914400" cy="914400"/>
          </a:xfrm>
          <a:prstGeom prst="ellipse">
            <a:avLst/>
          </a:prstGeom>
          <a:solidFill>
            <a:srgbClr val="004A66"/>
          </a:solidFill>
          <a:ln/>
        </p:spPr>
        <p:txBody>
          <a:bodyPr/>
          <a:lstStyle/>
          <a:p>
            <a:endParaRPr lang="en-US"/>
          </a:p>
        </p:txBody>
      </p:sp>
      <p:sp>
        <p:nvSpPr>
          <p:cNvPr id="23" name="Text 21"/>
          <p:cNvSpPr/>
          <p:nvPr/>
        </p:nvSpPr>
        <p:spPr>
          <a:xfrm>
            <a:off x="1851660" y="4489704"/>
            <a:ext cx="914400" cy="914400"/>
          </a:xfrm>
          <a:prstGeom prst="rect">
            <a:avLst/>
          </a:prstGeom>
          <a:noFill/>
          <a:ln/>
        </p:spPr>
        <p:txBody>
          <a:bodyPr wrap="square" rtlCol="0" anchor="ctr"/>
          <a:lstStyle/>
          <a:p>
            <a:pPr marL="0" indent="0" algn="ctr">
              <a:buNone/>
            </a:pPr>
            <a:r>
              <a:rPr lang="en-US" sz="3400" dirty="0">
                <a:solidFill>
                  <a:srgbClr val="000000"/>
                </a:solidFill>
              </a:rPr>
              <a:t>⚙️</a:t>
            </a:r>
            <a:endParaRPr lang="en-US" sz="3400" dirty="0"/>
          </a:p>
        </p:txBody>
      </p:sp>
      <p:sp>
        <p:nvSpPr>
          <p:cNvPr id="24" name="Text 22"/>
          <p:cNvSpPr/>
          <p:nvPr/>
        </p:nvSpPr>
        <p:spPr>
          <a:xfrm>
            <a:off x="685800" y="5577840"/>
            <a:ext cx="3246120" cy="365760"/>
          </a:xfrm>
          <a:prstGeom prst="rect">
            <a:avLst/>
          </a:prstGeom>
          <a:noFill/>
          <a:ln/>
        </p:spPr>
        <p:txBody>
          <a:bodyPr wrap="square" lIns="0" tIns="0" rIns="0" bIns="0" rtlCol="0" anchor="ctr"/>
          <a:lstStyle/>
          <a:p>
            <a:pPr marL="0" indent="0" algn="ctr">
              <a:buNone/>
            </a:pPr>
            <a:r>
              <a:rPr lang="en-US" sz="1550" b="1" dirty="0">
                <a:solidFill>
                  <a:srgbClr val="FFFFFF"/>
                </a:solidFill>
                <a:latin typeface="Calibri" pitchFamily="34" charset="0"/>
                <a:ea typeface="Calibri" pitchFamily="34" charset="-122"/>
                <a:cs typeface="Calibri" pitchFamily="34" charset="-120"/>
              </a:rPr>
              <a:t>Fares Waleed</a:t>
            </a:r>
            <a:endParaRPr lang="en-US" sz="1550" dirty="0"/>
          </a:p>
        </p:txBody>
      </p:sp>
      <p:sp>
        <p:nvSpPr>
          <p:cNvPr id="25" name="Text 23"/>
          <p:cNvSpPr/>
          <p:nvPr/>
        </p:nvSpPr>
        <p:spPr>
          <a:xfrm>
            <a:off x="685800" y="5971032"/>
            <a:ext cx="3246120" cy="502920"/>
          </a:xfrm>
          <a:prstGeom prst="rect">
            <a:avLst/>
          </a:prstGeom>
          <a:noFill/>
          <a:ln/>
        </p:spPr>
        <p:txBody>
          <a:bodyPr wrap="square" lIns="0" tIns="0" rIns="0" bIns="0" rtlCol="0" anchor="ctr"/>
          <a:lstStyle/>
          <a:p>
            <a:pPr marL="0" indent="0" algn="ctr">
              <a:buNone/>
            </a:pPr>
            <a:endParaRPr lang="en-US" sz="1100" dirty="0"/>
          </a:p>
        </p:txBody>
      </p:sp>
      <p:sp>
        <p:nvSpPr>
          <p:cNvPr id="26" name="Shape 24"/>
          <p:cNvSpPr/>
          <p:nvPr/>
        </p:nvSpPr>
        <p:spPr>
          <a:xfrm>
            <a:off x="4251960" y="4251960"/>
            <a:ext cx="3520440" cy="2331720"/>
          </a:xfrm>
          <a:prstGeom prst="roundRect">
            <a:avLst>
              <a:gd name="adj" fmla="val 3529"/>
            </a:avLst>
          </a:prstGeom>
          <a:solidFill>
            <a:srgbClr val="384653"/>
          </a:solidFill>
          <a:ln/>
          <a:effectLst>
            <a:outerShdw blurRad="101600" dist="38100" dir="5400000" algn="bl" rotWithShape="0">
              <a:srgbClr val="000000">
                <a:alpha val="35000"/>
              </a:srgbClr>
            </a:outerShdw>
          </a:effectLst>
        </p:spPr>
        <p:txBody>
          <a:bodyPr/>
          <a:lstStyle/>
          <a:p>
            <a:endParaRPr lang="en-US"/>
          </a:p>
        </p:txBody>
      </p:sp>
      <p:sp>
        <p:nvSpPr>
          <p:cNvPr id="27" name="Shape 25"/>
          <p:cNvSpPr/>
          <p:nvPr/>
        </p:nvSpPr>
        <p:spPr>
          <a:xfrm>
            <a:off x="5554980" y="4507992"/>
            <a:ext cx="914400" cy="914400"/>
          </a:xfrm>
          <a:prstGeom prst="ellipse">
            <a:avLst/>
          </a:prstGeom>
          <a:solidFill>
            <a:srgbClr val="004A66"/>
          </a:solidFill>
          <a:ln/>
        </p:spPr>
        <p:txBody>
          <a:bodyPr/>
          <a:lstStyle/>
          <a:p>
            <a:endParaRPr lang="en-US"/>
          </a:p>
        </p:txBody>
      </p:sp>
      <p:sp>
        <p:nvSpPr>
          <p:cNvPr id="28" name="Text 26"/>
          <p:cNvSpPr/>
          <p:nvPr/>
        </p:nvSpPr>
        <p:spPr>
          <a:xfrm>
            <a:off x="5554980" y="4489704"/>
            <a:ext cx="914400" cy="914400"/>
          </a:xfrm>
          <a:prstGeom prst="rect">
            <a:avLst/>
          </a:prstGeom>
          <a:noFill/>
          <a:ln/>
        </p:spPr>
        <p:txBody>
          <a:bodyPr wrap="square" rtlCol="0" anchor="ctr"/>
          <a:lstStyle/>
          <a:p>
            <a:pPr marL="0" indent="0" algn="ctr">
              <a:buNone/>
            </a:pPr>
            <a:r>
              <a:rPr lang="en-US" sz="3400" dirty="0">
                <a:solidFill>
                  <a:srgbClr val="000000"/>
                </a:solidFill>
              </a:rPr>
              <a:t>📊</a:t>
            </a:r>
            <a:endParaRPr lang="en-US" sz="3400" dirty="0"/>
          </a:p>
        </p:txBody>
      </p:sp>
      <p:sp>
        <p:nvSpPr>
          <p:cNvPr id="29" name="Text 27"/>
          <p:cNvSpPr/>
          <p:nvPr/>
        </p:nvSpPr>
        <p:spPr>
          <a:xfrm>
            <a:off x="4389120" y="5577840"/>
            <a:ext cx="3246120" cy="365760"/>
          </a:xfrm>
          <a:prstGeom prst="rect">
            <a:avLst/>
          </a:prstGeom>
          <a:noFill/>
          <a:ln/>
        </p:spPr>
        <p:txBody>
          <a:bodyPr wrap="square" lIns="0" tIns="0" rIns="0" bIns="0" rtlCol="0" anchor="ctr"/>
          <a:lstStyle/>
          <a:p>
            <a:pPr marL="0" indent="0" algn="ctr">
              <a:buNone/>
            </a:pPr>
            <a:r>
              <a:rPr lang="en-US" sz="1550" b="1" dirty="0">
                <a:solidFill>
                  <a:srgbClr val="FFFFFF"/>
                </a:solidFill>
                <a:latin typeface="Calibri" pitchFamily="34" charset="0"/>
                <a:ea typeface="Calibri" pitchFamily="34" charset="-122"/>
                <a:cs typeface="Calibri" pitchFamily="34" charset="-120"/>
              </a:rPr>
              <a:t>Alaa Abdelhakeem</a:t>
            </a:r>
            <a:endParaRPr lang="en-US" sz="1550" dirty="0"/>
          </a:p>
        </p:txBody>
      </p:sp>
      <p:sp>
        <p:nvSpPr>
          <p:cNvPr id="30" name="Text 28"/>
          <p:cNvSpPr/>
          <p:nvPr/>
        </p:nvSpPr>
        <p:spPr>
          <a:xfrm>
            <a:off x="4389120" y="5971032"/>
            <a:ext cx="3246120" cy="502920"/>
          </a:xfrm>
          <a:prstGeom prst="rect">
            <a:avLst/>
          </a:prstGeom>
          <a:noFill/>
          <a:ln/>
        </p:spPr>
        <p:txBody>
          <a:bodyPr wrap="square" lIns="0" tIns="0" rIns="0" bIns="0" rtlCol="0" anchor="ctr"/>
          <a:lstStyle/>
          <a:p>
            <a:pPr marL="0" indent="0" algn="ctr">
              <a:buNone/>
            </a:pPr>
            <a:endParaRPr lang="en-US" sz="1100" dirty="0"/>
          </a:p>
        </p:txBody>
      </p:sp>
      <p:sp>
        <p:nvSpPr>
          <p:cNvPr id="31" name="Shape 29"/>
          <p:cNvSpPr/>
          <p:nvPr/>
        </p:nvSpPr>
        <p:spPr>
          <a:xfrm>
            <a:off x="7955280" y="4251960"/>
            <a:ext cx="3520440" cy="2331720"/>
          </a:xfrm>
          <a:prstGeom prst="roundRect">
            <a:avLst>
              <a:gd name="adj" fmla="val 3529"/>
            </a:avLst>
          </a:prstGeom>
          <a:solidFill>
            <a:srgbClr val="384653"/>
          </a:solidFill>
          <a:ln/>
          <a:effectLst>
            <a:outerShdw blurRad="101600" dist="38100" dir="5400000" algn="bl" rotWithShape="0">
              <a:srgbClr val="000000">
                <a:alpha val="35000"/>
              </a:srgbClr>
            </a:outerShdw>
          </a:effectLst>
        </p:spPr>
        <p:txBody>
          <a:bodyPr/>
          <a:lstStyle/>
          <a:p>
            <a:endParaRPr lang="en-US"/>
          </a:p>
        </p:txBody>
      </p:sp>
      <p:sp>
        <p:nvSpPr>
          <p:cNvPr id="32" name="Shape 30"/>
          <p:cNvSpPr/>
          <p:nvPr/>
        </p:nvSpPr>
        <p:spPr>
          <a:xfrm>
            <a:off x="9258300" y="4507992"/>
            <a:ext cx="914400" cy="914400"/>
          </a:xfrm>
          <a:prstGeom prst="ellipse">
            <a:avLst/>
          </a:prstGeom>
          <a:solidFill>
            <a:srgbClr val="004A66"/>
          </a:solidFill>
          <a:ln/>
        </p:spPr>
        <p:txBody>
          <a:bodyPr/>
          <a:lstStyle/>
          <a:p>
            <a:endParaRPr lang="en-US"/>
          </a:p>
        </p:txBody>
      </p:sp>
      <p:sp>
        <p:nvSpPr>
          <p:cNvPr id="33" name="Text 31"/>
          <p:cNvSpPr/>
          <p:nvPr/>
        </p:nvSpPr>
        <p:spPr>
          <a:xfrm>
            <a:off x="9258300" y="4489704"/>
            <a:ext cx="914400" cy="914400"/>
          </a:xfrm>
          <a:prstGeom prst="rect">
            <a:avLst/>
          </a:prstGeom>
          <a:noFill/>
          <a:ln/>
        </p:spPr>
        <p:txBody>
          <a:bodyPr wrap="square" rtlCol="0" anchor="ctr"/>
          <a:lstStyle/>
          <a:p>
            <a:pPr marL="0" indent="0" algn="ctr">
              <a:buNone/>
            </a:pPr>
            <a:r>
              <a:rPr lang="en-US" sz="3400" dirty="0">
                <a:solidFill>
                  <a:srgbClr val="000000"/>
                </a:solidFill>
              </a:rPr>
              <a:t>🧠</a:t>
            </a:r>
            <a:endParaRPr lang="en-US" sz="3400" dirty="0"/>
          </a:p>
        </p:txBody>
      </p:sp>
      <p:sp>
        <p:nvSpPr>
          <p:cNvPr id="34" name="Text 32"/>
          <p:cNvSpPr/>
          <p:nvPr/>
        </p:nvSpPr>
        <p:spPr>
          <a:xfrm>
            <a:off x="8092440" y="5577840"/>
            <a:ext cx="3246120" cy="365760"/>
          </a:xfrm>
          <a:prstGeom prst="rect">
            <a:avLst/>
          </a:prstGeom>
          <a:noFill/>
          <a:ln/>
        </p:spPr>
        <p:txBody>
          <a:bodyPr wrap="square" lIns="0" tIns="0" rIns="0" bIns="0" rtlCol="0" anchor="ctr"/>
          <a:lstStyle/>
          <a:p>
            <a:pPr marL="0" indent="0" algn="ctr">
              <a:buNone/>
            </a:pPr>
            <a:r>
              <a:rPr lang="en-US" sz="1550" b="1" dirty="0">
                <a:solidFill>
                  <a:srgbClr val="FFFFFF"/>
                </a:solidFill>
                <a:latin typeface="Calibri" pitchFamily="34" charset="0"/>
                <a:ea typeface="Calibri" pitchFamily="34" charset="-122"/>
                <a:cs typeface="Calibri" pitchFamily="34" charset="-120"/>
              </a:rPr>
              <a:t>Afnan Magdy</a:t>
            </a:r>
            <a:endParaRPr lang="en-US" sz="1550" dirty="0"/>
          </a:p>
        </p:txBody>
      </p:sp>
      <p:sp>
        <p:nvSpPr>
          <p:cNvPr id="35" name="Text 33"/>
          <p:cNvSpPr/>
          <p:nvPr/>
        </p:nvSpPr>
        <p:spPr>
          <a:xfrm>
            <a:off x="8092440" y="5971032"/>
            <a:ext cx="3246120" cy="502920"/>
          </a:xfrm>
          <a:prstGeom prst="rect">
            <a:avLst/>
          </a:prstGeom>
          <a:noFill/>
          <a:ln/>
        </p:spPr>
        <p:txBody>
          <a:bodyPr wrap="square" lIns="0" tIns="0" rIns="0" bIns="0" rtlCol="0" anchor="ctr"/>
          <a:lstStyle/>
          <a:p>
            <a:pPr marL="0" indent="0" algn="ctr">
              <a:buNone/>
            </a:pPr>
            <a:endParaRPr lang="en-US" sz="1100" dirty="0"/>
          </a:p>
        </p:txBody>
      </p:sp>
      <p:sp>
        <p:nvSpPr>
          <p:cNvPr id="36" name="Text 34"/>
          <p:cNvSpPr/>
          <p:nvPr/>
        </p:nvSpPr>
        <p:spPr>
          <a:xfrm>
            <a:off x="11612880" y="6473952"/>
            <a:ext cx="457200" cy="274320"/>
          </a:xfrm>
          <a:prstGeom prst="rect">
            <a:avLst/>
          </a:prstGeom>
          <a:noFill/>
          <a:ln/>
        </p:spPr>
        <p:txBody>
          <a:bodyPr wrap="square" rtlCol="0" anchor="ctr"/>
          <a:lstStyle/>
          <a:p>
            <a:pPr marL="0" indent="0" algn="r">
              <a:buNone/>
            </a:pPr>
            <a:r>
              <a:rPr lang="en-US" sz="1000" dirty="0">
                <a:solidFill>
                  <a:srgbClr val="BFD3D8"/>
                </a:solidFill>
                <a:latin typeface="Calibri" pitchFamily="34" charset="0"/>
                <a:ea typeface="Calibri" pitchFamily="34" charset="-122"/>
                <a:cs typeface="Calibri" pitchFamily="34" charset="-120"/>
              </a:rPr>
              <a:t>02</a:t>
            </a:r>
            <a:endParaRPr lang="en-US" sz="1000" dirty="0"/>
          </a:p>
        </p:txBody>
      </p:sp>
      <p:sp>
        <p:nvSpPr>
          <p:cNvPr id="37" name="Text 35"/>
          <p:cNvSpPr/>
          <p:nvPr/>
        </p:nvSpPr>
        <p:spPr>
          <a:xfrm>
            <a:off x="548640" y="6473952"/>
            <a:ext cx="2743200" cy="274320"/>
          </a:xfrm>
          <a:prstGeom prst="rect">
            <a:avLst/>
          </a:prstGeom>
          <a:noFill/>
          <a:ln/>
        </p:spPr>
        <p:txBody>
          <a:bodyPr wrap="square" rtlCol="0" anchor="ctr"/>
          <a:lstStyle/>
          <a:p>
            <a:pPr marL="0" indent="0">
              <a:buNone/>
            </a:pPr>
            <a:r>
              <a:rPr lang="en-US" sz="1000" dirty="0">
                <a:solidFill>
                  <a:srgbClr val="BFD3D8"/>
                </a:solidFill>
                <a:latin typeface="Calibri" pitchFamily="34" charset="0"/>
                <a:ea typeface="Calibri" pitchFamily="34" charset="-122"/>
                <a:cs typeface="Calibri" pitchFamily="34" charset="-120"/>
              </a:rPr>
              <a:t>MediNova-AI</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2E3C4E"/>
        </a:solidFill>
        <a:effectLst/>
      </p:bgPr>
    </p:bg>
    <p:spTree>
      <p:nvGrpSpPr>
        <p:cNvPr id="1" name=""/>
        <p:cNvGrpSpPr/>
        <p:nvPr/>
      </p:nvGrpSpPr>
      <p:grpSpPr>
        <a:xfrm>
          <a:off x="0" y="0"/>
          <a:ext cx="0" cy="0"/>
          <a:chOff x="0" y="0"/>
          <a:chExt cx="0" cy="0"/>
        </a:xfrm>
      </p:grpSpPr>
      <p:sp>
        <p:nvSpPr>
          <p:cNvPr id="2" name="Text 0"/>
          <p:cNvSpPr/>
          <p:nvPr/>
        </p:nvSpPr>
        <p:spPr>
          <a:xfrm>
            <a:off x="548640" y="292608"/>
            <a:ext cx="9144000" cy="292608"/>
          </a:xfrm>
          <a:prstGeom prst="rect">
            <a:avLst/>
          </a:prstGeom>
          <a:noFill/>
          <a:ln/>
        </p:spPr>
        <p:txBody>
          <a:bodyPr wrap="square" rtlCol="0" anchor="ctr"/>
          <a:lstStyle/>
          <a:p>
            <a:pPr marL="0" indent="0">
              <a:buNone/>
            </a:pPr>
            <a:r>
              <a:rPr lang="en-US" sz="1250" b="1" kern="0" spc="200" dirty="0">
                <a:solidFill>
                  <a:srgbClr val="95CCDA"/>
                </a:solidFill>
                <a:latin typeface="Calibri" pitchFamily="34" charset="0"/>
                <a:ea typeface="Calibri" pitchFamily="34" charset="-122"/>
                <a:cs typeface="Calibri" pitchFamily="34" charset="-120"/>
              </a:rPr>
              <a:t>WHY WE BUILT THIS</a:t>
            </a:r>
            <a:endParaRPr lang="en-US" sz="1250" dirty="0"/>
          </a:p>
        </p:txBody>
      </p:sp>
      <p:sp>
        <p:nvSpPr>
          <p:cNvPr id="3" name="Text 1"/>
          <p:cNvSpPr/>
          <p:nvPr/>
        </p:nvSpPr>
        <p:spPr>
          <a:xfrm>
            <a:off x="548640" y="566928"/>
            <a:ext cx="10789920" cy="685800"/>
          </a:xfrm>
          <a:prstGeom prst="rect">
            <a:avLst/>
          </a:prstGeom>
          <a:noFill/>
          <a:ln/>
        </p:spPr>
        <p:txBody>
          <a:bodyPr wrap="square" lIns="0" tIns="0" rIns="0" bIns="0" rtlCol="0" anchor="ctr"/>
          <a:lstStyle/>
          <a:p>
            <a:pPr marL="0" indent="0">
              <a:buNone/>
            </a:pPr>
            <a:r>
              <a:rPr lang="en-US" sz="2900" b="1" dirty="0">
                <a:solidFill>
                  <a:srgbClr val="FFFFFF"/>
                </a:solidFill>
                <a:latin typeface="Calibri" pitchFamily="34" charset="0"/>
                <a:ea typeface="Calibri" pitchFamily="34" charset="-122"/>
                <a:cs typeface="Calibri" pitchFamily="34" charset="-120"/>
              </a:rPr>
              <a:t>Project Motivation</a:t>
            </a:r>
            <a:endParaRPr lang="en-US" sz="2900" dirty="0"/>
          </a:p>
        </p:txBody>
      </p:sp>
      <p:sp>
        <p:nvSpPr>
          <p:cNvPr id="4" name="Text 2"/>
          <p:cNvSpPr/>
          <p:nvPr/>
        </p:nvSpPr>
        <p:spPr>
          <a:xfrm>
            <a:off x="548640" y="1207008"/>
            <a:ext cx="10789920" cy="365760"/>
          </a:xfrm>
          <a:prstGeom prst="rect">
            <a:avLst/>
          </a:prstGeom>
          <a:noFill/>
          <a:ln/>
        </p:spPr>
        <p:txBody>
          <a:bodyPr wrap="square" lIns="0" tIns="0" rIns="0" bIns="0" rtlCol="0" anchor="ctr"/>
          <a:lstStyle/>
          <a:p>
            <a:pPr marL="0" indent="0">
              <a:buNone/>
            </a:pPr>
            <a:r>
              <a:rPr lang="en-US" sz="1400" i="1" dirty="0">
                <a:solidFill>
                  <a:srgbClr val="BFD3D8"/>
                </a:solidFill>
                <a:latin typeface="Calibri" pitchFamily="34" charset="0"/>
                <a:ea typeface="Calibri" pitchFamily="34" charset="-122"/>
                <a:cs typeface="Calibri" pitchFamily="34" charset="-120"/>
              </a:rPr>
              <a:t>Healthcare needs faster, more consistent, and more accessible first-line diagnostic support.</a:t>
            </a:r>
            <a:endParaRPr lang="en-US" sz="1400" dirty="0"/>
          </a:p>
        </p:txBody>
      </p:sp>
      <p:sp>
        <p:nvSpPr>
          <p:cNvPr id="5" name="Shape 3"/>
          <p:cNvSpPr/>
          <p:nvPr/>
        </p:nvSpPr>
        <p:spPr>
          <a:xfrm>
            <a:off x="548640" y="1783080"/>
            <a:ext cx="5394960" cy="1874520"/>
          </a:xfrm>
          <a:prstGeom prst="roundRect">
            <a:avLst>
              <a:gd name="adj" fmla="val 4390"/>
            </a:avLst>
          </a:prstGeom>
          <a:solidFill>
            <a:srgbClr val="384653"/>
          </a:solidFill>
          <a:ln/>
        </p:spPr>
        <p:txBody>
          <a:bodyPr/>
          <a:lstStyle/>
          <a:p>
            <a:endParaRPr lang="en-US"/>
          </a:p>
        </p:txBody>
      </p:sp>
      <p:sp>
        <p:nvSpPr>
          <p:cNvPr id="6" name="Shape 4"/>
          <p:cNvSpPr/>
          <p:nvPr/>
        </p:nvSpPr>
        <p:spPr>
          <a:xfrm>
            <a:off x="777240" y="2011680"/>
            <a:ext cx="548640" cy="548640"/>
          </a:xfrm>
          <a:prstGeom prst="ellipse">
            <a:avLst/>
          </a:prstGeom>
          <a:solidFill>
            <a:srgbClr val="004A66"/>
          </a:solidFill>
          <a:ln/>
        </p:spPr>
        <p:txBody>
          <a:bodyPr/>
          <a:lstStyle/>
          <a:p>
            <a:endParaRPr lang="en-US"/>
          </a:p>
        </p:txBody>
      </p:sp>
      <p:sp>
        <p:nvSpPr>
          <p:cNvPr id="7" name="Text 5"/>
          <p:cNvSpPr/>
          <p:nvPr/>
        </p:nvSpPr>
        <p:spPr>
          <a:xfrm>
            <a:off x="777240" y="1993392"/>
            <a:ext cx="548640" cy="548640"/>
          </a:xfrm>
          <a:prstGeom prst="rect">
            <a:avLst/>
          </a:prstGeom>
          <a:noFill/>
          <a:ln/>
        </p:spPr>
        <p:txBody>
          <a:bodyPr wrap="square" rtlCol="0" anchor="ctr"/>
          <a:lstStyle/>
          <a:p>
            <a:pPr marL="0" indent="0" algn="ctr">
              <a:buNone/>
            </a:pPr>
            <a:r>
              <a:rPr lang="en-US" sz="2200" dirty="0">
                <a:solidFill>
                  <a:srgbClr val="000000"/>
                </a:solidFill>
              </a:rPr>
              <a:t>🌍</a:t>
            </a:r>
            <a:endParaRPr lang="en-US" sz="2200" dirty="0"/>
          </a:p>
        </p:txBody>
      </p:sp>
      <p:sp>
        <p:nvSpPr>
          <p:cNvPr id="8" name="Text 6"/>
          <p:cNvSpPr/>
          <p:nvPr/>
        </p:nvSpPr>
        <p:spPr>
          <a:xfrm>
            <a:off x="1508760" y="1984248"/>
            <a:ext cx="4206240" cy="365760"/>
          </a:xfrm>
          <a:prstGeom prst="rect">
            <a:avLst/>
          </a:prstGeom>
          <a:noFill/>
          <a:ln/>
        </p:spPr>
        <p:txBody>
          <a:bodyPr wrap="square" lIns="0" tIns="0" rIns="0" bIns="0"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Global Shortage of Specialists</a:t>
            </a:r>
            <a:endParaRPr lang="en-US" sz="1450" dirty="0"/>
          </a:p>
        </p:txBody>
      </p:sp>
      <p:sp>
        <p:nvSpPr>
          <p:cNvPr id="9" name="Text 7"/>
          <p:cNvSpPr/>
          <p:nvPr/>
        </p:nvSpPr>
        <p:spPr>
          <a:xfrm>
            <a:off x="1508760" y="2350008"/>
            <a:ext cx="4206240" cy="1188720"/>
          </a:xfrm>
          <a:prstGeom prst="rect">
            <a:avLst/>
          </a:prstGeom>
          <a:noFill/>
          <a:ln/>
        </p:spPr>
        <p:txBody>
          <a:bodyPr wrap="square" lIns="0" tIns="0" rIns="0" bIns="0" rtlCol="0" anchor="ctr"/>
          <a:lstStyle/>
          <a:p>
            <a:pPr marL="0" indent="0">
              <a:buNone/>
            </a:pPr>
            <a:r>
              <a:rPr lang="en-US" sz="1150" dirty="0">
                <a:solidFill>
                  <a:srgbClr val="D9EDF2"/>
                </a:solidFill>
                <a:latin typeface="Calibri" pitchFamily="34" charset="0"/>
                <a:ea typeface="Calibri" pitchFamily="34" charset="-122"/>
                <a:cs typeface="Calibri" pitchFamily="34" charset="-120"/>
              </a:rPr>
              <a:t>Dermatologists and radiologists are unevenly distributed — many communities wait weeks for a first read.</a:t>
            </a:r>
            <a:endParaRPr lang="en-US" sz="1150" dirty="0"/>
          </a:p>
        </p:txBody>
      </p:sp>
      <p:sp>
        <p:nvSpPr>
          <p:cNvPr id="10" name="Shape 8"/>
          <p:cNvSpPr/>
          <p:nvPr/>
        </p:nvSpPr>
        <p:spPr>
          <a:xfrm>
            <a:off x="6263640" y="1783080"/>
            <a:ext cx="5394960" cy="1874520"/>
          </a:xfrm>
          <a:prstGeom prst="roundRect">
            <a:avLst>
              <a:gd name="adj" fmla="val 4390"/>
            </a:avLst>
          </a:prstGeom>
          <a:solidFill>
            <a:srgbClr val="384653"/>
          </a:solidFill>
          <a:ln/>
        </p:spPr>
        <p:txBody>
          <a:bodyPr/>
          <a:lstStyle/>
          <a:p>
            <a:endParaRPr lang="en-US"/>
          </a:p>
        </p:txBody>
      </p:sp>
      <p:sp>
        <p:nvSpPr>
          <p:cNvPr id="11" name="Shape 9"/>
          <p:cNvSpPr/>
          <p:nvPr/>
        </p:nvSpPr>
        <p:spPr>
          <a:xfrm>
            <a:off x="6492240" y="2011680"/>
            <a:ext cx="548640" cy="548640"/>
          </a:xfrm>
          <a:prstGeom prst="ellipse">
            <a:avLst/>
          </a:prstGeom>
          <a:solidFill>
            <a:srgbClr val="004A66"/>
          </a:solidFill>
          <a:ln/>
        </p:spPr>
        <p:txBody>
          <a:bodyPr/>
          <a:lstStyle/>
          <a:p>
            <a:endParaRPr lang="en-US"/>
          </a:p>
        </p:txBody>
      </p:sp>
      <p:sp>
        <p:nvSpPr>
          <p:cNvPr id="12" name="Text 10"/>
          <p:cNvSpPr/>
          <p:nvPr/>
        </p:nvSpPr>
        <p:spPr>
          <a:xfrm>
            <a:off x="6492240" y="1993392"/>
            <a:ext cx="548640" cy="548640"/>
          </a:xfrm>
          <a:prstGeom prst="rect">
            <a:avLst/>
          </a:prstGeom>
          <a:noFill/>
          <a:ln/>
        </p:spPr>
        <p:txBody>
          <a:bodyPr wrap="square" rtlCol="0" anchor="ctr"/>
          <a:lstStyle/>
          <a:p>
            <a:pPr marL="0" indent="0" algn="ctr">
              <a:buNone/>
            </a:pPr>
            <a:r>
              <a:rPr lang="en-US" sz="2200" dirty="0">
                <a:solidFill>
                  <a:srgbClr val="000000"/>
                </a:solidFill>
              </a:rPr>
              <a:t>📈</a:t>
            </a:r>
            <a:endParaRPr lang="en-US" sz="2200" dirty="0"/>
          </a:p>
        </p:txBody>
      </p:sp>
      <p:sp>
        <p:nvSpPr>
          <p:cNvPr id="13" name="Text 11"/>
          <p:cNvSpPr/>
          <p:nvPr/>
        </p:nvSpPr>
        <p:spPr>
          <a:xfrm>
            <a:off x="7223760" y="1984248"/>
            <a:ext cx="4206240" cy="365760"/>
          </a:xfrm>
          <a:prstGeom prst="rect">
            <a:avLst/>
          </a:prstGeom>
          <a:noFill/>
          <a:ln/>
        </p:spPr>
        <p:txBody>
          <a:bodyPr wrap="square" lIns="0" tIns="0" rIns="0" bIns="0"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Rising Diagnostic Workload</a:t>
            </a:r>
            <a:endParaRPr lang="en-US" sz="1450" dirty="0"/>
          </a:p>
        </p:txBody>
      </p:sp>
      <p:sp>
        <p:nvSpPr>
          <p:cNvPr id="14" name="Text 12"/>
          <p:cNvSpPr/>
          <p:nvPr/>
        </p:nvSpPr>
        <p:spPr>
          <a:xfrm>
            <a:off x="7223760" y="2350008"/>
            <a:ext cx="4206240" cy="1188720"/>
          </a:xfrm>
          <a:prstGeom prst="rect">
            <a:avLst/>
          </a:prstGeom>
          <a:noFill/>
          <a:ln/>
        </p:spPr>
        <p:txBody>
          <a:bodyPr wrap="square" lIns="0" tIns="0" rIns="0" bIns="0" rtlCol="0" anchor="ctr"/>
          <a:lstStyle/>
          <a:p>
            <a:pPr marL="0" indent="0">
              <a:buNone/>
            </a:pPr>
            <a:r>
              <a:rPr lang="en-US" sz="1150" dirty="0">
                <a:solidFill>
                  <a:srgbClr val="D9EDF2"/>
                </a:solidFill>
                <a:latin typeface="Calibri" pitchFamily="34" charset="0"/>
                <a:ea typeface="Calibri" pitchFamily="34" charset="-122"/>
                <a:cs typeface="Calibri" pitchFamily="34" charset="-120"/>
              </a:rPr>
              <a:t>Imaging volumes keep growing faster than the clinical workforce that reviews them.</a:t>
            </a:r>
            <a:endParaRPr lang="en-US" sz="1150" dirty="0"/>
          </a:p>
        </p:txBody>
      </p:sp>
      <p:sp>
        <p:nvSpPr>
          <p:cNvPr id="15" name="Shape 13"/>
          <p:cNvSpPr/>
          <p:nvPr/>
        </p:nvSpPr>
        <p:spPr>
          <a:xfrm>
            <a:off x="548640" y="3931920"/>
            <a:ext cx="5394960" cy="1874520"/>
          </a:xfrm>
          <a:prstGeom prst="roundRect">
            <a:avLst>
              <a:gd name="adj" fmla="val 4390"/>
            </a:avLst>
          </a:prstGeom>
          <a:solidFill>
            <a:srgbClr val="384653"/>
          </a:solidFill>
          <a:ln/>
        </p:spPr>
        <p:txBody>
          <a:bodyPr/>
          <a:lstStyle/>
          <a:p>
            <a:endParaRPr lang="en-US"/>
          </a:p>
        </p:txBody>
      </p:sp>
      <p:sp>
        <p:nvSpPr>
          <p:cNvPr id="16" name="Shape 14"/>
          <p:cNvSpPr/>
          <p:nvPr/>
        </p:nvSpPr>
        <p:spPr>
          <a:xfrm>
            <a:off x="777240" y="4160520"/>
            <a:ext cx="548640" cy="548640"/>
          </a:xfrm>
          <a:prstGeom prst="ellipse">
            <a:avLst/>
          </a:prstGeom>
          <a:solidFill>
            <a:srgbClr val="004A66"/>
          </a:solidFill>
          <a:ln/>
        </p:spPr>
        <p:txBody>
          <a:bodyPr/>
          <a:lstStyle/>
          <a:p>
            <a:endParaRPr lang="en-US"/>
          </a:p>
        </p:txBody>
      </p:sp>
      <p:sp>
        <p:nvSpPr>
          <p:cNvPr id="17" name="Text 15"/>
          <p:cNvSpPr/>
          <p:nvPr/>
        </p:nvSpPr>
        <p:spPr>
          <a:xfrm>
            <a:off x="777240" y="4142232"/>
            <a:ext cx="548640" cy="548640"/>
          </a:xfrm>
          <a:prstGeom prst="rect">
            <a:avLst/>
          </a:prstGeom>
          <a:noFill/>
          <a:ln/>
        </p:spPr>
        <p:txBody>
          <a:bodyPr wrap="square" rtlCol="0" anchor="ctr"/>
          <a:lstStyle/>
          <a:p>
            <a:pPr marL="0" indent="0" algn="ctr">
              <a:buNone/>
            </a:pPr>
            <a:r>
              <a:rPr lang="en-US" sz="2200" dirty="0">
                <a:solidFill>
                  <a:srgbClr val="000000"/>
                </a:solidFill>
              </a:rPr>
              <a:t>🗣️</a:t>
            </a:r>
            <a:endParaRPr lang="en-US" sz="2200" dirty="0"/>
          </a:p>
        </p:txBody>
      </p:sp>
      <p:sp>
        <p:nvSpPr>
          <p:cNvPr id="18" name="Text 16"/>
          <p:cNvSpPr/>
          <p:nvPr/>
        </p:nvSpPr>
        <p:spPr>
          <a:xfrm>
            <a:off x="1508760" y="4133088"/>
            <a:ext cx="4206240" cy="365760"/>
          </a:xfrm>
          <a:prstGeom prst="rect">
            <a:avLst/>
          </a:prstGeom>
          <a:noFill/>
          <a:ln/>
        </p:spPr>
        <p:txBody>
          <a:bodyPr wrap="square" lIns="0" tIns="0" rIns="0" bIns="0"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Fragmented Patient Communication</a:t>
            </a:r>
            <a:endParaRPr lang="en-US" sz="1450" dirty="0"/>
          </a:p>
        </p:txBody>
      </p:sp>
      <p:sp>
        <p:nvSpPr>
          <p:cNvPr id="19" name="Text 17"/>
          <p:cNvSpPr/>
          <p:nvPr/>
        </p:nvSpPr>
        <p:spPr>
          <a:xfrm>
            <a:off x="1508760" y="4498848"/>
            <a:ext cx="4206240" cy="1188720"/>
          </a:xfrm>
          <a:prstGeom prst="rect">
            <a:avLst/>
          </a:prstGeom>
          <a:noFill/>
          <a:ln/>
        </p:spPr>
        <p:txBody>
          <a:bodyPr wrap="square" lIns="0" tIns="0" rIns="0" bIns="0" rtlCol="0" anchor="ctr"/>
          <a:lstStyle/>
          <a:p>
            <a:pPr marL="0" indent="0">
              <a:buNone/>
            </a:pPr>
            <a:r>
              <a:rPr lang="en-US" sz="1150" dirty="0">
                <a:solidFill>
                  <a:srgbClr val="D9EDF2"/>
                </a:solidFill>
                <a:latin typeface="Calibri" pitchFamily="34" charset="0"/>
                <a:ea typeface="Calibri" pitchFamily="34" charset="-122"/>
                <a:cs typeface="Calibri" pitchFamily="34" charset="-120"/>
              </a:rPr>
              <a:t>Patients often need a clear, bilingual explanation of a finding, not just a raw prediction.</a:t>
            </a:r>
            <a:endParaRPr lang="en-US" sz="1150" dirty="0"/>
          </a:p>
        </p:txBody>
      </p:sp>
      <p:sp>
        <p:nvSpPr>
          <p:cNvPr id="20" name="Shape 18"/>
          <p:cNvSpPr/>
          <p:nvPr/>
        </p:nvSpPr>
        <p:spPr>
          <a:xfrm>
            <a:off x="6263640" y="3931920"/>
            <a:ext cx="5394960" cy="1874520"/>
          </a:xfrm>
          <a:prstGeom prst="roundRect">
            <a:avLst>
              <a:gd name="adj" fmla="val 4390"/>
            </a:avLst>
          </a:prstGeom>
          <a:solidFill>
            <a:srgbClr val="384653"/>
          </a:solidFill>
          <a:ln/>
        </p:spPr>
        <p:txBody>
          <a:bodyPr/>
          <a:lstStyle/>
          <a:p>
            <a:endParaRPr lang="en-US"/>
          </a:p>
        </p:txBody>
      </p:sp>
      <p:sp>
        <p:nvSpPr>
          <p:cNvPr id="21" name="Shape 19"/>
          <p:cNvSpPr/>
          <p:nvPr/>
        </p:nvSpPr>
        <p:spPr>
          <a:xfrm>
            <a:off x="6492240" y="4160520"/>
            <a:ext cx="548640" cy="548640"/>
          </a:xfrm>
          <a:prstGeom prst="ellipse">
            <a:avLst/>
          </a:prstGeom>
          <a:solidFill>
            <a:srgbClr val="004A66"/>
          </a:solidFill>
          <a:ln/>
        </p:spPr>
        <p:txBody>
          <a:bodyPr/>
          <a:lstStyle/>
          <a:p>
            <a:endParaRPr lang="en-US"/>
          </a:p>
        </p:txBody>
      </p:sp>
      <p:sp>
        <p:nvSpPr>
          <p:cNvPr id="22" name="Text 20"/>
          <p:cNvSpPr/>
          <p:nvPr/>
        </p:nvSpPr>
        <p:spPr>
          <a:xfrm>
            <a:off x="6492240" y="4142232"/>
            <a:ext cx="548640" cy="548640"/>
          </a:xfrm>
          <a:prstGeom prst="rect">
            <a:avLst/>
          </a:prstGeom>
          <a:noFill/>
          <a:ln/>
        </p:spPr>
        <p:txBody>
          <a:bodyPr wrap="square" rtlCol="0" anchor="ctr"/>
          <a:lstStyle/>
          <a:p>
            <a:pPr marL="0" indent="0" algn="ctr">
              <a:buNone/>
            </a:pPr>
            <a:r>
              <a:rPr lang="en-US" sz="2200" dirty="0">
                <a:solidFill>
                  <a:srgbClr val="000000"/>
                </a:solidFill>
              </a:rPr>
              <a:t>🤖</a:t>
            </a:r>
            <a:endParaRPr lang="en-US" sz="2200" dirty="0"/>
          </a:p>
        </p:txBody>
      </p:sp>
      <p:sp>
        <p:nvSpPr>
          <p:cNvPr id="23" name="Text 21"/>
          <p:cNvSpPr/>
          <p:nvPr/>
        </p:nvSpPr>
        <p:spPr>
          <a:xfrm>
            <a:off x="7223760" y="4133088"/>
            <a:ext cx="4206240" cy="365760"/>
          </a:xfrm>
          <a:prstGeom prst="rect">
            <a:avLst/>
          </a:prstGeom>
          <a:noFill/>
          <a:ln/>
        </p:spPr>
        <p:txBody>
          <a:bodyPr wrap="square" lIns="0" tIns="0" rIns="0" bIns="0"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Maturing AI Toolkit</a:t>
            </a:r>
            <a:endParaRPr lang="en-US" sz="1450" dirty="0"/>
          </a:p>
        </p:txBody>
      </p:sp>
      <p:sp>
        <p:nvSpPr>
          <p:cNvPr id="24" name="Text 22"/>
          <p:cNvSpPr/>
          <p:nvPr/>
        </p:nvSpPr>
        <p:spPr>
          <a:xfrm>
            <a:off x="7223760" y="4498848"/>
            <a:ext cx="4206240" cy="1188720"/>
          </a:xfrm>
          <a:prstGeom prst="rect">
            <a:avLst/>
          </a:prstGeom>
          <a:noFill/>
          <a:ln/>
        </p:spPr>
        <p:txBody>
          <a:bodyPr wrap="square" lIns="0" tIns="0" rIns="0" bIns="0" rtlCol="0" anchor="ctr"/>
          <a:lstStyle/>
          <a:p>
            <a:pPr marL="0" indent="0">
              <a:buNone/>
            </a:pPr>
            <a:r>
              <a:rPr lang="en-US" sz="1150" dirty="0">
                <a:solidFill>
                  <a:srgbClr val="D9EDF2"/>
                </a:solidFill>
                <a:latin typeface="Calibri" pitchFamily="34" charset="0"/>
                <a:ea typeface="Calibri" pitchFamily="34" charset="-122"/>
                <a:cs typeface="Calibri" pitchFamily="34" charset="-120"/>
              </a:rPr>
              <a:t>Transfer learning, PEFT/LoRA and instruction-tuned LLMs now make specialised, low-cost medical AI practical to build.</a:t>
            </a:r>
            <a:endParaRPr lang="en-US" sz="1150" dirty="0"/>
          </a:p>
        </p:txBody>
      </p:sp>
      <p:sp>
        <p:nvSpPr>
          <p:cNvPr id="25" name="Text 23"/>
          <p:cNvSpPr/>
          <p:nvPr/>
        </p:nvSpPr>
        <p:spPr>
          <a:xfrm>
            <a:off x="11612880" y="6473952"/>
            <a:ext cx="457200" cy="274320"/>
          </a:xfrm>
          <a:prstGeom prst="rect">
            <a:avLst/>
          </a:prstGeom>
          <a:noFill/>
          <a:ln/>
        </p:spPr>
        <p:txBody>
          <a:bodyPr wrap="square" rtlCol="0" anchor="ctr"/>
          <a:lstStyle/>
          <a:p>
            <a:pPr marL="0" indent="0" algn="r">
              <a:buNone/>
            </a:pPr>
            <a:r>
              <a:rPr lang="en-US" sz="1000" dirty="0">
                <a:solidFill>
                  <a:srgbClr val="BFD3D8"/>
                </a:solidFill>
                <a:latin typeface="Calibri" pitchFamily="34" charset="0"/>
                <a:ea typeface="Calibri" pitchFamily="34" charset="-122"/>
                <a:cs typeface="Calibri" pitchFamily="34" charset="-120"/>
              </a:rPr>
              <a:t>03</a:t>
            </a:r>
            <a:endParaRPr lang="en-US" sz="1000" dirty="0"/>
          </a:p>
        </p:txBody>
      </p:sp>
      <p:sp>
        <p:nvSpPr>
          <p:cNvPr id="26" name="Text 24"/>
          <p:cNvSpPr/>
          <p:nvPr/>
        </p:nvSpPr>
        <p:spPr>
          <a:xfrm>
            <a:off x="548640" y="6473952"/>
            <a:ext cx="2743200" cy="274320"/>
          </a:xfrm>
          <a:prstGeom prst="rect">
            <a:avLst/>
          </a:prstGeom>
          <a:noFill/>
          <a:ln/>
        </p:spPr>
        <p:txBody>
          <a:bodyPr wrap="square" rtlCol="0" anchor="ctr"/>
          <a:lstStyle/>
          <a:p>
            <a:pPr marL="0" indent="0">
              <a:buNone/>
            </a:pPr>
            <a:r>
              <a:rPr lang="en-US" sz="1000" dirty="0">
                <a:solidFill>
                  <a:srgbClr val="BFD3D8"/>
                </a:solidFill>
                <a:latin typeface="Calibri" pitchFamily="34" charset="0"/>
                <a:ea typeface="Calibri" pitchFamily="34" charset="-122"/>
                <a:cs typeface="Calibri" pitchFamily="34" charset="-120"/>
              </a:rPr>
              <a:t>MediNova-AI</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bg>
      <p:bgPr>
        <a:solidFill>
          <a:srgbClr val="2E3C4E"/>
        </a:solidFill>
        <a:effectLst/>
      </p:bgPr>
    </p:bg>
    <p:spTree>
      <p:nvGrpSpPr>
        <p:cNvPr id="1" name=""/>
        <p:cNvGrpSpPr/>
        <p:nvPr/>
      </p:nvGrpSpPr>
      <p:grpSpPr>
        <a:xfrm>
          <a:off x="0" y="0"/>
          <a:ext cx="0" cy="0"/>
          <a:chOff x="0" y="0"/>
          <a:chExt cx="0" cy="0"/>
        </a:xfrm>
      </p:grpSpPr>
      <p:sp>
        <p:nvSpPr>
          <p:cNvPr id="2" name="Text 0"/>
          <p:cNvSpPr/>
          <p:nvPr/>
        </p:nvSpPr>
        <p:spPr>
          <a:xfrm>
            <a:off x="548640" y="292608"/>
            <a:ext cx="9144000" cy="292608"/>
          </a:xfrm>
          <a:prstGeom prst="rect">
            <a:avLst/>
          </a:prstGeom>
          <a:noFill/>
          <a:ln/>
        </p:spPr>
        <p:txBody>
          <a:bodyPr wrap="square" rtlCol="0" anchor="ctr"/>
          <a:lstStyle/>
          <a:p>
            <a:pPr marL="0" indent="0">
              <a:buNone/>
            </a:pPr>
            <a:r>
              <a:rPr lang="en-US" sz="1250" b="1" kern="0" spc="200" dirty="0">
                <a:solidFill>
                  <a:srgbClr val="95CCDA"/>
                </a:solidFill>
                <a:latin typeface="Calibri" pitchFamily="34" charset="0"/>
                <a:ea typeface="Calibri" pitchFamily="34" charset="-122"/>
                <a:cs typeface="Calibri" pitchFamily="34" charset="-120"/>
              </a:rPr>
              <a:t>OUR DIFFERENTIATOR</a:t>
            </a:r>
            <a:endParaRPr lang="en-US" sz="1250" dirty="0"/>
          </a:p>
        </p:txBody>
      </p:sp>
      <p:sp>
        <p:nvSpPr>
          <p:cNvPr id="3" name="Text 1"/>
          <p:cNvSpPr/>
          <p:nvPr/>
        </p:nvSpPr>
        <p:spPr>
          <a:xfrm>
            <a:off x="548640" y="566928"/>
            <a:ext cx="10789920" cy="685800"/>
          </a:xfrm>
          <a:prstGeom prst="rect">
            <a:avLst/>
          </a:prstGeom>
          <a:noFill/>
          <a:ln/>
        </p:spPr>
        <p:txBody>
          <a:bodyPr wrap="square" lIns="0" tIns="0" rIns="0" bIns="0" rtlCol="0" anchor="ctr"/>
          <a:lstStyle/>
          <a:p>
            <a:pPr marL="0" indent="0">
              <a:buNone/>
            </a:pPr>
            <a:r>
              <a:rPr lang="en-US" sz="2900" b="1" dirty="0">
                <a:solidFill>
                  <a:srgbClr val="FFFFFF"/>
                </a:solidFill>
                <a:latin typeface="Calibri" pitchFamily="34" charset="0"/>
                <a:ea typeface="Calibri" pitchFamily="34" charset="-122"/>
                <a:cs typeface="Calibri" pitchFamily="34" charset="-120"/>
              </a:rPr>
              <a:t>Why MediNova-AI</a:t>
            </a:r>
            <a:endParaRPr lang="en-US" sz="2900" dirty="0"/>
          </a:p>
        </p:txBody>
      </p:sp>
      <p:sp>
        <p:nvSpPr>
          <p:cNvPr id="4" name="Text 2"/>
          <p:cNvSpPr/>
          <p:nvPr/>
        </p:nvSpPr>
        <p:spPr>
          <a:xfrm>
            <a:off x="548640" y="1207008"/>
            <a:ext cx="10789920" cy="365760"/>
          </a:xfrm>
          <a:prstGeom prst="rect">
            <a:avLst/>
          </a:prstGeom>
          <a:noFill/>
          <a:ln/>
        </p:spPr>
        <p:txBody>
          <a:bodyPr wrap="square" lIns="0" tIns="0" rIns="0" bIns="0" rtlCol="0" anchor="ctr"/>
          <a:lstStyle/>
          <a:p>
            <a:pPr marL="0" indent="0">
              <a:buNone/>
            </a:pPr>
            <a:r>
              <a:rPr lang="en-US" sz="1400" i="1" dirty="0">
                <a:solidFill>
                  <a:srgbClr val="BFD3D8"/>
                </a:solidFill>
                <a:latin typeface="Calibri" pitchFamily="34" charset="0"/>
                <a:ea typeface="Calibri" pitchFamily="34" charset="-122"/>
                <a:cs typeface="Calibri" pitchFamily="34" charset="-120"/>
              </a:rPr>
              <a:t>One platform, three specialised models, a single bilingual clinical voice.</a:t>
            </a:r>
            <a:endParaRPr lang="en-US" sz="1400" dirty="0"/>
          </a:p>
        </p:txBody>
      </p:sp>
      <p:sp>
        <p:nvSpPr>
          <p:cNvPr id="5" name="Shape 3"/>
          <p:cNvSpPr/>
          <p:nvPr/>
        </p:nvSpPr>
        <p:spPr>
          <a:xfrm>
            <a:off x="548640" y="1783080"/>
            <a:ext cx="5394960" cy="1874520"/>
          </a:xfrm>
          <a:prstGeom prst="roundRect">
            <a:avLst>
              <a:gd name="adj" fmla="val 4390"/>
            </a:avLst>
          </a:prstGeom>
          <a:solidFill>
            <a:srgbClr val="384653"/>
          </a:solidFill>
          <a:ln/>
        </p:spPr>
        <p:txBody>
          <a:bodyPr/>
          <a:lstStyle/>
          <a:p>
            <a:endParaRPr lang="en-US"/>
          </a:p>
        </p:txBody>
      </p:sp>
      <p:sp>
        <p:nvSpPr>
          <p:cNvPr id="6" name="Shape 4"/>
          <p:cNvSpPr/>
          <p:nvPr/>
        </p:nvSpPr>
        <p:spPr>
          <a:xfrm>
            <a:off x="777240" y="2011680"/>
            <a:ext cx="548640" cy="548640"/>
          </a:xfrm>
          <a:prstGeom prst="ellipse">
            <a:avLst/>
          </a:prstGeom>
          <a:solidFill>
            <a:srgbClr val="0077A8"/>
          </a:solidFill>
          <a:ln/>
        </p:spPr>
        <p:txBody>
          <a:bodyPr/>
          <a:lstStyle/>
          <a:p>
            <a:endParaRPr lang="en-US"/>
          </a:p>
        </p:txBody>
      </p:sp>
      <p:sp>
        <p:nvSpPr>
          <p:cNvPr id="7" name="Text 5"/>
          <p:cNvSpPr/>
          <p:nvPr/>
        </p:nvSpPr>
        <p:spPr>
          <a:xfrm>
            <a:off x="777240" y="1993392"/>
            <a:ext cx="548640" cy="548640"/>
          </a:xfrm>
          <a:prstGeom prst="rect">
            <a:avLst/>
          </a:prstGeom>
          <a:noFill/>
          <a:ln/>
        </p:spPr>
        <p:txBody>
          <a:bodyPr wrap="square" rtlCol="0" anchor="ctr"/>
          <a:lstStyle/>
          <a:p>
            <a:pPr marL="0" indent="0" algn="ctr">
              <a:buNone/>
            </a:pPr>
            <a:r>
              <a:rPr lang="en-US" sz="2200" dirty="0">
                <a:solidFill>
                  <a:srgbClr val="000000"/>
                </a:solidFill>
              </a:rPr>
              <a:t>🔗</a:t>
            </a:r>
            <a:endParaRPr lang="en-US" sz="2200" dirty="0"/>
          </a:p>
        </p:txBody>
      </p:sp>
      <p:sp>
        <p:nvSpPr>
          <p:cNvPr id="8" name="Text 6"/>
          <p:cNvSpPr/>
          <p:nvPr/>
        </p:nvSpPr>
        <p:spPr>
          <a:xfrm>
            <a:off x="1508760" y="1984248"/>
            <a:ext cx="4206240" cy="365760"/>
          </a:xfrm>
          <a:prstGeom prst="rect">
            <a:avLst/>
          </a:prstGeom>
          <a:noFill/>
          <a:ln/>
        </p:spPr>
        <p:txBody>
          <a:bodyPr wrap="square" lIns="0" tIns="0" rIns="0" bIns="0"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Unified, Not Siloed</a:t>
            </a:r>
            <a:endParaRPr lang="en-US" sz="1450" dirty="0"/>
          </a:p>
        </p:txBody>
      </p:sp>
      <p:sp>
        <p:nvSpPr>
          <p:cNvPr id="9" name="Text 7"/>
          <p:cNvSpPr/>
          <p:nvPr/>
        </p:nvSpPr>
        <p:spPr>
          <a:xfrm>
            <a:off x="1508760" y="2350008"/>
            <a:ext cx="4206240" cy="1188720"/>
          </a:xfrm>
          <a:prstGeom prst="rect">
            <a:avLst/>
          </a:prstGeom>
          <a:noFill/>
          <a:ln/>
        </p:spPr>
        <p:txBody>
          <a:bodyPr wrap="square" lIns="0" tIns="0" rIns="0" bIns="0" rtlCol="0" anchor="ctr"/>
          <a:lstStyle/>
          <a:p>
            <a:pPr marL="0" indent="0">
              <a:buNone/>
            </a:pPr>
            <a:r>
              <a:rPr lang="en-US" sz="1150" dirty="0">
                <a:solidFill>
                  <a:srgbClr val="D9EDF2"/>
                </a:solidFill>
                <a:latin typeface="Calibri" pitchFamily="34" charset="0"/>
                <a:ea typeface="Calibri" pitchFamily="34" charset="-122"/>
                <a:cs typeface="Calibri" pitchFamily="34" charset="-120"/>
              </a:rPr>
              <a:t>Dermatology, radiology and clinical reasoning share one orchestration layer instead of separate apps.</a:t>
            </a:r>
            <a:endParaRPr lang="en-US" sz="1150" dirty="0"/>
          </a:p>
        </p:txBody>
      </p:sp>
      <p:sp>
        <p:nvSpPr>
          <p:cNvPr id="10" name="Shape 8"/>
          <p:cNvSpPr/>
          <p:nvPr/>
        </p:nvSpPr>
        <p:spPr>
          <a:xfrm>
            <a:off x="6263640" y="1783080"/>
            <a:ext cx="5394960" cy="1874520"/>
          </a:xfrm>
          <a:prstGeom prst="roundRect">
            <a:avLst>
              <a:gd name="adj" fmla="val 4390"/>
            </a:avLst>
          </a:prstGeom>
          <a:solidFill>
            <a:srgbClr val="384653"/>
          </a:solidFill>
          <a:ln/>
        </p:spPr>
        <p:txBody>
          <a:bodyPr/>
          <a:lstStyle/>
          <a:p>
            <a:endParaRPr lang="en-US"/>
          </a:p>
        </p:txBody>
      </p:sp>
      <p:sp>
        <p:nvSpPr>
          <p:cNvPr id="11" name="Shape 9"/>
          <p:cNvSpPr/>
          <p:nvPr/>
        </p:nvSpPr>
        <p:spPr>
          <a:xfrm>
            <a:off x="6492240" y="2011680"/>
            <a:ext cx="548640" cy="548640"/>
          </a:xfrm>
          <a:prstGeom prst="ellipse">
            <a:avLst/>
          </a:prstGeom>
          <a:solidFill>
            <a:srgbClr val="0077A8"/>
          </a:solidFill>
          <a:ln/>
        </p:spPr>
        <p:txBody>
          <a:bodyPr/>
          <a:lstStyle/>
          <a:p>
            <a:endParaRPr lang="en-US"/>
          </a:p>
        </p:txBody>
      </p:sp>
      <p:sp>
        <p:nvSpPr>
          <p:cNvPr id="12" name="Text 10"/>
          <p:cNvSpPr/>
          <p:nvPr/>
        </p:nvSpPr>
        <p:spPr>
          <a:xfrm>
            <a:off x="6492240" y="1993392"/>
            <a:ext cx="548640" cy="548640"/>
          </a:xfrm>
          <a:prstGeom prst="rect">
            <a:avLst/>
          </a:prstGeom>
          <a:noFill/>
          <a:ln/>
        </p:spPr>
        <p:txBody>
          <a:bodyPr wrap="square" rtlCol="0" anchor="ctr"/>
          <a:lstStyle/>
          <a:p>
            <a:pPr marL="0" indent="0" algn="ctr">
              <a:buNone/>
            </a:pPr>
            <a:r>
              <a:rPr lang="en-US" sz="2200" dirty="0">
                <a:solidFill>
                  <a:srgbClr val="000000"/>
                </a:solidFill>
              </a:rPr>
              <a:t>🧠</a:t>
            </a:r>
            <a:endParaRPr lang="en-US" sz="2200" dirty="0"/>
          </a:p>
        </p:txBody>
      </p:sp>
      <p:sp>
        <p:nvSpPr>
          <p:cNvPr id="13" name="Text 11"/>
          <p:cNvSpPr/>
          <p:nvPr/>
        </p:nvSpPr>
        <p:spPr>
          <a:xfrm>
            <a:off x="7223760" y="1984248"/>
            <a:ext cx="4206240" cy="365760"/>
          </a:xfrm>
          <a:prstGeom prst="rect">
            <a:avLst/>
          </a:prstGeom>
          <a:noFill/>
          <a:ln/>
        </p:spPr>
        <p:txBody>
          <a:bodyPr wrap="square" lIns="0" tIns="0" rIns="0" bIns="0"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Clinically-Aware Reasoning</a:t>
            </a:r>
            <a:endParaRPr lang="en-US" sz="1450" dirty="0"/>
          </a:p>
        </p:txBody>
      </p:sp>
      <p:sp>
        <p:nvSpPr>
          <p:cNvPr id="14" name="Text 12"/>
          <p:cNvSpPr/>
          <p:nvPr/>
        </p:nvSpPr>
        <p:spPr>
          <a:xfrm>
            <a:off x="7223760" y="2350008"/>
            <a:ext cx="4206240" cy="1188720"/>
          </a:xfrm>
          <a:prstGeom prst="rect">
            <a:avLst/>
          </a:prstGeom>
          <a:noFill/>
          <a:ln/>
        </p:spPr>
        <p:txBody>
          <a:bodyPr wrap="square" lIns="0" tIns="0" rIns="0" bIns="0" rtlCol="0" anchor="ctr"/>
          <a:lstStyle/>
          <a:p>
            <a:pPr marL="0" indent="0">
              <a:buNone/>
            </a:pPr>
            <a:r>
              <a:rPr lang="en-US" sz="1150" dirty="0">
                <a:solidFill>
                  <a:srgbClr val="D9EDF2"/>
                </a:solidFill>
                <a:latin typeface="Calibri" pitchFamily="34" charset="0"/>
                <a:ea typeface="Calibri" pitchFamily="34" charset="-122"/>
                <a:cs typeface="Calibri" pitchFamily="34" charset="-120"/>
              </a:rPr>
              <a:t>A LangGraph multi-agent system routes cases through triage, semantic validation and emergency escalation.</a:t>
            </a:r>
            <a:endParaRPr lang="en-US" sz="1150" dirty="0"/>
          </a:p>
        </p:txBody>
      </p:sp>
      <p:sp>
        <p:nvSpPr>
          <p:cNvPr id="15" name="Shape 13"/>
          <p:cNvSpPr/>
          <p:nvPr/>
        </p:nvSpPr>
        <p:spPr>
          <a:xfrm>
            <a:off x="548640" y="3931920"/>
            <a:ext cx="5394960" cy="1874520"/>
          </a:xfrm>
          <a:prstGeom prst="roundRect">
            <a:avLst>
              <a:gd name="adj" fmla="val 4390"/>
            </a:avLst>
          </a:prstGeom>
          <a:solidFill>
            <a:srgbClr val="384653"/>
          </a:solidFill>
          <a:ln/>
        </p:spPr>
        <p:txBody>
          <a:bodyPr/>
          <a:lstStyle/>
          <a:p>
            <a:endParaRPr lang="en-US"/>
          </a:p>
        </p:txBody>
      </p:sp>
      <p:sp>
        <p:nvSpPr>
          <p:cNvPr id="16" name="Shape 14"/>
          <p:cNvSpPr/>
          <p:nvPr/>
        </p:nvSpPr>
        <p:spPr>
          <a:xfrm>
            <a:off x="777240" y="4160520"/>
            <a:ext cx="548640" cy="548640"/>
          </a:xfrm>
          <a:prstGeom prst="ellipse">
            <a:avLst/>
          </a:prstGeom>
          <a:solidFill>
            <a:srgbClr val="0077A8"/>
          </a:solidFill>
          <a:ln/>
        </p:spPr>
        <p:txBody>
          <a:bodyPr/>
          <a:lstStyle/>
          <a:p>
            <a:endParaRPr lang="en-US"/>
          </a:p>
        </p:txBody>
      </p:sp>
      <p:sp>
        <p:nvSpPr>
          <p:cNvPr id="17" name="Text 15"/>
          <p:cNvSpPr/>
          <p:nvPr/>
        </p:nvSpPr>
        <p:spPr>
          <a:xfrm>
            <a:off x="777240" y="4142232"/>
            <a:ext cx="548640" cy="548640"/>
          </a:xfrm>
          <a:prstGeom prst="rect">
            <a:avLst/>
          </a:prstGeom>
          <a:noFill/>
          <a:ln/>
        </p:spPr>
        <p:txBody>
          <a:bodyPr wrap="square" rtlCol="0" anchor="ctr"/>
          <a:lstStyle/>
          <a:p>
            <a:pPr marL="0" indent="0" algn="ctr">
              <a:buNone/>
            </a:pPr>
            <a:r>
              <a:rPr lang="en-US" sz="2200" dirty="0">
                <a:solidFill>
                  <a:srgbClr val="000000"/>
                </a:solidFill>
              </a:rPr>
              <a:t>🌐</a:t>
            </a:r>
            <a:endParaRPr lang="en-US" sz="2200" dirty="0"/>
          </a:p>
        </p:txBody>
      </p:sp>
      <p:sp>
        <p:nvSpPr>
          <p:cNvPr id="18" name="Text 16"/>
          <p:cNvSpPr/>
          <p:nvPr/>
        </p:nvSpPr>
        <p:spPr>
          <a:xfrm>
            <a:off x="1508760" y="4133088"/>
            <a:ext cx="4206240" cy="365760"/>
          </a:xfrm>
          <a:prstGeom prst="rect">
            <a:avLst/>
          </a:prstGeom>
          <a:noFill/>
          <a:ln/>
        </p:spPr>
        <p:txBody>
          <a:bodyPr wrap="square" lIns="0" tIns="0" rIns="0" bIns="0"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Bilingual by Design</a:t>
            </a:r>
            <a:endParaRPr lang="en-US" sz="1450" dirty="0"/>
          </a:p>
        </p:txBody>
      </p:sp>
      <p:sp>
        <p:nvSpPr>
          <p:cNvPr id="19" name="Text 17"/>
          <p:cNvSpPr/>
          <p:nvPr/>
        </p:nvSpPr>
        <p:spPr>
          <a:xfrm>
            <a:off x="1508760" y="4498848"/>
            <a:ext cx="4206240" cy="1188720"/>
          </a:xfrm>
          <a:prstGeom prst="rect">
            <a:avLst/>
          </a:prstGeom>
          <a:noFill/>
          <a:ln/>
        </p:spPr>
        <p:txBody>
          <a:bodyPr wrap="square" lIns="0" tIns="0" rIns="0" bIns="0" rtlCol="0" anchor="ctr"/>
          <a:lstStyle/>
          <a:p>
            <a:pPr marL="0" indent="0">
              <a:buNone/>
            </a:pPr>
            <a:r>
              <a:rPr lang="en-US" sz="1150" dirty="0">
                <a:solidFill>
                  <a:srgbClr val="D9EDF2"/>
                </a:solidFill>
                <a:latin typeface="Calibri" pitchFamily="34" charset="0"/>
                <a:ea typeface="Calibri" pitchFamily="34" charset="-122"/>
                <a:cs typeface="Calibri" pitchFamily="34" charset="-120"/>
              </a:rPr>
              <a:t>Every structured report is generated in both English and Arabic for the patient and the clinician.</a:t>
            </a:r>
            <a:endParaRPr lang="en-US" sz="1150" dirty="0"/>
          </a:p>
        </p:txBody>
      </p:sp>
      <p:sp>
        <p:nvSpPr>
          <p:cNvPr id="20" name="Shape 18"/>
          <p:cNvSpPr/>
          <p:nvPr/>
        </p:nvSpPr>
        <p:spPr>
          <a:xfrm>
            <a:off x="6263640" y="3931920"/>
            <a:ext cx="5394960" cy="1874520"/>
          </a:xfrm>
          <a:prstGeom prst="roundRect">
            <a:avLst>
              <a:gd name="adj" fmla="val 4390"/>
            </a:avLst>
          </a:prstGeom>
          <a:solidFill>
            <a:srgbClr val="384653"/>
          </a:solidFill>
          <a:ln/>
        </p:spPr>
        <p:txBody>
          <a:bodyPr/>
          <a:lstStyle/>
          <a:p>
            <a:endParaRPr lang="en-US"/>
          </a:p>
        </p:txBody>
      </p:sp>
      <p:sp>
        <p:nvSpPr>
          <p:cNvPr id="21" name="Shape 19"/>
          <p:cNvSpPr/>
          <p:nvPr/>
        </p:nvSpPr>
        <p:spPr>
          <a:xfrm>
            <a:off x="6492240" y="4160520"/>
            <a:ext cx="548640" cy="548640"/>
          </a:xfrm>
          <a:prstGeom prst="ellipse">
            <a:avLst/>
          </a:prstGeom>
          <a:solidFill>
            <a:srgbClr val="0077A8"/>
          </a:solidFill>
          <a:ln/>
        </p:spPr>
        <p:txBody>
          <a:bodyPr/>
          <a:lstStyle/>
          <a:p>
            <a:endParaRPr lang="en-US"/>
          </a:p>
        </p:txBody>
      </p:sp>
      <p:sp>
        <p:nvSpPr>
          <p:cNvPr id="22" name="Text 20"/>
          <p:cNvSpPr/>
          <p:nvPr/>
        </p:nvSpPr>
        <p:spPr>
          <a:xfrm>
            <a:off x="6492240" y="4142232"/>
            <a:ext cx="548640" cy="548640"/>
          </a:xfrm>
          <a:prstGeom prst="rect">
            <a:avLst/>
          </a:prstGeom>
          <a:noFill/>
          <a:ln/>
        </p:spPr>
        <p:txBody>
          <a:bodyPr wrap="square" rtlCol="0" anchor="ctr"/>
          <a:lstStyle/>
          <a:p>
            <a:pPr marL="0" indent="0" algn="ctr">
              <a:buNone/>
            </a:pPr>
            <a:r>
              <a:rPr lang="en-US" sz="2200" dirty="0">
                <a:solidFill>
                  <a:srgbClr val="000000"/>
                </a:solidFill>
              </a:rPr>
              <a:t>⚡</a:t>
            </a:r>
            <a:endParaRPr lang="en-US" sz="2200" dirty="0"/>
          </a:p>
        </p:txBody>
      </p:sp>
      <p:sp>
        <p:nvSpPr>
          <p:cNvPr id="23" name="Text 21"/>
          <p:cNvSpPr/>
          <p:nvPr/>
        </p:nvSpPr>
        <p:spPr>
          <a:xfrm>
            <a:off x="7223760" y="4133088"/>
            <a:ext cx="4206240" cy="365760"/>
          </a:xfrm>
          <a:prstGeom prst="rect">
            <a:avLst/>
          </a:prstGeom>
          <a:noFill/>
          <a:ln/>
        </p:spPr>
        <p:txBody>
          <a:bodyPr wrap="square" lIns="0" tIns="0" rIns="0" bIns="0"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Efficient Fine-Tuning</a:t>
            </a:r>
            <a:endParaRPr lang="en-US" sz="1450" dirty="0"/>
          </a:p>
        </p:txBody>
      </p:sp>
      <p:sp>
        <p:nvSpPr>
          <p:cNvPr id="24" name="Text 22"/>
          <p:cNvSpPr/>
          <p:nvPr/>
        </p:nvSpPr>
        <p:spPr>
          <a:xfrm>
            <a:off x="7223760" y="4498848"/>
            <a:ext cx="4206240" cy="1188720"/>
          </a:xfrm>
          <a:prstGeom prst="rect">
            <a:avLst/>
          </a:prstGeom>
          <a:noFill/>
          <a:ln/>
        </p:spPr>
        <p:txBody>
          <a:bodyPr wrap="square" lIns="0" tIns="0" rIns="0" bIns="0" rtlCol="0" anchor="ctr"/>
          <a:lstStyle/>
          <a:p>
            <a:pPr marL="0" indent="0">
              <a:buNone/>
            </a:pPr>
            <a:r>
              <a:rPr lang="en-US" sz="1150" dirty="0">
                <a:solidFill>
                  <a:srgbClr val="D9EDF2"/>
                </a:solidFill>
                <a:latin typeface="Calibri" pitchFamily="34" charset="0"/>
                <a:ea typeface="Calibri" pitchFamily="34" charset="-122"/>
                <a:cs typeface="Calibri" pitchFamily="34" charset="-120"/>
              </a:rPr>
              <a:t>LoRA / PEFT and 4-bit quantisation keep every model small enough to fine-tune and serve on a single GPU.</a:t>
            </a:r>
            <a:endParaRPr lang="en-US" sz="1150" dirty="0"/>
          </a:p>
        </p:txBody>
      </p:sp>
      <p:sp>
        <p:nvSpPr>
          <p:cNvPr id="25" name="Text 23"/>
          <p:cNvSpPr/>
          <p:nvPr/>
        </p:nvSpPr>
        <p:spPr>
          <a:xfrm>
            <a:off x="11612880" y="6473952"/>
            <a:ext cx="457200" cy="274320"/>
          </a:xfrm>
          <a:prstGeom prst="rect">
            <a:avLst/>
          </a:prstGeom>
          <a:noFill/>
          <a:ln/>
        </p:spPr>
        <p:txBody>
          <a:bodyPr wrap="square" rtlCol="0" anchor="ctr"/>
          <a:lstStyle/>
          <a:p>
            <a:pPr marL="0" indent="0" algn="r">
              <a:buNone/>
            </a:pPr>
            <a:r>
              <a:rPr lang="en-US" sz="1000" dirty="0">
                <a:solidFill>
                  <a:srgbClr val="BFD3D8"/>
                </a:solidFill>
                <a:latin typeface="Calibri" pitchFamily="34" charset="0"/>
                <a:ea typeface="Calibri" pitchFamily="34" charset="-122"/>
                <a:cs typeface="Calibri" pitchFamily="34" charset="-120"/>
              </a:rPr>
              <a:t>06</a:t>
            </a:r>
            <a:endParaRPr lang="en-US" sz="1000" dirty="0"/>
          </a:p>
        </p:txBody>
      </p:sp>
      <p:sp>
        <p:nvSpPr>
          <p:cNvPr id="26" name="Text 24"/>
          <p:cNvSpPr/>
          <p:nvPr/>
        </p:nvSpPr>
        <p:spPr>
          <a:xfrm>
            <a:off x="548640" y="6473952"/>
            <a:ext cx="2743200" cy="274320"/>
          </a:xfrm>
          <a:prstGeom prst="rect">
            <a:avLst/>
          </a:prstGeom>
          <a:noFill/>
          <a:ln/>
        </p:spPr>
        <p:txBody>
          <a:bodyPr wrap="square" rtlCol="0" anchor="ctr"/>
          <a:lstStyle/>
          <a:p>
            <a:pPr marL="0" indent="0">
              <a:buNone/>
            </a:pPr>
            <a:r>
              <a:rPr lang="en-US" sz="1000" dirty="0">
                <a:solidFill>
                  <a:srgbClr val="BFD3D8"/>
                </a:solidFill>
                <a:latin typeface="Calibri" pitchFamily="34" charset="0"/>
                <a:ea typeface="Calibri" pitchFamily="34" charset="-122"/>
                <a:cs typeface="Calibri" pitchFamily="34" charset="-120"/>
              </a:rPr>
              <a:t>MediNova-AI</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bg>
      <p:bgPr>
        <a:solidFill>
          <a:srgbClr val="2E3C4E"/>
        </a:solidFill>
        <a:effectLst/>
      </p:bgPr>
    </p:bg>
    <p:spTree>
      <p:nvGrpSpPr>
        <p:cNvPr id="1" name=""/>
        <p:cNvGrpSpPr/>
        <p:nvPr/>
      </p:nvGrpSpPr>
      <p:grpSpPr>
        <a:xfrm>
          <a:off x="0" y="0"/>
          <a:ext cx="0" cy="0"/>
          <a:chOff x="0" y="0"/>
          <a:chExt cx="0" cy="0"/>
        </a:xfrm>
      </p:grpSpPr>
      <p:sp>
        <p:nvSpPr>
          <p:cNvPr id="2" name="Text 0"/>
          <p:cNvSpPr/>
          <p:nvPr/>
        </p:nvSpPr>
        <p:spPr>
          <a:xfrm>
            <a:off x="548640" y="292608"/>
            <a:ext cx="9144000" cy="292608"/>
          </a:xfrm>
          <a:prstGeom prst="rect">
            <a:avLst/>
          </a:prstGeom>
          <a:noFill/>
          <a:ln/>
        </p:spPr>
        <p:txBody>
          <a:bodyPr wrap="square" rtlCol="0" anchor="ctr"/>
          <a:lstStyle/>
          <a:p>
            <a:pPr marL="0" indent="0">
              <a:buNone/>
            </a:pPr>
            <a:r>
              <a:rPr lang="en-US" sz="1250" b="1" kern="0" spc="200" dirty="0">
                <a:solidFill>
                  <a:srgbClr val="95CCDA"/>
                </a:solidFill>
                <a:latin typeface="Calibri" pitchFamily="34" charset="0"/>
                <a:ea typeface="Calibri" pitchFamily="34" charset="-122"/>
                <a:cs typeface="Calibri" pitchFamily="34" charset="-120"/>
              </a:rPr>
              <a:t>WHAT WE SET OUT TO DO</a:t>
            </a:r>
            <a:endParaRPr lang="en-US" sz="1250" dirty="0"/>
          </a:p>
        </p:txBody>
      </p:sp>
      <p:sp>
        <p:nvSpPr>
          <p:cNvPr id="3" name="Text 1"/>
          <p:cNvSpPr/>
          <p:nvPr/>
        </p:nvSpPr>
        <p:spPr>
          <a:xfrm>
            <a:off x="548640" y="566928"/>
            <a:ext cx="10789920" cy="685800"/>
          </a:xfrm>
          <a:prstGeom prst="rect">
            <a:avLst/>
          </a:prstGeom>
          <a:noFill/>
          <a:ln/>
        </p:spPr>
        <p:txBody>
          <a:bodyPr wrap="square" lIns="0" tIns="0" rIns="0" bIns="0" rtlCol="0" anchor="ctr"/>
          <a:lstStyle/>
          <a:p>
            <a:pPr marL="0" indent="0">
              <a:buNone/>
            </a:pPr>
            <a:r>
              <a:rPr lang="en-US" sz="2900" b="1" dirty="0">
                <a:solidFill>
                  <a:srgbClr val="FFFFFF"/>
                </a:solidFill>
                <a:latin typeface="Calibri" pitchFamily="34" charset="0"/>
                <a:ea typeface="Calibri" pitchFamily="34" charset="-122"/>
                <a:cs typeface="Calibri" pitchFamily="34" charset="-120"/>
              </a:rPr>
              <a:t>Project Objectives</a:t>
            </a:r>
            <a:endParaRPr lang="en-US" sz="2900" dirty="0"/>
          </a:p>
        </p:txBody>
      </p:sp>
      <p:sp>
        <p:nvSpPr>
          <p:cNvPr id="4" name="Shape 2"/>
          <p:cNvSpPr/>
          <p:nvPr/>
        </p:nvSpPr>
        <p:spPr>
          <a:xfrm>
            <a:off x="548640" y="1691640"/>
            <a:ext cx="11064240" cy="841248"/>
          </a:xfrm>
          <a:prstGeom prst="roundRect">
            <a:avLst>
              <a:gd name="adj" fmla="val 9783"/>
            </a:avLst>
          </a:prstGeom>
          <a:solidFill>
            <a:srgbClr val="384653"/>
          </a:solidFill>
          <a:ln/>
        </p:spPr>
        <p:txBody>
          <a:bodyPr/>
          <a:lstStyle/>
          <a:p>
            <a:endParaRPr lang="en-US"/>
          </a:p>
        </p:txBody>
      </p:sp>
      <p:sp>
        <p:nvSpPr>
          <p:cNvPr id="5" name="Shape 3"/>
          <p:cNvSpPr/>
          <p:nvPr/>
        </p:nvSpPr>
        <p:spPr>
          <a:xfrm>
            <a:off x="749808" y="1837944"/>
            <a:ext cx="548640" cy="548640"/>
          </a:xfrm>
          <a:prstGeom prst="ellipse">
            <a:avLst/>
          </a:prstGeom>
          <a:solidFill>
            <a:srgbClr val="0077A8"/>
          </a:solidFill>
          <a:ln/>
        </p:spPr>
        <p:txBody>
          <a:bodyPr/>
          <a:lstStyle/>
          <a:p>
            <a:endParaRPr lang="en-US"/>
          </a:p>
        </p:txBody>
      </p:sp>
      <p:sp>
        <p:nvSpPr>
          <p:cNvPr id="6" name="Text 4"/>
          <p:cNvSpPr/>
          <p:nvPr/>
        </p:nvSpPr>
        <p:spPr>
          <a:xfrm>
            <a:off x="749808" y="1819656"/>
            <a:ext cx="548640" cy="548640"/>
          </a:xfrm>
          <a:prstGeom prst="rect">
            <a:avLst/>
          </a:prstGeom>
          <a:noFill/>
          <a:ln/>
        </p:spPr>
        <p:txBody>
          <a:bodyPr wrap="square" rtlCol="0" anchor="ctr"/>
          <a:lstStyle/>
          <a:p>
            <a:pPr marL="0" indent="0" algn="ctr">
              <a:buNone/>
            </a:pPr>
            <a:r>
              <a:rPr lang="en-US" sz="2000" dirty="0">
                <a:solidFill>
                  <a:srgbClr val="000000"/>
                </a:solidFill>
              </a:rPr>
              <a:t>1</a:t>
            </a:r>
            <a:endParaRPr lang="en-US" sz="2000" dirty="0"/>
          </a:p>
        </p:txBody>
      </p:sp>
      <p:sp>
        <p:nvSpPr>
          <p:cNvPr id="7" name="Text 5"/>
          <p:cNvSpPr/>
          <p:nvPr/>
        </p:nvSpPr>
        <p:spPr>
          <a:xfrm>
            <a:off x="1508760" y="1764792"/>
            <a:ext cx="3657600" cy="694944"/>
          </a:xfrm>
          <a:prstGeom prst="rect">
            <a:avLst/>
          </a:prstGeom>
          <a:noFill/>
          <a:ln/>
        </p:spPr>
        <p:txBody>
          <a:bodyPr wrap="square" lIns="0" tIns="0" rIns="0" bIns="0" rtlCol="0" anchor="ctr"/>
          <a:lstStyle/>
          <a:p>
            <a:pPr marL="0" indent="0">
              <a:buNone/>
            </a:pPr>
            <a:r>
              <a:rPr lang="en-US" sz="1300" b="1" dirty="0">
                <a:solidFill>
                  <a:srgbClr val="C8E6F0"/>
                </a:solidFill>
                <a:latin typeface="Calibri" pitchFamily="34" charset="0"/>
                <a:ea typeface="Calibri" pitchFamily="34" charset="-122"/>
                <a:cs typeface="Calibri" pitchFamily="34" charset="-120"/>
              </a:rPr>
              <a:t>Build three clinically-grounded AI systems</a:t>
            </a:r>
            <a:endParaRPr lang="en-US" sz="1300" dirty="0"/>
          </a:p>
        </p:txBody>
      </p:sp>
      <p:sp>
        <p:nvSpPr>
          <p:cNvPr id="8" name="Text 6"/>
          <p:cNvSpPr/>
          <p:nvPr/>
        </p:nvSpPr>
        <p:spPr>
          <a:xfrm>
            <a:off x="5257800" y="1764792"/>
            <a:ext cx="6172200" cy="694944"/>
          </a:xfrm>
          <a:prstGeom prst="rect">
            <a:avLst/>
          </a:prstGeom>
          <a:noFill/>
          <a:ln/>
        </p:spPr>
        <p:txBody>
          <a:bodyPr wrap="square" lIns="0" tIns="0" rIns="0" bIns="0" rtlCol="0" anchor="ctr"/>
          <a:lstStyle/>
          <a:p>
            <a:pPr marL="0" indent="0">
              <a:buNone/>
            </a:pPr>
            <a:r>
              <a:rPr lang="en-US" sz="1150" dirty="0">
                <a:solidFill>
                  <a:srgbClr val="D9EDF2"/>
                </a:solidFill>
                <a:latin typeface="Calibri" pitchFamily="34" charset="0"/>
                <a:ea typeface="Calibri" pitchFamily="34" charset="-122"/>
                <a:cs typeface="Calibri" pitchFamily="34" charset="-120"/>
              </a:rPr>
              <a:t>Skin lesion vision, chest X-ray vision, and a medical-domain conversational LLM.</a:t>
            </a:r>
            <a:endParaRPr lang="en-US" sz="1150" dirty="0"/>
          </a:p>
        </p:txBody>
      </p:sp>
      <p:sp>
        <p:nvSpPr>
          <p:cNvPr id="9" name="Shape 7"/>
          <p:cNvSpPr/>
          <p:nvPr/>
        </p:nvSpPr>
        <p:spPr>
          <a:xfrm>
            <a:off x="548640" y="2633472"/>
            <a:ext cx="11064240" cy="841248"/>
          </a:xfrm>
          <a:prstGeom prst="roundRect">
            <a:avLst>
              <a:gd name="adj" fmla="val 9783"/>
            </a:avLst>
          </a:prstGeom>
          <a:solidFill>
            <a:srgbClr val="384653"/>
          </a:solidFill>
          <a:ln/>
        </p:spPr>
        <p:txBody>
          <a:bodyPr/>
          <a:lstStyle/>
          <a:p>
            <a:endParaRPr lang="en-US"/>
          </a:p>
        </p:txBody>
      </p:sp>
      <p:sp>
        <p:nvSpPr>
          <p:cNvPr id="10" name="Shape 8"/>
          <p:cNvSpPr/>
          <p:nvPr/>
        </p:nvSpPr>
        <p:spPr>
          <a:xfrm>
            <a:off x="749808" y="2779776"/>
            <a:ext cx="548640" cy="548640"/>
          </a:xfrm>
          <a:prstGeom prst="ellipse">
            <a:avLst/>
          </a:prstGeom>
          <a:solidFill>
            <a:srgbClr val="0077A8"/>
          </a:solidFill>
          <a:ln/>
        </p:spPr>
        <p:txBody>
          <a:bodyPr/>
          <a:lstStyle/>
          <a:p>
            <a:endParaRPr lang="en-US"/>
          </a:p>
        </p:txBody>
      </p:sp>
      <p:sp>
        <p:nvSpPr>
          <p:cNvPr id="11" name="Text 9"/>
          <p:cNvSpPr/>
          <p:nvPr/>
        </p:nvSpPr>
        <p:spPr>
          <a:xfrm>
            <a:off x="749808" y="2761488"/>
            <a:ext cx="548640" cy="548640"/>
          </a:xfrm>
          <a:prstGeom prst="rect">
            <a:avLst/>
          </a:prstGeom>
          <a:noFill/>
          <a:ln/>
        </p:spPr>
        <p:txBody>
          <a:bodyPr wrap="square" rtlCol="0" anchor="ctr"/>
          <a:lstStyle/>
          <a:p>
            <a:pPr marL="0" indent="0" algn="ctr">
              <a:buNone/>
            </a:pPr>
            <a:r>
              <a:rPr lang="en-US" sz="2000" dirty="0">
                <a:solidFill>
                  <a:srgbClr val="000000"/>
                </a:solidFill>
              </a:rPr>
              <a:t>2</a:t>
            </a:r>
            <a:endParaRPr lang="en-US" sz="2000" dirty="0"/>
          </a:p>
        </p:txBody>
      </p:sp>
      <p:sp>
        <p:nvSpPr>
          <p:cNvPr id="12" name="Text 10"/>
          <p:cNvSpPr/>
          <p:nvPr/>
        </p:nvSpPr>
        <p:spPr>
          <a:xfrm>
            <a:off x="1508760" y="2706624"/>
            <a:ext cx="3657600" cy="694944"/>
          </a:xfrm>
          <a:prstGeom prst="rect">
            <a:avLst/>
          </a:prstGeom>
          <a:noFill/>
          <a:ln/>
        </p:spPr>
        <p:txBody>
          <a:bodyPr wrap="square" lIns="0" tIns="0" rIns="0" bIns="0" rtlCol="0" anchor="ctr"/>
          <a:lstStyle/>
          <a:p>
            <a:pPr marL="0" indent="0">
              <a:buNone/>
            </a:pPr>
            <a:r>
              <a:rPr lang="en-US" sz="1300" b="1" dirty="0">
                <a:solidFill>
                  <a:srgbClr val="C8E6F0"/>
                </a:solidFill>
                <a:latin typeface="Calibri" pitchFamily="34" charset="0"/>
                <a:ea typeface="Calibri" pitchFamily="34" charset="-122"/>
                <a:cs typeface="Calibri" pitchFamily="34" charset="-120"/>
              </a:rPr>
              <a:t>Reach clinical-grade accuracy</a:t>
            </a:r>
            <a:endParaRPr lang="en-US" sz="1300" dirty="0"/>
          </a:p>
        </p:txBody>
      </p:sp>
      <p:sp>
        <p:nvSpPr>
          <p:cNvPr id="13" name="Text 11"/>
          <p:cNvSpPr/>
          <p:nvPr/>
        </p:nvSpPr>
        <p:spPr>
          <a:xfrm>
            <a:off x="5257800" y="2706624"/>
            <a:ext cx="6172200" cy="694944"/>
          </a:xfrm>
          <a:prstGeom prst="rect">
            <a:avLst/>
          </a:prstGeom>
          <a:noFill/>
          <a:ln/>
        </p:spPr>
        <p:txBody>
          <a:bodyPr wrap="square" lIns="0" tIns="0" rIns="0" bIns="0" rtlCol="0" anchor="ctr"/>
          <a:lstStyle/>
          <a:p>
            <a:pPr marL="0" indent="0">
              <a:buNone/>
            </a:pPr>
            <a:r>
              <a:rPr lang="en-US" sz="1150" dirty="0">
                <a:solidFill>
                  <a:srgbClr val="D9EDF2"/>
                </a:solidFill>
                <a:latin typeface="Calibri" pitchFamily="34" charset="0"/>
                <a:ea typeface="Calibri" pitchFamily="34" charset="-122"/>
                <a:cs typeface="Calibri" pitchFamily="34" charset="-120"/>
              </a:rPr>
              <a:t>Target ≥95% headline accuracy on vision tasks and a near-zero hallucination rate on generated reports.</a:t>
            </a:r>
            <a:endParaRPr lang="en-US" sz="1150" dirty="0"/>
          </a:p>
        </p:txBody>
      </p:sp>
      <p:sp>
        <p:nvSpPr>
          <p:cNvPr id="14" name="Shape 12"/>
          <p:cNvSpPr/>
          <p:nvPr/>
        </p:nvSpPr>
        <p:spPr>
          <a:xfrm>
            <a:off x="548640" y="3575304"/>
            <a:ext cx="11064240" cy="841248"/>
          </a:xfrm>
          <a:prstGeom prst="roundRect">
            <a:avLst>
              <a:gd name="adj" fmla="val 9783"/>
            </a:avLst>
          </a:prstGeom>
          <a:solidFill>
            <a:srgbClr val="384653"/>
          </a:solidFill>
          <a:ln/>
        </p:spPr>
        <p:txBody>
          <a:bodyPr/>
          <a:lstStyle/>
          <a:p>
            <a:endParaRPr lang="en-US"/>
          </a:p>
        </p:txBody>
      </p:sp>
      <p:sp>
        <p:nvSpPr>
          <p:cNvPr id="15" name="Shape 13"/>
          <p:cNvSpPr/>
          <p:nvPr/>
        </p:nvSpPr>
        <p:spPr>
          <a:xfrm>
            <a:off x="749808" y="3721608"/>
            <a:ext cx="548640" cy="548640"/>
          </a:xfrm>
          <a:prstGeom prst="ellipse">
            <a:avLst/>
          </a:prstGeom>
          <a:solidFill>
            <a:srgbClr val="0077A8"/>
          </a:solidFill>
          <a:ln/>
        </p:spPr>
        <p:txBody>
          <a:bodyPr/>
          <a:lstStyle/>
          <a:p>
            <a:endParaRPr lang="en-US"/>
          </a:p>
        </p:txBody>
      </p:sp>
      <p:sp>
        <p:nvSpPr>
          <p:cNvPr id="16" name="Text 14"/>
          <p:cNvSpPr/>
          <p:nvPr/>
        </p:nvSpPr>
        <p:spPr>
          <a:xfrm>
            <a:off x="749808" y="3703320"/>
            <a:ext cx="548640" cy="548640"/>
          </a:xfrm>
          <a:prstGeom prst="rect">
            <a:avLst/>
          </a:prstGeom>
          <a:noFill/>
          <a:ln/>
        </p:spPr>
        <p:txBody>
          <a:bodyPr wrap="square" rtlCol="0" anchor="ctr"/>
          <a:lstStyle/>
          <a:p>
            <a:pPr marL="0" indent="0" algn="ctr">
              <a:buNone/>
            </a:pPr>
            <a:r>
              <a:rPr lang="en-US" sz="2000" dirty="0">
                <a:solidFill>
                  <a:srgbClr val="000000"/>
                </a:solidFill>
              </a:rPr>
              <a:t>3</a:t>
            </a:r>
            <a:endParaRPr lang="en-US" sz="2000" dirty="0"/>
          </a:p>
        </p:txBody>
      </p:sp>
      <p:sp>
        <p:nvSpPr>
          <p:cNvPr id="17" name="Text 15"/>
          <p:cNvSpPr/>
          <p:nvPr/>
        </p:nvSpPr>
        <p:spPr>
          <a:xfrm>
            <a:off x="1508760" y="3648456"/>
            <a:ext cx="3657600" cy="694944"/>
          </a:xfrm>
          <a:prstGeom prst="rect">
            <a:avLst/>
          </a:prstGeom>
          <a:noFill/>
          <a:ln/>
        </p:spPr>
        <p:txBody>
          <a:bodyPr wrap="square" lIns="0" tIns="0" rIns="0" bIns="0" rtlCol="0" anchor="ctr"/>
          <a:lstStyle/>
          <a:p>
            <a:pPr marL="0" indent="0">
              <a:buNone/>
            </a:pPr>
            <a:r>
              <a:rPr lang="en-US" sz="1300" b="1" dirty="0">
                <a:solidFill>
                  <a:srgbClr val="C8E6F0"/>
                </a:solidFill>
                <a:latin typeface="Calibri" pitchFamily="34" charset="0"/>
                <a:ea typeface="Calibri" pitchFamily="34" charset="-122"/>
                <a:cs typeface="Calibri" pitchFamily="34" charset="-120"/>
              </a:rPr>
              <a:t>Keep training efficient &amp; reproducible</a:t>
            </a:r>
            <a:endParaRPr lang="en-US" sz="1300" dirty="0"/>
          </a:p>
        </p:txBody>
      </p:sp>
      <p:sp>
        <p:nvSpPr>
          <p:cNvPr id="18" name="Text 16"/>
          <p:cNvSpPr/>
          <p:nvPr/>
        </p:nvSpPr>
        <p:spPr>
          <a:xfrm>
            <a:off x="5257800" y="3648456"/>
            <a:ext cx="6172200" cy="694944"/>
          </a:xfrm>
          <a:prstGeom prst="rect">
            <a:avLst/>
          </a:prstGeom>
          <a:noFill/>
          <a:ln/>
        </p:spPr>
        <p:txBody>
          <a:bodyPr wrap="square" lIns="0" tIns="0" rIns="0" bIns="0" rtlCol="0" anchor="ctr"/>
          <a:lstStyle/>
          <a:p>
            <a:pPr marL="0" indent="0">
              <a:buNone/>
            </a:pPr>
            <a:r>
              <a:rPr lang="en-US" sz="1150" dirty="0">
                <a:solidFill>
                  <a:srgbClr val="D9EDF2"/>
                </a:solidFill>
                <a:latin typeface="Calibri" pitchFamily="34" charset="0"/>
                <a:ea typeface="Calibri" pitchFamily="34" charset="-122"/>
                <a:cs typeface="Calibri" pitchFamily="34" charset="-120"/>
              </a:rPr>
              <a:t>Use PEFT/LoRA, patient-level splits and fixed seeds so every result can be reproduced on a single GPU.</a:t>
            </a:r>
            <a:endParaRPr lang="en-US" sz="1150" dirty="0"/>
          </a:p>
        </p:txBody>
      </p:sp>
      <p:sp>
        <p:nvSpPr>
          <p:cNvPr id="19" name="Shape 17"/>
          <p:cNvSpPr/>
          <p:nvPr/>
        </p:nvSpPr>
        <p:spPr>
          <a:xfrm>
            <a:off x="548640" y="4517136"/>
            <a:ext cx="11064240" cy="841248"/>
          </a:xfrm>
          <a:prstGeom prst="roundRect">
            <a:avLst>
              <a:gd name="adj" fmla="val 9783"/>
            </a:avLst>
          </a:prstGeom>
          <a:solidFill>
            <a:srgbClr val="384653"/>
          </a:solidFill>
          <a:ln/>
        </p:spPr>
        <p:txBody>
          <a:bodyPr/>
          <a:lstStyle/>
          <a:p>
            <a:endParaRPr lang="en-US"/>
          </a:p>
        </p:txBody>
      </p:sp>
      <p:sp>
        <p:nvSpPr>
          <p:cNvPr id="20" name="Shape 18"/>
          <p:cNvSpPr/>
          <p:nvPr/>
        </p:nvSpPr>
        <p:spPr>
          <a:xfrm>
            <a:off x="749808" y="4663440"/>
            <a:ext cx="548640" cy="548640"/>
          </a:xfrm>
          <a:prstGeom prst="ellipse">
            <a:avLst/>
          </a:prstGeom>
          <a:solidFill>
            <a:srgbClr val="0077A8"/>
          </a:solidFill>
          <a:ln/>
        </p:spPr>
        <p:txBody>
          <a:bodyPr/>
          <a:lstStyle/>
          <a:p>
            <a:endParaRPr lang="en-US"/>
          </a:p>
        </p:txBody>
      </p:sp>
      <p:sp>
        <p:nvSpPr>
          <p:cNvPr id="21" name="Text 19"/>
          <p:cNvSpPr/>
          <p:nvPr/>
        </p:nvSpPr>
        <p:spPr>
          <a:xfrm>
            <a:off x="749808" y="4645152"/>
            <a:ext cx="548640" cy="548640"/>
          </a:xfrm>
          <a:prstGeom prst="rect">
            <a:avLst/>
          </a:prstGeom>
          <a:noFill/>
          <a:ln/>
        </p:spPr>
        <p:txBody>
          <a:bodyPr wrap="square" rtlCol="0" anchor="ctr"/>
          <a:lstStyle/>
          <a:p>
            <a:pPr marL="0" indent="0" algn="ctr">
              <a:buNone/>
            </a:pPr>
            <a:r>
              <a:rPr lang="en-US" sz="2000" dirty="0">
                <a:solidFill>
                  <a:srgbClr val="000000"/>
                </a:solidFill>
              </a:rPr>
              <a:t>4</a:t>
            </a:r>
            <a:endParaRPr lang="en-US" sz="2000" dirty="0"/>
          </a:p>
        </p:txBody>
      </p:sp>
      <p:sp>
        <p:nvSpPr>
          <p:cNvPr id="22" name="Text 20"/>
          <p:cNvSpPr/>
          <p:nvPr/>
        </p:nvSpPr>
        <p:spPr>
          <a:xfrm>
            <a:off x="1508760" y="4590288"/>
            <a:ext cx="3657600" cy="694944"/>
          </a:xfrm>
          <a:prstGeom prst="rect">
            <a:avLst/>
          </a:prstGeom>
          <a:noFill/>
          <a:ln/>
        </p:spPr>
        <p:txBody>
          <a:bodyPr wrap="square" lIns="0" tIns="0" rIns="0" bIns="0" rtlCol="0" anchor="ctr"/>
          <a:lstStyle/>
          <a:p>
            <a:pPr marL="0" indent="0">
              <a:buNone/>
            </a:pPr>
            <a:r>
              <a:rPr lang="en-US" sz="1300" b="1" dirty="0">
                <a:solidFill>
                  <a:srgbClr val="C8E6F0"/>
                </a:solidFill>
                <a:latin typeface="Calibri" pitchFamily="34" charset="0"/>
                <a:ea typeface="Calibri" pitchFamily="34" charset="-122"/>
                <a:cs typeface="Calibri" pitchFamily="34" charset="-120"/>
              </a:rPr>
              <a:t>Orchestrate, don't just predict</a:t>
            </a:r>
            <a:endParaRPr lang="en-US" sz="1300" dirty="0"/>
          </a:p>
        </p:txBody>
      </p:sp>
      <p:sp>
        <p:nvSpPr>
          <p:cNvPr id="23" name="Text 21"/>
          <p:cNvSpPr/>
          <p:nvPr/>
        </p:nvSpPr>
        <p:spPr>
          <a:xfrm>
            <a:off x="5257800" y="4590288"/>
            <a:ext cx="6172200" cy="694944"/>
          </a:xfrm>
          <a:prstGeom prst="rect">
            <a:avLst/>
          </a:prstGeom>
          <a:noFill/>
          <a:ln/>
        </p:spPr>
        <p:txBody>
          <a:bodyPr wrap="square" lIns="0" tIns="0" rIns="0" bIns="0" rtlCol="0" anchor="ctr"/>
          <a:lstStyle/>
          <a:p>
            <a:pPr marL="0" indent="0">
              <a:buNone/>
            </a:pPr>
            <a:r>
              <a:rPr lang="en-US" sz="1150" dirty="0">
                <a:solidFill>
                  <a:srgbClr val="D9EDF2"/>
                </a:solidFill>
                <a:latin typeface="Calibri" pitchFamily="34" charset="0"/>
                <a:ea typeface="Calibri" pitchFamily="34" charset="-122"/>
                <a:cs typeface="Calibri" pitchFamily="34" charset="-120"/>
              </a:rPr>
              <a:t>Route every case through a multi-agent reasoning layer that can escalate emergencies in real time.</a:t>
            </a:r>
            <a:endParaRPr lang="en-US" sz="1150" dirty="0"/>
          </a:p>
        </p:txBody>
      </p:sp>
      <p:sp>
        <p:nvSpPr>
          <p:cNvPr id="24" name="Shape 22"/>
          <p:cNvSpPr/>
          <p:nvPr/>
        </p:nvSpPr>
        <p:spPr>
          <a:xfrm>
            <a:off x="548640" y="5458968"/>
            <a:ext cx="11064240" cy="841248"/>
          </a:xfrm>
          <a:prstGeom prst="roundRect">
            <a:avLst>
              <a:gd name="adj" fmla="val 9783"/>
            </a:avLst>
          </a:prstGeom>
          <a:solidFill>
            <a:srgbClr val="384653"/>
          </a:solidFill>
          <a:ln/>
        </p:spPr>
        <p:txBody>
          <a:bodyPr/>
          <a:lstStyle/>
          <a:p>
            <a:endParaRPr lang="en-US"/>
          </a:p>
        </p:txBody>
      </p:sp>
      <p:sp>
        <p:nvSpPr>
          <p:cNvPr id="25" name="Shape 23"/>
          <p:cNvSpPr/>
          <p:nvPr/>
        </p:nvSpPr>
        <p:spPr>
          <a:xfrm>
            <a:off x="749808" y="5605272"/>
            <a:ext cx="548640" cy="548640"/>
          </a:xfrm>
          <a:prstGeom prst="ellipse">
            <a:avLst/>
          </a:prstGeom>
          <a:solidFill>
            <a:srgbClr val="0077A8"/>
          </a:solidFill>
          <a:ln/>
        </p:spPr>
        <p:txBody>
          <a:bodyPr/>
          <a:lstStyle/>
          <a:p>
            <a:endParaRPr lang="en-US"/>
          </a:p>
        </p:txBody>
      </p:sp>
      <p:sp>
        <p:nvSpPr>
          <p:cNvPr id="26" name="Text 24"/>
          <p:cNvSpPr/>
          <p:nvPr/>
        </p:nvSpPr>
        <p:spPr>
          <a:xfrm>
            <a:off x="749808" y="5586984"/>
            <a:ext cx="548640" cy="548640"/>
          </a:xfrm>
          <a:prstGeom prst="rect">
            <a:avLst/>
          </a:prstGeom>
          <a:noFill/>
          <a:ln/>
        </p:spPr>
        <p:txBody>
          <a:bodyPr wrap="square" rtlCol="0" anchor="ctr"/>
          <a:lstStyle/>
          <a:p>
            <a:pPr marL="0" indent="0" algn="ctr">
              <a:buNone/>
            </a:pPr>
            <a:r>
              <a:rPr lang="en-US" sz="2000" dirty="0">
                <a:solidFill>
                  <a:srgbClr val="000000"/>
                </a:solidFill>
              </a:rPr>
              <a:t>5</a:t>
            </a:r>
            <a:endParaRPr lang="en-US" sz="2000" dirty="0"/>
          </a:p>
        </p:txBody>
      </p:sp>
      <p:sp>
        <p:nvSpPr>
          <p:cNvPr id="27" name="Text 25"/>
          <p:cNvSpPr/>
          <p:nvPr/>
        </p:nvSpPr>
        <p:spPr>
          <a:xfrm>
            <a:off x="1508760" y="5532120"/>
            <a:ext cx="3657600" cy="694944"/>
          </a:xfrm>
          <a:prstGeom prst="rect">
            <a:avLst/>
          </a:prstGeom>
          <a:noFill/>
          <a:ln/>
        </p:spPr>
        <p:txBody>
          <a:bodyPr wrap="square" lIns="0" tIns="0" rIns="0" bIns="0" rtlCol="0" anchor="ctr"/>
          <a:lstStyle/>
          <a:p>
            <a:pPr marL="0" indent="0">
              <a:buNone/>
            </a:pPr>
            <a:r>
              <a:rPr lang="en-US" sz="1300" b="1" dirty="0">
                <a:solidFill>
                  <a:srgbClr val="C8E6F0"/>
                </a:solidFill>
                <a:latin typeface="Calibri" pitchFamily="34" charset="0"/>
                <a:ea typeface="Calibri" pitchFamily="34" charset="-122"/>
                <a:cs typeface="Calibri" pitchFamily="34" charset="-120"/>
              </a:rPr>
              <a:t>Ship something deployable</a:t>
            </a:r>
            <a:endParaRPr lang="en-US" sz="1300" dirty="0"/>
          </a:p>
        </p:txBody>
      </p:sp>
      <p:sp>
        <p:nvSpPr>
          <p:cNvPr id="28" name="Text 26"/>
          <p:cNvSpPr/>
          <p:nvPr/>
        </p:nvSpPr>
        <p:spPr>
          <a:xfrm>
            <a:off x="5257800" y="5532120"/>
            <a:ext cx="6172200" cy="694944"/>
          </a:xfrm>
          <a:prstGeom prst="rect">
            <a:avLst/>
          </a:prstGeom>
          <a:noFill/>
          <a:ln/>
        </p:spPr>
        <p:txBody>
          <a:bodyPr wrap="square" lIns="0" tIns="0" rIns="0" bIns="0" rtlCol="0" anchor="ctr"/>
          <a:lstStyle/>
          <a:p>
            <a:pPr marL="0" indent="0">
              <a:buNone/>
            </a:pPr>
            <a:r>
              <a:rPr lang="en-US" sz="1150" dirty="0">
                <a:solidFill>
                  <a:srgbClr val="D9EDF2"/>
                </a:solidFill>
                <a:latin typeface="Calibri" pitchFamily="34" charset="0"/>
                <a:ea typeface="Calibri" pitchFamily="34" charset="-122"/>
                <a:cs typeface="Calibri" pitchFamily="34" charset="-120"/>
              </a:rPr>
              <a:t>Expose the whole pipeline behind a FastAPI service producing bilingual, structured clinical reports.</a:t>
            </a:r>
            <a:endParaRPr lang="en-US" sz="1150" dirty="0"/>
          </a:p>
        </p:txBody>
      </p:sp>
      <p:sp>
        <p:nvSpPr>
          <p:cNvPr id="29" name="Text 27"/>
          <p:cNvSpPr/>
          <p:nvPr/>
        </p:nvSpPr>
        <p:spPr>
          <a:xfrm>
            <a:off x="11612880" y="6473952"/>
            <a:ext cx="457200" cy="274320"/>
          </a:xfrm>
          <a:prstGeom prst="rect">
            <a:avLst/>
          </a:prstGeom>
          <a:noFill/>
          <a:ln/>
        </p:spPr>
        <p:txBody>
          <a:bodyPr wrap="square" rtlCol="0" anchor="ctr"/>
          <a:lstStyle/>
          <a:p>
            <a:pPr marL="0" indent="0" algn="r">
              <a:buNone/>
            </a:pPr>
            <a:r>
              <a:rPr lang="en-US" sz="1000" dirty="0">
                <a:solidFill>
                  <a:srgbClr val="BFD3D8"/>
                </a:solidFill>
                <a:latin typeface="Calibri" pitchFamily="34" charset="0"/>
                <a:ea typeface="Calibri" pitchFamily="34" charset="-122"/>
                <a:cs typeface="Calibri" pitchFamily="34" charset="-120"/>
              </a:rPr>
              <a:t>07</a:t>
            </a:r>
            <a:endParaRPr lang="en-US" sz="1000" dirty="0"/>
          </a:p>
        </p:txBody>
      </p:sp>
      <p:sp>
        <p:nvSpPr>
          <p:cNvPr id="30" name="Text 28"/>
          <p:cNvSpPr/>
          <p:nvPr/>
        </p:nvSpPr>
        <p:spPr>
          <a:xfrm>
            <a:off x="548640" y="6473952"/>
            <a:ext cx="2743200" cy="274320"/>
          </a:xfrm>
          <a:prstGeom prst="rect">
            <a:avLst/>
          </a:prstGeom>
          <a:noFill/>
          <a:ln/>
        </p:spPr>
        <p:txBody>
          <a:bodyPr wrap="square" rtlCol="0" anchor="ctr"/>
          <a:lstStyle/>
          <a:p>
            <a:pPr marL="0" indent="0">
              <a:buNone/>
            </a:pPr>
            <a:r>
              <a:rPr lang="en-US" sz="1000" dirty="0">
                <a:solidFill>
                  <a:srgbClr val="BFD3D8"/>
                </a:solidFill>
                <a:latin typeface="Calibri" pitchFamily="34" charset="0"/>
                <a:ea typeface="Calibri" pitchFamily="34" charset="-122"/>
                <a:cs typeface="Calibri" pitchFamily="34" charset="-120"/>
              </a:rPr>
              <a:t>MediNova-AI</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2E3C4E"/>
        </a:solidFill>
        <a:effectLst/>
      </p:bgPr>
    </p:bg>
    <p:spTree>
      <p:nvGrpSpPr>
        <p:cNvPr id="1" name="">
          <a:extLst>
            <a:ext uri="{FF2B5EF4-FFF2-40B4-BE49-F238E27FC236}">
              <a16:creationId xmlns:a16="http://schemas.microsoft.com/office/drawing/2014/main" id="{7AEEDEE2-05AC-0824-3B53-8F2791338CEB}"/>
            </a:ext>
          </a:extLst>
        </p:cNvPr>
        <p:cNvGrpSpPr/>
        <p:nvPr/>
      </p:nvGrpSpPr>
      <p:grpSpPr>
        <a:xfrm>
          <a:off x="0" y="0"/>
          <a:ext cx="0" cy="0"/>
          <a:chOff x="0" y="0"/>
          <a:chExt cx="0" cy="0"/>
        </a:xfrm>
      </p:grpSpPr>
      <p:sp>
        <p:nvSpPr>
          <p:cNvPr id="3" name="Text 1">
            <a:extLst>
              <a:ext uri="{FF2B5EF4-FFF2-40B4-BE49-F238E27FC236}">
                <a16:creationId xmlns:a16="http://schemas.microsoft.com/office/drawing/2014/main" id="{A10A3706-6FC6-79D2-3A00-A7C523133FEF}"/>
              </a:ext>
            </a:extLst>
          </p:cNvPr>
          <p:cNvSpPr/>
          <p:nvPr/>
        </p:nvSpPr>
        <p:spPr>
          <a:xfrm>
            <a:off x="314960" y="147424"/>
            <a:ext cx="10789920" cy="685800"/>
          </a:xfrm>
          <a:prstGeom prst="rect">
            <a:avLst/>
          </a:prstGeom>
          <a:noFill/>
          <a:ln/>
        </p:spPr>
        <p:txBody>
          <a:bodyPr wrap="square" lIns="0" tIns="0" rIns="0" bIns="0" rtlCol="0" anchor="ctr"/>
          <a:lstStyle/>
          <a:p>
            <a:pPr algn="ctr"/>
            <a:r>
              <a:rPr lang="en-US" sz="4000" b="1" u="sng" dirty="0">
                <a:solidFill>
                  <a:srgbClr val="FFFFFF"/>
                </a:solidFill>
                <a:latin typeface="Calibri" pitchFamily="34" charset="0"/>
                <a:ea typeface="Calibri" pitchFamily="34" charset="-122"/>
                <a:cs typeface="+mj-cs"/>
              </a:rPr>
              <a:t>Skin Cancer</a:t>
            </a:r>
            <a:r>
              <a:rPr lang="ar-EG" sz="4000" b="1" u="sng" dirty="0">
                <a:solidFill>
                  <a:srgbClr val="FFFFFF"/>
                </a:solidFill>
                <a:latin typeface="Calibri" pitchFamily="34" charset="0"/>
                <a:ea typeface="Calibri" pitchFamily="34" charset="-122"/>
                <a:cs typeface="+mj-cs"/>
              </a:rPr>
              <a:t> </a:t>
            </a:r>
            <a:r>
              <a:rPr lang="en-US" sz="4000" b="1" u="sng" dirty="0">
                <a:solidFill>
                  <a:srgbClr val="FFFFFF"/>
                </a:solidFill>
                <a:latin typeface="Calibri" pitchFamily="34" charset="0"/>
                <a:ea typeface="Calibri" pitchFamily="34" charset="-122"/>
                <a:cs typeface="+mj-cs"/>
              </a:rPr>
              <a:t>model</a:t>
            </a:r>
            <a:endParaRPr lang="en-US" sz="4000" u="sng" dirty="0">
              <a:cs typeface="+mj-cs"/>
            </a:endParaRPr>
          </a:p>
        </p:txBody>
      </p:sp>
      <p:sp>
        <p:nvSpPr>
          <p:cNvPr id="29" name="Text 27">
            <a:extLst>
              <a:ext uri="{FF2B5EF4-FFF2-40B4-BE49-F238E27FC236}">
                <a16:creationId xmlns:a16="http://schemas.microsoft.com/office/drawing/2014/main" id="{600DDB45-17A8-04DA-B642-30B9EF1C324E}"/>
              </a:ext>
            </a:extLst>
          </p:cNvPr>
          <p:cNvSpPr/>
          <p:nvPr/>
        </p:nvSpPr>
        <p:spPr>
          <a:xfrm>
            <a:off x="11612880" y="6473952"/>
            <a:ext cx="457200" cy="274320"/>
          </a:xfrm>
          <a:prstGeom prst="rect">
            <a:avLst/>
          </a:prstGeom>
          <a:noFill/>
          <a:ln/>
        </p:spPr>
        <p:txBody>
          <a:bodyPr wrap="square" rtlCol="0" anchor="ctr"/>
          <a:lstStyle/>
          <a:p>
            <a:pPr marL="0" indent="0" algn="r">
              <a:buNone/>
            </a:pPr>
            <a:r>
              <a:rPr lang="en-US" sz="1000" dirty="0">
                <a:solidFill>
                  <a:srgbClr val="BFD3D8"/>
                </a:solidFill>
                <a:latin typeface="Calibri" pitchFamily="34" charset="0"/>
                <a:ea typeface="Calibri" pitchFamily="34" charset="-122"/>
                <a:cs typeface="Calibri" pitchFamily="34" charset="-120"/>
              </a:rPr>
              <a:t>07</a:t>
            </a:r>
            <a:endParaRPr lang="en-US" sz="1000" dirty="0"/>
          </a:p>
        </p:txBody>
      </p:sp>
      <p:sp>
        <p:nvSpPr>
          <p:cNvPr id="30" name="Text 28">
            <a:extLst>
              <a:ext uri="{FF2B5EF4-FFF2-40B4-BE49-F238E27FC236}">
                <a16:creationId xmlns:a16="http://schemas.microsoft.com/office/drawing/2014/main" id="{5B50FBAA-8F95-E45C-3D35-871CA8E99C3E}"/>
              </a:ext>
            </a:extLst>
          </p:cNvPr>
          <p:cNvSpPr/>
          <p:nvPr/>
        </p:nvSpPr>
        <p:spPr>
          <a:xfrm>
            <a:off x="548640" y="6473952"/>
            <a:ext cx="2743200" cy="274320"/>
          </a:xfrm>
          <a:prstGeom prst="rect">
            <a:avLst/>
          </a:prstGeom>
          <a:noFill/>
          <a:ln/>
        </p:spPr>
        <p:txBody>
          <a:bodyPr wrap="square" rtlCol="0" anchor="ctr"/>
          <a:lstStyle/>
          <a:p>
            <a:pPr marL="0" indent="0">
              <a:buNone/>
            </a:pPr>
            <a:r>
              <a:rPr lang="en-US" sz="1000" dirty="0">
                <a:solidFill>
                  <a:srgbClr val="BFD3D8"/>
                </a:solidFill>
                <a:latin typeface="Calibri" pitchFamily="34" charset="0"/>
                <a:ea typeface="Calibri" pitchFamily="34" charset="-122"/>
                <a:cs typeface="Calibri" pitchFamily="34" charset="-120"/>
              </a:rPr>
              <a:t>MediNova-AI</a:t>
            </a:r>
            <a:endParaRPr lang="en-US" sz="1000" dirty="0"/>
          </a:p>
        </p:txBody>
      </p:sp>
      <p:sp>
        <p:nvSpPr>
          <p:cNvPr id="33" name="TextBox 32">
            <a:extLst>
              <a:ext uri="{FF2B5EF4-FFF2-40B4-BE49-F238E27FC236}">
                <a16:creationId xmlns:a16="http://schemas.microsoft.com/office/drawing/2014/main" id="{8D12AD18-4A0A-8AAF-9753-00755391C951}"/>
              </a:ext>
            </a:extLst>
          </p:cNvPr>
          <p:cNvSpPr txBox="1"/>
          <p:nvPr/>
        </p:nvSpPr>
        <p:spPr>
          <a:xfrm>
            <a:off x="853440" y="855727"/>
            <a:ext cx="8605520" cy="5509200"/>
          </a:xfrm>
          <a:prstGeom prst="rect">
            <a:avLst/>
          </a:prstGeom>
          <a:noFill/>
        </p:spPr>
        <p:txBody>
          <a:bodyPr wrap="square">
            <a:spAutoFit/>
          </a:bodyPr>
          <a:lstStyle/>
          <a:p>
            <a:r>
              <a:rPr lang="en-US" sz="2000" b="1" dirty="0">
                <a:solidFill>
                  <a:schemeClr val="bg1"/>
                </a:solidFill>
                <a:latin typeface="Times New Roman" panose="02020603050405020304" pitchFamily="18" charset="0"/>
                <a:cs typeface="Times New Roman" panose="02020603050405020304" pitchFamily="18" charset="0"/>
              </a:rPr>
              <a:t>Model Architecture:</a:t>
            </a:r>
            <a:r>
              <a:rPr lang="en-US" sz="2000" dirty="0">
                <a:solidFill>
                  <a:schemeClr val="bg1"/>
                </a:solidFill>
                <a:latin typeface="Times New Roman" panose="02020603050405020304" pitchFamily="18" charset="0"/>
                <a:cs typeface="Times New Roman" panose="02020603050405020304" pitchFamily="18" charset="0"/>
              </a:rPr>
              <a:t> </a:t>
            </a:r>
            <a:r>
              <a:rPr lang="en-US" dirty="0">
                <a:solidFill>
                  <a:schemeClr val="bg1"/>
                </a:solidFill>
              </a:rPr>
              <a:t>Custom Convolutional Neural Network (CNN)</a:t>
            </a:r>
          </a:p>
          <a:p>
            <a:endParaRPr lang="ar-SA" dirty="0">
              <a:solidFill>
                <a:schemeClr val="bg1"/>
              </a:solidFill>
            </a:endParaRPr>
          </a:p>
          <a:p>
            <a:r>
              <a:rPr lang="en-US" sz="2000" b="1" dirty="0">
                <a:solidFill>
                  <a:schemeClr val="bg1"/>
                </a:solidFill>
                <a:latin typeface="Times New Roman" panose="02020603050405020304" pitchFamily="18" charset="0"/>
                <a:cs typeface="Times New Roman" panose="02020603050405020304" pitchFamily="18" charset="0"/>
              </a:rPr>
              <a:t>Framework:</a:t>
            </a:r>
            <a:r>
              <a:rPr lang="en-US" sz="2000" dirty="0">
                <a:solidFill>
                  <a:schemeClr val="bg1"/>
                </a:solidFill>
                <a:latin typeface="Times New Roman" panose="02020603050405020304" pitchFamily="18" charset="0"/>
                <a:cs typeface="Times New Roman" panose="02020603050405020304" pitchFamily="18" charset="0"/>
              </a:rPr>
              <a:t> </a:t>
            </a:r>
            <a:r>
              <a:rPr lang="en-US" dirty="0">
                <a:solidFill>
                  <a:schemeClr val="bg1"/>
                </a:solidFill>
              </a:rPr>
              <a:t>TensorFlow </a:t>
            </a:r>
            <a:r>
              <a:rPr lang="en-US" b="1" dirty="0">
                <a:solidFill>
                  <a:schemeClr val="bg1"/>
                </a:solidFill>
              </a:rPr>
              <a:t>Dataset:</a:t>
            </a:r>
            <a:r>
              <a:rPr lang="en-US" dirty="0">
                <a:solidFill>
                  <a:schemeClr val="bg1"/>
                </a:solidFill>
              </a:rPr>
              <a:t> ISIC Dataset (25,000 </a:t>
            </a:r>
            <a:r>
              <a:rPr lang="en-US" dirty="0" err="1">
                <a:solidFill>
                  <a:schemeClr val="bg1"/>
                </a:solidFill>
              </a:rPr>
              <a:t>dermoscopic</a:t>
            </a:r>
            <a:r>
              <a:rPr lang="en-US" dirty="0">
                <a:solidFill>
                  <a:schemeClr val="bg1"/>
                </a:solidFill>
              </a:rPr>
              <a:t> images) </a:t>
            </a:r>
            <a:r>
              <a:rPr lang="en-US" b="1" dirty="0">
                <a:solidFill>
                  <a:schemeClr val="bg1"/>
                </a:solidFill>
              </a:rPr>
              <a:t>Input:</a:t>
            </a:r>
            <a:r>
              <a:rPr lang="en-US" dirty="0">
                <a:solidFill>
                  <a:schemeClr val="bg1"/>
                </a:solidFill>
              </a:rPr>
              <a:t> 28 × 28 RGB </a:t>
            </a:r>
            <a:r>
              <a:rPr lang="en-US" dirty="0" err="1">
                <a:solidFill>
                  <a:schemeClr val="bg1"/>
                </a:solidFill>
              </a:rPr>
              <a:t>dermoscopic</a:t>
            </a:r>
            <a:r>
              <a:rPr lang="en-US" dirty="0">
                <a:solidFill>
                  <a:schemeClr val="bg1"/>
                </a:solidFill>
              </a:rPr>
              <a:t> images </a:t>
            </a:r>
          </a:p>
          <a:p>
            <a:r>
              <a:rPr lang="en-US" sz="2000" b="1" dirty="0">
                <a:solidFill>
                  <a:schemeClr val="bg1"/>
                </a:solidFill>
                <a:latin typeface="Times New Roman" panose="02020603050405020304" pitchFamily="18" charset="0"/>
                <a:cs typeface="Times New Roman" panose="02020603050405020304" pitchFamily="18" charset="0"/>
              </a:rPr>
              <a:t>Accuracy:</a:t>
            </a:r>
            <a:r>
              <a:rPr lang="en-US" sz="2000" dirty="0">
                <a:solidFill>
                  <a:schemeClr val="bg1"/>
                </a:solidFill>
                <a:latin typeface="Times New Roman" panose="02020603050405020304" pitchFamily="18" charset="0"/>
                <a:cs typeface="Times New Roman" panose="02020603050405020304" pitchFamily="18" charset="0"/>
              </a:rPr>
              <a:t> </a:t>
            </a:r>
            <a:r>
              <a:rPr lang="en-US" b="1" dirty="0">
                <a:solidFill>
                  <a:schemeClr val="bg1"/>
                </a:solidFill>
              </a:rPr>
              <a:t>96.2%</a:t>
            </a:r>
          </a:p>
          <a:p>
            <a:r>
              <a:rPr lang="en-US" sz="2000" dirty="0">
                <a:solidFill>
                  <a:schemeClr val="bg1"/>
                </a:solidFill>
                <a:cs typeface="+mj-cs"/>
              </a:rPr>
              <a:t>Classification Classes (8):</a:t>
            </a:r>
            <a:endParaRPr lang="ar-SA" sz="2000" b="1" dirty="0">
              <a:solidFill>
                <a:schemeClr val="bg1"/>
              </a:solidFill>
              <a:cs typeface="+mj-cs"/>
            </a:endParaRPr>
          </a:p>
          <a:p>
            <a:pPr marL="742950" lvl="1" indent="-285750">
              <a:buFont typeface="Arial" panose="020B0604020202020204" pitchFamily="34" charset="0"/>
              <a:buChar char="•"/>
            </a:pPr>
            <a:r>
              <a:rPr lang="en-US" dirty="0">
                <a:solidFill>
                  <a:schemeClr val="bg1"/>
                </a:solidFill>
              </a:rPr>
              <a:t>AK (Actinic Keratosis) </a:t>
            </a:r>
          </a:p>
          <a:p>
            <a:pPr marL="742950" lvl="1" indent="-285750">
              <a:buFont typeface="Arial" panose="020B0604020202020204" pitchFamily="34" charset="0"/>
              <a:buChar char="•"/>
            </a:pPr>
            <a:r>
              <a:rPr lang="en-US" dirty="0">
                <a:solidFill>
                  <a:schemeClr val="bg1"/>
                </a:solidFill>
              </a:rPr>
              <a:t>BCC (Basal Cell Carcinoma) </a:t>
            </a:r>
          </a:p>
          <a:p>
            <a:pPr marL="742950" lvl="1" indent="-285750">
              <a:buFont typeface="Arial" panose="020B0604020202020204" pitchFamily="34" charset="0"/>
              <a:buChar char="•"/>
            </a:pPr>
            <a:r>
              <a:rPr lang="en-US" dirty="0">
                <a:solidFill>
                  <a:schemeClr val="bg1"/>
                </a:solidFill>
              </a:rPr>
              <a:t>BKL (Benign Keratosis) </a:t>
            </a:r>
          </a:p>
          <a:p>
            <a:pPr marL="742950" lvl="1" indent="-285750">
              <a:buFont typeface="Arial" panose="020B0604020202020204" pitchFamily="34" charset="0"/>
              <a:buChar char="•"/>
            </a:pPr>
            <a:r>
              <a:rPr lang="en-US" dirty="0">
                <a:solidFill>
                  <a:schemeClr val="bg1"/>
                </a:solidFill>
              </a:rPr>
              <a:t>DF (Dermatofibroma) </a:t>
            </a:r>
          </a:p>
          <a:p>
            <a:pPr marL="742950" lvl="1" indent="-285750">
              <a:buFont typeface="Arial" panose="020B0604020202020204" pitchFamily="34" charset="0"/>
              <a:buChar char="•"/>
            </a:pPr>
            <a:r>
              <a:rPr lang="en-US" dirty="0">
                <a:solidFill>
                  <a:schemeClr val="bg1"/>
                </a:solidFill>
              </a:rPr>
              <a:t>MEL (Melanoma) </a:t>
            </a:r>
          </a:p>
          <a:p>
            <a:pPr marL="742950" lvl="1" indent="-285750">
              <a:buFont typeface="Arial" panose="020B0604020202020204" pitchFamily="34" charset="0"/>
              <a:buChar char="•"/>
            </a:pPr>
            <a:r>
              <a:rPr lang="en-US" dirty="0">
                <a:solidFill>
                  <a:schemeClr val="bg1"/>
                </a:solidFill>
              </a:rPr>
              <a:t>NV (Melanocytic Nevus) </a:t>
            </a:r>
          </a:p>
          <a:p>
            <a:pPr marL="742950" lvl="1" indent="-285750">
              <a:buFont typeface="Arial" panose="020B0604020202020204" pitchFamily="34" charset="0"/>
              <a:buChar char="•"/>
            </a:pPr>
            <a:r>
              <a:rPr lang="en-US" dirty="0">
                <a:solidFill>
                  <a:schemeClr val="bg1"/>
                </a:solidFill>
              </a:rPr>
              <a:t>SCC (Squamous Cell Carcinoma) </a:t>
            </a:r>
          </a:p>
          <a:p>
            <a:pPr marL="742950" lvl="1" indent="-285750">
              <a:buFont typeface="Arial" panose="020B0604020202020204" pitchFamily="34" charset="0"/>
              <a:buChar char="•"/>
            </a:pPr>
            <a:r>
              <a:rPr lang="en-US" dirty="0">
                <a:solidFill>
                  <a:schemeClr val="bg1"/>
                </a:solidFill>
              </a:rPr>
              <a:t>VASC (Vascular Lesion) </a:t>
            </a:r>
          </a:p>
          <a:p>
            <a:r>
              <a:rPr lang="en-US" sz="2000" b="1" dirty="0">
                <a:solidFill>
                  <a:schemeClr val="bg1"/>
                </a:solidFill>
                <a:latin typeface="Times New Roman" panose="02020603050405020304" pitchFamily="18" charset="0"/>
                <a:cs typeface="Times New Roman" panose="02020603050405020304" pitchFamily="18" charset="0"/>
              </a:rPr>
              <a:t>Training Challenges:</a:t>
            </a:r>
            <a:r>
              <a:rPr lang="en-US" sz="2000" dirty="0">
                <a:solidFill>
                  <a:schemeClr val="bg1"/>
                </a:solidFill>
                <a:latin typeface="Times New Roman" panose="02020603050405020304" pitchFamily="18" charset="0"/>
                <a:cs typeface="Times New Roman" panose="02020603050405020304" pitchFamily="18" charset="0"/>
              </a:rPr>
              <a:t> </a:t>
            </a:r>
          </a:p>
          <a:p>
            <a:pPr marL="742950" lvl="1" indent="-285750">
              <a:buFont typeface="Arial" panose="020B0604020202020204" pitchFamily="34" charset="0"/>
              <a:buChar char="•"/>
            </a:pPr>
            <a:r>
              <a:rPr lang="en-US" dirty="0">
                <a:solidFill>
                  <a:schemeClr val="bg1"/>
                </a:solidFill>
              </a:rPr>
              <a:t>Class imbalance </a:t>
            </a:r>
          </a:p>
          <a:p>
            <a:pPr marL="742950" lvl="1" indent="-285750">
              <a:buFont typeface="Arial" panose="020B0604020202020204" pitchFamily="34" charset="0"/>
              <a:buChar char="•"/>
            </a:pPr>
            <a:r>
              <a:rPr lang="en-US" dirty="0">
                <a:solidFill>
                  <a:schemeClr val="bg1"/>
                </a:solidFill>
              </a:rPr>
              <a:t>Overfitting </a:t>
            </a:r>
          </a:p>
          <a:p>
            <a:pPr marL="742950" lvl="1" indent="-285750">
              <a:buFont typeface="Arial" panose="020B0604020202020204" pitchFamily="34" charset="0"/>
              <a:buChar char="•"/>
            </a:pPr>
            <a:r>
              <a:rPr lang="en-US" dirty="0">
                <a:solidFill>
                  <a:schemeClr val="bg1"/>
                </a:solidFill>
              </a:rPr>
              <a:t>Lighting variation in </a:t>
            </a:r>
            <a:r>
              <a:rPr lang="en-US" dirty="0" err="1">
                <a:solidFill>
                  <a:schemeClr val="bg1"/>
                </a:solidFill>
              </a:rPr>
              <a:t>dermoscopic</a:t>
            </a:r>
            <a:r>
              <a:rPr lang="en-US" dirty="0">
                <a:solidFill>
                  <a:schemeClr val="bg1"/>
                </a:solidFill>
              </a:rPr>
              <a:t> images</a:t>
            </a:r>
          </a:p>
          <a:p>
            <a:endParaRPr lang="en-US" dirty="0"/>
          </a:p>
        </p:txBody>
      </p:sp>
    </p:spTree>
    <p:extLst>
      <p:ext uri="{BB962C8B-B14F-4D97-AF65-F5344CB8AC3E}">
        <p14:creationId xmlns:p14="http://schemas.microsoft.com/office/powerpoint/2010/main" val="20553846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2E3C4E"/>
        </a:solidFill>
        <a:effectLst/>
      </p:bgPr>
    </p:bg>
    <p:spTree>
      <p:nvGrpSpPr>
        <p:cNvPr id="1" name="">
          <a:extLst>
            <a:ext uri="{FF2B5EF4-FFF2-40B4-BE49-F238E27FC236}">
              <a16:creationId xmlns:a16="http://schemas.microsoft.com/office/drawing/2014/main" id="{9C96239B-BBAC-857B-3E4F-E37A3D048548}"/>
            </a:ext>
          </a:extLst>
        </p:cNvPr>
        <p:cNvGrpSpPr/>
        <p:nvPr/>
      </p:nvGrpSpPr>
      <p:grpSpPr>
        <a:xfrm>
          <a:off x="0" y="0"/>
          <a:ext cx="0" cy="0"/>
          <a:chOff x="0" y="0"/>
          <a:chExt cx="0" cy="0"/>
        </a:xfrm>
      </p:grpSpPr>
      <p:sp>
        <p:nvSpPr>
          <p:cNvPr id="3" name="Text 1">
            <a:extLst>
              <a:ext uri="{FF2B5EF4-FFF2-40B4-BE49-F238E27FC236}">
                <a16:creationId xmlns:a16="http://schemas.microsoft.com/office/drawing/2014/main" id="{5E02E20E-44E7-6F58-2C8D-DF8A17E24A8F}"/>
              </a:ext>
            </a:extLst>
          </p:cNvPr>
          <p:cNvSpPr/>
          <p:nvPr/>
        </p:nvSpPr>
        <p:spPr>
          <a:xfrm>
            <a:off x="314960" y="147424"/>
            <a:ext cx="10789920" cy="685800"/>
          </a:xfrm>
          <a:prstGeom prst="rect">
            <a:avLst/>
          </a:prstGeom>
          <a:noFill/>
          <a:ln/>
        </p:spPr>
        <p:txBody>
          <a:bodyPr wrap="square" lIns="0" tIns="0" rIns="0" bIns="0" rtlCol="0" anchor="ctr"/>
          <a:lstStyle/>
          <a:p>
            <a:pPr algn="ctr"/>
            <a:r>
              <a:rPr lang="ar-SA" sz="4000" b="1" u="sng" dirty="0">
                <a:solidFill>
                  <a:srgbClr val="FFFFFF"/>
                </a:solidFill>
                <a:latin typeface="Calibri" pitchFamily="34" charset="0"/>
                <a:ea typeface="Calibri" pitchFamily="34" charset="-122"/>
                <a:cs typeface="+mj-cs"/>
              </a:rPr>
              <a:t> </a:t>
            </a:r>
            <a:r>
              <a:rPr lang="en-US" sz="4000" b="1" u="sng" dirty="0">
                <a:solidFill>
                  <a:srgbClr val="FFFFFF"/>
                </a:solidFill>
                <a:latin typeface="Calibri" pitchFamily="34" charset="0"/>
                <a:ea typeface="Calibri" pitchFamily="34" charset="-122"/>
                <a:cs typeface="+mj-cs"/>
              </a:rPr>
              <a:t>Sample of Skin Cancer dataset</a:t>
            </a:r>
            <a:endParaRPr lang="en-US" sz="4000" u="sng" dirty="0">
              <a:cs typeface="+mj-cs"/>
            </a:endParaRPr>
          </a:p>
        </p:txBody>
      </p:sp>
      <p:sp>
        <p:nvSpPr>
          <p:cNvPr id="29" name="Text 27">
            <a:extLst>
              <a:ext uri="{FF2B5EF4-FFF2-40B4-BE49-F238E27FC236}">
                <a16:creationId xmlns:a16="http://schemas.microsoft.com/office/drawing/2014/main" id="{26DE8231-61EF-3EEF-84E2-9ECD2D46DE52}"/>
              </a:ext>
            </a:extLst>
          </p:cNvPr>
          <p:cNvSpPr/>
          <p:nvPr/>
        </p:nvSpPr>
        <p:spPr>
          <a:xfrm>
            <a:off x="11612880" y="6473952"/>
            <a:ext cx="457200" cy="274320"/>
          </a:xfrm>
          <a:prstGeom prst="rect">
            <a:avLst/>
          </a:prstGeom>
          <a:noFill/>
          <a:ln/>
        </p:spPr>
        <p:txBody>
          <a:bodyPr wrap="square" rtlCol="0" anchor="ctr"/>
          <a:lstStyle/>
          <a:p>
            <a:pPr marL="0" indent="0" algn="r">
              <a:buNone/>
            </a:pPr>
            <a:r>
              <a:rPr lang="en-US" sz="1000" dirty="0">
                <a:solidFill>
                  <a:srgbClr val="BFD3D8"/>
                </a:solidFill>
                <a:latin typeface="Calibri" pitchFamily="34" charset="0"/>
                <a:ea typeface="Calibri" pitchFamily="34" charset="-122"/>
                <a:cs typeface="Calibri" pitchFamily="34" charset="-120"/>
              </a:rPr>
              <a:t>07</a:t>
            </a:r>
            <a:endParaRPr lang="en-US" sz="1000" dirty="0"/>
          </a:p>
        </p:txBody>
      </p:sp>
      <p:sp>
        <p:nvSpPr>
          <p:cNvPr id="30" name="Text 28">
            <a:extLst>
              <a:ext uri="{FF2B5EF4-FFF2-40B4-BE49-F238E27FC236}">
                <a16:creationId xmlns:a16="http://schemas.microsoft.com/office/drawing/2014/main" id="{1202B45E-4048-BD88-3E9A-AA4A4D002E73}"/>
              </a:ext>
            </a:extLst>
          </p:cNvPr>
          <p:cNvSpPr/>
          <p:nvPr/>
        </p:nvSpPr>
        <p:spPr>
          <a:xfrm>
            <a:off x="548640" y="6473952"/>
            <a:ext cx="2743200" cy="274320"/>
          </a:xfrm>
          <a:prstGeom prst="rect">
            <a:avLst/>
          </a:prstGeom>
          <a:noFill/>
          <a:ln/>
        </p:spPr>
        <p:txBody>
          <a:bodyPr wrap="square" rtlCol="0" anchor="ctr"/>
          <a:lstStyle/>
          <a:p>
            <a:pPr marL="0" indent="0">
              <a:buNone/>
            </a:pPr>
            <a:r>
              <a:rPr lang="en-US" sz="1000" dirty="0">
                <a:solidFill>
                  <a:srgbClr val="BFD3D8"/>
                </a:solidFill>
                <a:latin typeface="Calibri" pitchFamily="34" charset="0"/>
                <a:ea typeface="Calibri" pitchFamily="34" charset="-122"/>
                <a:cs typeface="Calibri" pitchFamily="34" charset="-120"/>
              </a:rPr>
              <a:t>MediNova-AI</a:t>
            </a:r>
            <a:endParaRPr lang="en-US" sz="1000" dirty="0"/>
          </a:p>
        </p:txBody>
      </p:sp>
      <p:pic>
        <p:nvPicPr>
          <p:cNvPr id="4" name="Picture 3">
            <a:extLst>
              <a:ext uri="{FF2B5EF4-FFF2-40B4-BE49-F238E27FC236}">
                <a16:creationId xmlns:a16="http://schemas.microsoft.com/office/drawing/2014/main" id="{83998DB0-C2F6-BA75-6485-16849925FD34}"/>
              </a:ext>
            </a:extLst>
          </p:cNvPr>
          <p:cNvPicPr>
            <a:picLocks noChangeAspect="1"/>
          </p:cNvPicPr>
          <p:nvPr/>
        </p:nvPicPr>
        <p:blipFill>
          <a:blip r:embed="rId3"/>
          <a:stretch>
            <a:fillRect/>
          </a:stretch>
        </p:blipFill>
        <p:spPr>
          <a:xfrm>
            <a:off x="2753360" y="1267892"/>
            <a:ext cx="6238239" cy="4322215"/>
          </a:xfrm>
          <a:prstGeom prst="rect">
            <a:avLst/>
          </a:prstGeom>
        </p:spPr>
      </p:pic>
    </p:spTree>
    <p:extLst>
      <p:ext uri="{BB962C8B-B14F-4D97-AF65-F5344CB8AC3E}">
        <p14:creationId xmlns:p14="http://schemas.microsoft.com/office/powerpoint/2010/main" val="16030598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2E3C4E"/>
        </a:solidFill>
        <a:effectLst/>
      </p:bgPr>
    </p:bg>
    <p:spTree>
      <p:nvGrpSpPr>
        <p:cNvPr id="1" name="">
          <a:extLst>
            <a:ext uri="{FF2B5EF4-FFF2-40B4-BE49-F238E27FC236}">
              <a16:creationId xmlns:a16="http://schemas.microsoft.com/office/drawing/2014/main" id="{0782BDBD-934D-76C2-FB2C-E2CE15B28BF0}"/>
            </a:ext>
          </a:extLst>
        </p:cNvPr>
        <p:cNvGrpSpPr/>
        <p:nvPr/>
      </p:nvGrpSpPr>
      <p:grpSpPr>
        <a:xfrm>
          <a:off x="0" y="0"/>
          <a:ext cx="0" cy="0"/>
          <a:chOff x="0" y="0"/>
          <a:chExt cx="0" cy="0"/>
        </a:xfrm>
      </p:grpSpPr>
      <p:sp>
        <p:nvSpPr>
          <p:cNvPr id="3" name="Text 1">
            <a:extLst>
              <a:ext uri="{FF2B5EF4-FFF2-40B4-BE49-F238E27FC236}">
                <a16:creationId xmlns:a16="http://schemas.microsoft.com/office/drawing/2014/main" id="{DDB09C47-DBEA-9B56-9965-BAA980F6C4C2}"/>
              </a:ext>
            </a:extLst>
          </p:cNvPr>
          <p:cNvSpPr/>
          <p:nvPr/>
        </p:nvSpPr>
        <p:spPr>
          <a:xfrm>
            <a:off x="314960" y="147424"/>
            <a:ext cx="10789920" cy="685800"/>
          </a:xfrm>
          <a:prstGeom prst="rect">
            <a:avLst/>
          </a:prstGeom>
          <a:noFill/>
          <a:ln/>
        </p:spPr>
        <p:txBody>
          <a:bodyPr wrap="square" lIns="0" tIns="0" rIns="0" bIns="0" rtlCol="0" anchor="ctr"/>
          <a:lstStyle/>
          <a:p>
            <a:pPr algn="ctr"/>
            <a:r>
              <a:rPr lang="ar-SA" sz="4000" b="1" u="sng" dirty="0">
                <a:solidFill>
                  <a:srgbClr val="FFFFFF"/>
                </a:solidFill>
                <a:latin typeface="Calibri" pitchFamily="34" charset="0"/>
                <a:ea typeface="Calibri" pitchFamily="34" charset="-122"/>
                <a:cs typeface="+mj-cs"/>
              </a:rPr>
              <a:t> </a:t>
            </a:r>
            <a:r>
              <a:rPr lang="en-US" sz="4000" b="1" u="sng" dirty="0">
                <a:solidFill>
                  <a:srgbClr val="FFFFFF"/>
                </a:solidFill>
                <a:latin typeface="Calibri" pitchFamily="34" charset="0"/>
                <a:ea typeface="Calibri" pitchFamily="34" charset="-122"/>
                <a:cs typeface="+mj-cs"/>
              </a:rPr>
              <a:t>Results of Skin Cancer model</a:t>
            </a:r>
            <a:endParaRPr lang="en-US" sz="4000" u="sng" dirty="0">
              <a:cs typeface="+mj-cs"/>
            </a:endParaRPr>
          </a:p>
        </p:txBody>
      </p:sp>
      <p:sp>
        <p:nvSpPr>
          <p:cNvPr id="29" name="Text 27">
            <a:extLst>
              <a:ext uri="{FF2B5EF4-FFF2-40B4-BE49-F238E27FC236}">
                <a16:creationId xmlns:a16="http://schemas.microsoft.com/office/drawing/2014/main" id="{F3BF3766-9EBB-7C71-5847-ABD8DC24EAB6}"/>
              </a:ext>
            </a:extLst>
          </p:cNvPr>
          <p:cNvSpPr/>
          <p:nvPr/>
        </p:nvSpPr>
        <p:spPr>
          <a:xfrm>
            <a:off x="11612880" y="6473952"/>
            <a:ext cx="457200" cy="274320"/>
          </a:xfrm>
          <a:prstGeom prst="rect">
            <a:avLst/>
          </a:prstGeom>
          <a:noFill/>
          <a:ln/>
        </p:spPr>
        <p:txBody>
          <a:bodyPr wrap="square" rtlCol="0" anchor="ctr"/>
          <a:lstStyle/>
          <a:p>
            <a:pPr marL="0" indent="0" algn="r">
              <a:buNone/>
            </a:pPr>
            <a:r>
              <a:rPr lang="en-US" sz="1000" dirty="0">
                <a:solidFill>
                  <a:srgbClr val="BFD3D8"/>
                </a:solidFill>
                <a:latin typeface="Calibri" pitchFamily="34" charset="0"/>
                <a:ea typeface="Calibri" pitchFamily="34" charset="-122"/>
                <a:cs typeface="Calibri" pitchFamily="34" charset="-120"/>
              </a:rPr>
              <a:t>07</a:t>
            </a:r>
            <a:endParaRPr lang="en-US" sz="1000" dirty="0"/>
          </a:p>
        </p:txBody>
      </p:sp>
      <p:sp>
        <p:nvSpPr>
          <p:cNvPr id="30" name="Text 28">
            <a:extLst>
              <a:ext uri="{FF2B5EF4-FFF2-40B4-BE49-F238E27FC236}">
                <a16:creationId xmlns:a16="http://schemas.microsoft.com/office/drawing/2014/main" id="{409E0995-60A5-07CB-E04B-E0125FA17EB4}"/>
              </a:ext>
            </a:extLst>
          </p:cNvPr>
          <p:cNvSpPr/>
          <p:nvPr/>
        </p:nvSpPr>
        <p:spPr>
          <a:xfrm>
            <a:off x="548640" y="6473952"/>
            <a:ext cx="2743200" cy="274320"/>
          </a:xfrm>
          <a:prstGeom prst="rect">
            <a:avLst/>
          </a:prstGeom>
          <a:noFill/>
          <a:ln/>
        </p:spPr>
        <p:txBody>
          <a:bodyPr wrap="square" rtlCol="0" anchor="ctr"/>
          <a:lstStyle/>
          <a:p>
            <a:pPr marL="0" indent="0">
              <a:buNone/>
            </a:pPr>
            <a:r>
              <a:rPr lang="en-US" sz="1000" dirty="0">
                <a:solidFill>
                  <a:srgbClr val="BFD3D8"/>
                </a:solidFill>
                <a:latin typeface="Calibri" pitchFamily="34" charset="0"/>
                <a:ea typeface="Calibri" pitchFamily="34" charset="-122"/>
                <a:cs typeface="Calibri" pitchFamily="34" charset="-120"/>
              </a:rPr>
              <a:t>MediNova-AI</a:t>
            </a:r>
            <a:endParaRPr lang="en-US" sz="1000" dirty="0"/>
          </a:p>
        </p:txBody>
      </p:sp>
      <p:pic>
        <p:nvPicPr>
          <p:cNvPr id="9" name="Picture 8">
            <a:extLst>
              <a:ext uri="{FF2B5EF4-FFF2-40B4-BE49-F238E27FC236}">
                <a16:creationId xmlns:a16="http://schemas.microsoft.com/office/drawing/2014/main" id="{B7AA7710-3C2D-4544-1DF0-47614C031DDD}"/>
              </a:ext>
            </a:extLst>
          </p:cNvPr>
          <p:cNvPicPr>
            <a:picLocks noChangeAspect="1"/>
          </p:cNvPicPr>
          <p:nvPr/>
        </p:nvPicPr>
        <p:blipFill>
          <a:blip r:embed="rId3"/>
          <a:stretch>
            <a:fillRect/>
          </a:stretch>
        </p:blipFill>
        <p:spPr>
          <a:xfrm>
            <a:off x="1625600" y="1071560"/>
            <a:ext cx="9204960" cy="4958719"/>
          </a:xfrm>
          <a:prstGeom prst="rect">
            <a:avLst/>
          </a:prstGeom>
        </p:spPr>
      </p:pic>
    </p:spTree>
    <p:extLst>
      <p:ext uri="{BB962C8B-B14F-4D97-AF65-F5344CB8AC3E}">
        <p14:creationId xmlns:p14="http://schemas.microsoft.com/office/powerpoint/2010/main" val="10565073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2E3C4E"/>
        </a:solidFill>
        <a:effectLst/>
      </p:bgPr>
    </p:bg>
    <p:spTree>
      <p:nvGrpSpPr>
        <p:cNvPr id="1" name="">
          <a:extLst>
            <a:ext uri="{FF2B5EF4-FFF2-40B4-BE49-F238E27FC236}">
              <a16:creationId xmlns:a16="http://schemas.microsoft.com/office/drawing/2014/main" id="{7A3C845D-591B-283D-6C73-B8D577A802DA}"/>
            </a:ext>
          </a:extLst>
        </p:cNvPr>
        <p:cNvGrpSpPr/>
        <p:nvPr/>
      </p:nvGrpSpPr>
      <p:grpSpPr>
        <a:xfrm>
          <a:off x="0" y="0"/>
          <a:ext cx="0" cy="0"/>
          <a:chOff x="0" y="0"/>
          <a:chExt cx="0" cy="0"/>
        </a:xfrm>
      </p:grpSpPr>
      <p:sp>
        <p:nvSpPr>
          <p:cNvPr id="3" name="Text 1">
            <a:extLst>
              <a:ext uri="{FF2B5EF4-FFF2-40B4-BE49-F238E27FC236}">
                <a16:creationId xmlns:a16="http://schemas.microsoft.com/office/drawing/2014/main" id="{BF40516B-B890-C88D-6297-C845197FBC96}"/>
              </a:ext>
            </a:extLst>
          </p:cNvPr>
          <p:cNvSpPr/>
          <p:nvPr/>
        </p:nvSpPr>
        <p:spPr>
          <a:xfrm>
            <a:off x="314960" y="147424"/>
            <a:ext cx="10789920" cy="685800"/>
          </a:xfrm>
          <a:prstGeom prst="rect">
            <a:avLst/>
          </a:prstGeom>
          <a:noFill/>
          <a:ln/>
        </p:spPr>
        <p:txBody>
          <a:bodyPr wrap="square" lIns="0" tIns="0" rIns="0" bIns="0" rtlCol="0" anchor="ctr"/>
          <a:lstStyle/>
          <a:p>
            <a:pPr algn="ctr"/>
            <a:endParaRPr lang="en-US" sz="4000" u="sng" dirty="0">
              <a:cs typeface="+mj-cs"/>
            </a:endParaRPr>
          </a:p>
        </p:txBody>
      </p:sp>
      <p:sp>
        <p:nvSpPr>
          <p:cNvPr id="29" name="Text 27">
            <a:extLst>
              <a:ext uri="{FF2B5EF4-FFF2-40B4-BE49-F238E27FC236}">
                <a16:creationId xmlns:a16="http://schemas.microsoft.com/office/drawing/2014/main" id="{95A00B0D-269A-EC41-233C-C9DBF1218B70}"/>
              </a:ext>
            </a:extLst>
          </p:cNvPr>
          <p:cNvSpPr/>
          <p:nvPr/>
        </p:nvSpPr>
        <p:spPr>
          <a:xfrm>
            <a:off x="11612880" y="6473952"/>
            <a:ext cx="457200" cy="274320"/>
          </a:xfrm>
          <a:prstGeom prst="rect">
            <a:avLst/>
          </a:prstGeom>
          <a:noFill/>
          <a:ln/>
        </p:spPr>
        <p:txBody>
          <a:bodyPr wrap="square" rtlCol="0" anchor="ctr"/>
          <a:lstStyle/>
          <a:p>
            <a:pPr marL="0" indent="0" algn="r">
              <a:buNone/>
            </a:pPr>
            <a:r>
              <a:rPr lang="en-US" sz="1000" dirty="0">
                <a:solidFill>
                  <a:srgbClr val="BFD3D8"/>
                </a:solidFill>
                <a:latin typeface="Calibri" pitchFamily="34" charset="0"/>
                <a:ea typeface="Calibri" pitchFamily="34" charset="-122"/>
                <a:cs typeface="Calibri" pitchFamily="34" charset="-120"/>
              </a:rPr>
              <a:t>07</a:t>
            </a:r>
            <a:endParaRPr lang="en-US" sz="1000" dirty="0"/>
          </a:p>
        </p:txBody>
      </p:sp>
      <p:sp>
        <p:nvSpPr>
          <p:cNvPr id="30" name="Text 28">
            <a:extLst>
              <a:ext uri="{FF2B5EF4-FFF2-40B4-BE49-F238E27FC236}">
                <a16:creationId xmlns:a16="http://schemas.microsoft.com/office/drawing/2014/main" id="{7B091615-0F3E-F28C-D233-0B22AD4DCDE3}"/>
              </a:ext>
            </a:extLst>
          </p:cNvPr>
          <p:cNvSpPr/>
          <p:nvPr/>
        </p:nvSpPr>
        <p:spPr>
          <a:xfrm>
            <a:off x="548640" y="6473952"/>
            <a:ext cx="2743200" cy="274320"/>
          </a:xfrm>
          <a:prstGeom prst="rect">
            <a:avLst/>
          </a:prstGeom>
          <a:noFill/>
          <a:ln/>
        </p:spPr>
        <p:txBody>
          <a:bodyPr wrap="square" rtlCol="0" anchor="ctr"/>
          <a:lstStyle/>
          <a:p>
            <a:pPr marL="0" indent="0">
              <a:buNone/>
            </a:pPr>
            <a:r>
              <a:rPr lang="en-US" sz="1000" dirty="0">
                <a:solidFill>
                  <a:srgbClr val="BFD3D8"/>
                </a:solidFill>
                <a:latin typeface="Calibri" pitchFamily="34" charset="0"/>
                <a:ea typeface="Calibri" pitchFamily="34" charset="-122"/>
                <a:cs typeface="Calibri" pitchFamily="34" charset="-120"/>
              </a:rPr>
              <a:t>MediNova-AI</a:t>
            </a:r>
            <a:endParaRPr lang="en-US" sz="1000" dirty="0"/>
          </a:p>
        </p:txBody>
      </p:sp>
      <p:pic>
        <p:nvPicPr>
          <p:cNvPr id="6" name="Picture 5">
            <a:extLst>
              <a:ext uri="{FF2B5EF4-FFF2-40B4-BE49-F238E27FC236}">
                <a16:creationId xmlns:a16="http://schemas.microsoft.com/office/drawing/2014/main" id="{ABB43536-A564-251D-747A-879A155ABEA4}"/>
              </a:ext>
            </a:extLst>
          </p:cNvPr>
          <p:cNvPicPr>
            <a:picLocks noChangeAspect="1"/>
          </p:cNvPicPr>
          <p:nvPr/>
        </p:nvPicPr>
        <p:blipFill>
          <a:blip r:embed="rId3"/>
          <a:stretch>
            <a:fillRect/>
          </a:stretch>
        </p:blipFill>
        <p:spPr>
          <a:xfrm>
            <a:off x="314960" y="0"/>
            <a:ext cx="11562080" cy="6858000"/>
          </a:xfrm>
          <a:prstGeom prst="rect">
            <a:avLst/>
          </a:prstGeom>
        </p:spPr>
      </p:pic>
    </p:spTree>
    <p:extLst>
      <p:ext uri="{BB962C8B-B14F-4D97-AF65-F5344CB8AC3E}">
        <p14:creationId xmlns:p14="http://schemas.microsoft.com/office/powerpoint/2010/main" val="39652076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2E3C4E"/>
        </a:solidFill>
        <a:effectLst/>
      </p:bgPr>
    </p:bg>
    <p:spTree>
      <p:nvGrpSpPr>
        <p:cNvPr id="1" name="">
          <a:extLst>
            <a:ext uri="{FF2B5EF4-FFF2-40B4-BE49-F238E27FC236}">
              <a16:creationId xmlns:a16="http://schemas.microsoft.com/office/drawing/2014/main" id="{2C98C2A5-B4A8-7558-0BFB-D8760C26967B}"/>
            </a:ext>
          </a:extLst>
        </p:cNvPr>
        <p:cNvGrpSpPr/>
        <p:nvPr/>
      </p:nvGrpSpPr>
      <p:grpSpPr>
        <a:xfrm>
          <a:off x="0" y="0"/>
          <a:ext cx="0" cy="0"/>
          <a:chOff x="0" y="0"/>
          <a:chExt cx="0" cy="0"/>
        </a:xfrm>
      </p:grpSpPr>
      <p:sp>
        <p:nvSpPr>
          <p:cNvPr id="3" name="Text 1">
            <a:extLst>
              <a:ext uri="{FF2B5EF4-FFF2-40B4-BE49-F238E27FC236}">
                <a16:creationId xmlns:a16="http://schemas.microsoft.com/office/drawing/2014/main" id="{EA33A6FD-4217-0DFF-BF0B-C37E952B723B}"/>
              </a:ext>
            </a:extLst>
          </p:cNvPr>
          <p:cNvSpPr/>
          <p:nvPr/>
        </p:nvSpPr>
        <p:spPr>
          <a:xfrm>
            <a:off x="314960" y="147424"/>
            <a:ext cx="10789920" cy="685800"/>
          </a:xfrm>
          <a:prstGeom prst="rect">
            <a:avLst/>
          </a:prstGeom>
          <a:noFill/>
          <a:ln/>
        </p:spPr>
        <p:txBody>
          <a:bodyPr wrap="square" lIns="0" tIns="0" rIns="0" bIns="0" rtlCol="0" anchor="ctr"/>
          <a:lstStyle/>
          <a:p>
            <a:pPr algn="ctr"/>
            <a:endParaRPr lang="en-US" sz="4000" u="sng" dirty="0">
              <a:cs typeface="+mj-cs"/>
            </a:endParaRPr>
          </a:p>
        </p:txBody>
      </p:sp>
      <p:sp>
        <p:nvSpPr>
          <p:cNvPr id="29" name="Text 27">
            <a:extLst>
              <a:ext uri="{FF2B5EF4-FFF2-40B4-BE49-F238E27FC236}">
                <a16:creationId xmlns:a16="http://schemas.microsoft.com/office/drawing/2014/main" id="{4DF19300-F66C-9FCF-6241-4DED6DCA1253}"/>
              </a:ext>
            </a:extLst>
          </p:cNvPr>
          <p:cNvSpPr/>
          <p:nvPr/>
        </p:nvSpPr>
        <p:spPr>
          <a:xfrm>
            <a:off x="11612880" y="6473952"/>
            <a:ext cx="457200" cy="274320"/>
          </a:xfrm>
          <a:prstGeom prst="rect">
            <a:avLst/>
          </a:prstGeom>
          <a:noFill/>
          <a:ln/>
        </p:spPr>
        <p:txBody>
          <a:bodyPr wrap="square" rtlCol="0" anchor="ctr"/>
          <a:lstStyle/>
          <a:p>
            <a:pPr marL="0" indent="0" algn="r">
              <a:buNone/>
            </a:pPr>
            <a:r>
              <a:rPr lang="en-US" sz="1000" dirty="0">
                <a:solidFill>
                  <a:srgbClr val="BFD3D8"/>
                </a:solidFill>
                <a:latin typeface="Calibri" pitchFamily="34" charset="0"/>
                <a:ea typeface="Calibri" pitchFamily="34" charset="-122"/>
                <a:cs typeface="Calibri" pitchFamily="34" charset="-120"/>
              </a:rPr>
              <a:t>07</a:t>
            </a:r>
            <a:endParaRPr lang="en-US" sz="1000" dirty="0"/>
          </a:p>
        </p:txBody>
      </p:sp>
      <p:sp>
        <p:nvSpPr>
          <p:cNvPr id="30" name="Text 28">
            <a:extLst>
              <a:ext uri="{FF2B5EF4-FFF2-40B4-BE49-F238E27FC236}">
                <a16:creationId xmlns:a16="http://schemas.microsoft.com/office/drawing/2014/main" id="{10262292-66CF-28EB-BE57-E7877059D085}"/>
              </a:ext>
            </a:extLst>
          </p:cNvPr>
          <p:cNvSpPr/>
          <p:nvPr/>
        </p:nvSpPr>
        <p:spPr>
          <a:xfrm>
            <a:off x="548640" y="6473952"/>
            <a:ext cx="2743200" cy="274320"/>
          </a:xfrm>
          <a:prstGeom prst="rect">
            <a:avLst/>
          </a:prstGeom>
          <a:noFill/>
          <a:ln/>
        </p:spPr>
        <p:txBody>
          <a:bodyPr wrap="square" rtlCol="0" anchor="ctr"/>
          <a:lstStyle/>
          <a:p>
            <a:pPr marL="0" indent="0">
              <a:buNone/>
            </a:pPr>
            <a:r>
              <a:rPr lang="en-US" sz="1000" dirty="0">
                <a:solidFill>
                  <a:srgbClr val="BFD3D8"/>
                </a:solidFill>
                <a:latin typeface="Calibri" pitchFamily="34" charset="0"/>
                <a:ea typeface="Calibri" pitchFamily="34" charset="-122"/>
                <a:cs typeface="Calibri" pitchFamily="34" charset="-120"/>
              </a:rPr>
              <a:t>MediNova-AI</a:t>
            </a:r>
            <a:endParaRPr lang="en-US" sz="1000" dirty="0"/>
          </a:p>
        </p:txBody>
      </p:sp>
      <p:sp>
        <p:nvSpPr>
          <p:cNvPr id="4" name="TextBox 3">
            <a:extLst>
              <a:ext uri="{FF2B5EF4-FFF2-40B4-BE49-F238E27FC236}">
                <a16:creationId xmlns:a16="http://schemas.microsoft.com/office/drawing/2014/main" id="{2B39FD20-169D-A0B9-F2B3-F4A3B10AC735}"/>
              </a:ext>
            </a:extLst>
          </p:cNvPr>
          <p:cNvSpPr txBox="1"/>
          <p:nvPr/>
        </p:nvSpPr>
        <p:spPr>
          <a:xfrm>
            <a:off x="3048000" y="305658"/>
            <a:ext cx="6096000" cy="584775"/>
          </a:xfrm>
          <a:prstGeom prst="rect">
            <a:avLst/>
          </a:prstGeom>
          <a:noFill/>
        </p:spPr>
        <p:txBody>
          <a:bodyPr wrap="square">
            <a:spAutoFit/>
          </a:bodyPr>
          <a:lstStyle/>
          <a:p>
            <a:r>
              <a:rPr lang="en-US" sz="3200" u="sng" dirty="0">
                <a:solidFill>
                  <a:schemeClr val="bg1"/>
                </a:solidFill>
                <a:latin typeface="Times New Roman" panose="02020603050405020304" pitchFamily="18" charset="0"/>
                <a:cs typeface="Times New Roman" panose="02020603050405020304" pitchFamily="18" charset="0"/>
              </a:rPr>
              <a:t>Breast Cancer Classification Model</a:t>
            </a:r>
          </a:p>
        </p:txBody>
      </p:sp>
      <p:sp>
        <p:nvSpPr>
          <p:cNvPr id="8" name="TextBox 7">
            <a:extLst>
              <a:ext uri="{FF2B5EF4-FFF2-40B4-BE49-F238E27FC236}">
                <a16:creationId xmlns:a16="http://schemas.microsoft.com/office/drawing/2014/main" id="{AFF1A5E6-A156-C508-2A4E-65807032745B}"/>
              </a:ext>
            </a:extLst>
          </p:cNvPr>
          <p:cNvSpPr txBox="1"/>
          <p:nvPr/>
        </p:nvSpPr>
        <p:spPr>
          <a:xfrm>
            <a:off x="1341120" y="1089898"/>
            <a:ext cx="8097520" cy="5047536"/>
          </a:xfrm>
          <a:prstGeom prst="rect">
            <a:avLst/>
          </a:prstGeom>
          <a:noFill/>
        </p:spPr>
        <p:txBody>
          <a:bodyPr wrap="square">
            <a:spAutoFit/>
          </a:bodyPr>
          <a:lstStyle/>
          <a:p>
            <a:r>
              <a:rPr lang="en-US" sz="2400" b="1" dirty="0">
                <a:solidFill>
                  <a:schemeClr val="bg1"/>
                </a:solidFill>
                <a:latin typeface="Times New Roman" panose="02020603050405020304" pitchFamily="18" charset="0"/>
                <a:cs typeface="Times New Roman" panose="02020603050405020304" pitchFamily="18" charset="0"/>
              </a:rPr>
              <a:t>Model Architecture:</a:t>
            </a:r>
            <a:r>
              <a:rPr lang="en-US" sz="2400" dirty="0">
                <a:solidFill>
                  <a:schemeClr val="bg1"/>
                </a:solidFill>
                <a:latin typeface="Times New Roman" panose="02020603050405020304" pitchFamily="18" charset="0"/>
                <a:cs typeface="Times New Roman" panose="02020603050405020304" pitchFamily="18" charset="0"/>
              </a:rPr>
              <a:t> </a:t>
            </a:r>
            <a:r>
              <a:rPr lang="en-US" sz="2000" dirty="0">
                <a:solidFill>
                  <a:schemeClr val="bg1"/>
                </a:solidFill>
              </a:rPr>
              <a:t>U-Net + MobileNetV2</a:t>
            </a:r>
          </a:p>
          <a:p>
            <a:endParaRPr lang="en-US" sz="2000" dirty="0">
              <a:solidFill>
                <a:schemeClr val="bg1"/>
              </a:solidFill>
            </a:endParaRPr>
          </a:p>
          <a:p>
            <a:r>
              <a:rPr lang="en-US" sz="2400" b="1" dirty="0">
                <a:solidFill>
                  <a:schemeClr val="bg1"/>
                </a:solidFill>
                <a:latin typeface="Times New Roman" panose="02020603050405020304" pitchFamily="18" charset="0"/>
                <a:cs typeface="Times New Roman" panose="02020603050405020304" pitchFamily="18" charset="0"/>
              </a:rPr>
              <a:t> Framework: </a:t>
            </a:r>
            <a:r>
              <a:rPr lang="en-US" sz="2000" dirty="0">
                <a:solidFill>
                  <a:schemeClr val="bg1"/>
                </a:solidFill>
              </a:rPr>
              <a:t>TensorFlow </a:t>
            </a:r>
            <a:r>
              <a:rPr lang="en-US" sz="2000" b="1" dirty="0">
                <a:solidFill>
                  <a:schemeClr val="bg1"/>
                </a:solidFill>
              </a:rPr>
              <a:t>Dataset:</a:t>
            </a:r>
            <a:r>
              <a:rPr lang="en-US" sz="2000" dirty="0">
                <a:solidFill>
                  <a:schemeClr val="bg1"/>
                </a:solidFill>
              </a:rPr>
              <a:t> BUSI </a:t>
            </a:r>
          </a:p>
          <a:p>
            <a:r>
              <a:rPr lang="en-US" sz="2400" dirty="0">
                <a:solidFill>
                  <a:schemeClr val="bg1"/>
                </a:solidFill>
                <a:latin typeface="Times New Roman" panose="02020603050405020304" pitchFamily="18" charset="0"/>
                <a:cs typeface="Times New Roman" panose="02020603050405020304" pitchFamily="18" charset="0"/>
              </a:rPr>
              <a:t>Dataset :</a:t>
            </a:r>
            <a:r>
              <a:rPr lang="en-US" sz="2000" dirty="0">
                <a:solidFill>
                  <a:schemeClr val="bg1"/>
                </a:solidFill>
              </a:rPr>
              <a:t>(15,000 ultrasound images) </a:t>
            </a:r>
            <a:r>
              <a:rPr lang="en-US" sz="2000" b="1" dirty="0">
                <a:solidFill>
                  <a:schemeClr val="bg1"/>
                </a:solidFill>
              </a:rPr>
              <a:t>Input:</a:t>
            </a:r>
            <a:r>
              <a:rPr lang="en-US" sz="2000" dirty="0">
                <a:solidFill>
                  <a:schemeClr val="bg1"/>
                </a:solidFill>
              </a:rPr>
              <a:t> Breast ultrasound images </a:t>
            </a:r>
          </a:p>
          <a:p>
            <a:r>
              <a:rPr lang="en-US" sz="2400" b="1" dirty="0">
                <a:solidFill>
                  <a:schemeClr val="bg1"/>
                </a:solidFill>
                <a:latin typeface="Times New Roman" panose="02020603050405020304" pitchFamily="18" charset="0"/>
                <a:cs typeface="Times New Roman" panose="02020603050405020304" pitchFamily="18" charset="0"/>
              </a:rPr>
              <a:t>Accuracy:</a:t>
            </a:r>
            <a:r>
              <a:rPr lang="en-US" sz="2400" dirty="0">
                <a:solidFill>
                  <a:schemeClr val="bg1"/>
                </a:solidFill>
                <a:latin typeface="Times New Roman" panose="02020603050405020304" pitchFamily="18" charset="0"/>
                <a:cs typeface="Times New Roman" panose="02020603050405020304" pitchFamily="18" charset="0"/>
              </a:rPr>
              <a:t> </a:t>
            </a:r>
            <a:r>
              <a:rPr lang="en-US" sz="2000" b="1" dirty="0">
                <a:solidFill>
                  <a:schemeClr val="bg1"/>
                </a:solidFill>
              </a:rPr>
              <a:t>96.7%</a:t>
            </a:r>
            <a:r>
              <a:rPr lang="en-US" sz="2000" dirty="0">
                <a:solidFill>
                  <a:schemeClr val="bg1"/>
                </a:solidFill>
              </a:rPr>
              <a:t> </a:t>
            </a:r>
          </a:p>
          <a:p>
            <a:endParaRPr lang="en-US" sz="2000" dirty="0">
              <a:solidFill>
                <a:schemeClr val="bg1"/>
              </a:solidFill>
            </a:endParaRPr>
          </a:p>
          <a:p>
            <a:r>
              <a:rPr lang="en-US" sz="2400" b="1" dirty="0">
                <a:solidFill>
                  <a:schemeClr val="bg1"/>
                </a:solidFill>
                <a:latin typeface="Times New Roman" panose="02020603050405020304" pitchFamily="18" charset="0"/>
                <a:cs typeface="Times New Roman" panose="02020603050405020304" pitchFamily="18" charset="0"/>
              </a:rPr>
              <a:t>Classification Classes (3):</a:t>
            </a:r>
            <a:r>
              <a:rPr lang="en-US" sz="2400" dirty="0">
                <a:solidFill>
                  <a:schemeClr val="bg1"/>
                </a:solidFill>
                <a:latin typeface="Times New Roman" panose="02020603050405020304" pitchFamily="18" charset="0"/>
                <a:cs typeface="Times New Roman" panose="02020603050405020304" pitchFamily="18" charset="0"/>
              </a:rPr>
              <a:t> </a:t>
            </a:r>
          </a:p>
          <a:p>
            <a:pPr marL="800100" lvl="1" indent="-342900">
              <a:buFont typeface="Arial" panose="020B0604020202020204" pitchFamily="34" charset="0"/>
              <a:buChar char="•"/>
            </a:pPr>
            <a:r>
              <a:rPr lang="en-US" sz="2000" dirty="0">
                <a:solidFill>
                  <a:schemeClr val="bg1"/>
                </a:solidFill>
              </a:rPr>
              <a:t>Benign </a:t>
            </a:r>
          </a:p>
          <a:p>
            <a:pPr marL="800100" lvl="1" indent="-342900">
              <a:buFont typeface="Arial" panose="020B0604020202020204" pitchFamily="34" charset="0"/>
              <a:buChar char="•"/>
            </a:pPr>
            <a:r>
              <a:rPr lang="en-US" sz="2000" dirty="0">
                <a:solidFill>
                  <a:schemeClr val="bg1"/>
                </a:solidFill>
              </a:rPr>
              <a:t>Malignant </a:t>
            </a:r>
          </a:p>
          <a:p>
            <a:pPr marL="800100" lvl="1" indent="-342900">
              <a:buFont typeface="Arial" panose="020B0604020202020204" pitchFamily="34" charset="0"/>
              <a:buChar char="•"/>
            </a:pPr>
            <a:r>
              <a:rPr lang="en-US" sz="2000" dirty="0">
                <a:solidFill>
                  <a:schemeClr val="bg1"/>
                </a:solidFill>
              </a:rPr>
              <a:t>Normal</a:t>
            </a:r>
          </a:p>
          <a:p>
            <a:pPr marL="800100" lvl="1" indent="-342900">
              <a:buFont typeface="Arial" panose="020B0604020202020204" pitchFamily="34" charset="0"/>
              <a:buChar char="•"/>
            </a:pPr>
            <a:endParaRPr lang="en-US" sz="2000" dirty="0">
              <a:solidFill>
                <a:schemeClr val="bg1"/>
              </a:solidFill>
            </a:endParaRPr>
          </a:p>
          <a:p>
            <a:r>
              <a:rPr lang="en-US" sz="2400" b="1" dirty="0">
                <a:solidFill>
                  <a:schemeClr val="bg1"/>
                </a:solidFill>
                <a:latin typeface="Times New Roman" panose="02020603050405020304" pitchFamily="18" charset="0"/>
                <a:cs typeface="Times New Roman" panose="02020603050405020304" pitchFamily="18" charset="0"/>
              </a:rPr>
              <a:t>Training Challenges:</a:t>
            </a:r>
            <a:endParaRPr lang="en-US" sz="2400" dirty="0">
              <a:solidFill>
                <a:schemeClr val="bg1"/>
              </a:solidFill>
              <a:latin typeface="Times New Roman" panose="02020603050405020304" pitchFamily="18" charset="0"/>
              <a:cs typeface="Times New Roman" panose="02020603050405020304" pitchFamily="18" charset="0"/>
            </a:endParaRPr>
          </a:p>
          <a:p>
            <a:r>
              <a:rPr lang="en-US" sz="2000" dirty="0">
                <a:solidFill>
                  <a:schemeClr val="bg1"/>
                </a:solidFill>
              </a:rPr>
              <a:t>Accurate mask annotation </a:t>
            </a:r>
          </a:p>
          <a:p>
            <a:r>
              <a:rPr lang="en-US" sz="2000" dirty="0">
                <a:solidFill>
                  <a:schemeClr val="bg1"/>
                </a:solidFill>
              </a:rPr>
              <a:t>Speckle noise in ultrasound images</a:t>
            </a:r>
          </a:p>
          <a:p>
            <a:endParaRPr lang="en-US" dirty="0"/>
          </a:p>
        </p:txBody>
      </p:sp>
    </p:spTree>
    <p:extLst>
      <p:ext uri="{BB962C8B-B14F-4D97-AF65-F5344CB8AC3E}">
        <p14:creationId xmlns:p14="http://schemas.microsoft.com/office/powerpoint/2010/main" val="32184439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2E3C4E"/>
        </a:solidFill>
        <a:effectLst/>
      </p:bgPr>
    </p:bg>
    <p:spTree>
      <p:nvGrpSpPr>
        <p:cNvPr id="1" name="">
          <a:extLst>
            <a:ext uri="{FF2B5EF4-FFF2-40B4-BE49-F238E27FC236}">
              <a16:creationId xmlns:a16="http://schemas.microsoft.com/office/drawing/2014/main" id="{5762FFCA-1FB9-A091-5237-515FCF1149A5}"/>
            </a:ext>
          </a:extLst>
        </p:cNvPr>
        <p:cNvGrpSpPr/>
        <p:nvPr/>
      </p:nvGrpSpPr>
      <p:grpSpPr>
        <a:xfrm>
          <a:off x="0" y="0"/>
          <a:ext cx="0" cy="0"/>
          <a:chOff x="0" y="0"/>
          <a:chExt cx="0" cy="0"/>
        </a:xfrm>
      </p:grpSpPr>
      <p:sp>
        <p:nvSpPr>
          <p:cNvPr id="3" name="Text 1">
            <a:extLst>
              <a:ext uri="{FF2B5EF4-FFF2-40B4-BE49-F238E27FC236}">
                <a16:creationId xmlns:a16="http://schemas.microsoft.com/office/drawing/2014/main" id="{CB1272ED-BAA0-1A4D-F4F4-19BD83B98F13}"/>
              </a:ext>
            </a:extLst>
          </p:cNvPr>
          <p:cNvSpPr/>
          <p:nvPr/>
        </p:nvSpPr>
        <p:spPr>
          <a:xfrm>
            <a:off x="314960" y="147424"/>
            <a:ext cx="10789920" cy="685800"/>
          </a:xfrm>
          <a:prstGeom prst="rect">
            <a:avLst/>
          </a:prstGeom>
          <a:noFill/>
          <a:ln/>
        </p:spPr>
        <p:txBody>
          <a:bodyPr wrap="square" lIns="0" tIns="0" rIns="0" bIns="0" rtlCol="0" anchor="ctr"/>
          <a:lstStyle/>
          <a:p>
            <a:pPr algn="ctr"/>
            <a:endParaRPr lang="en-US" sz="4000" u="sng" dirty="0">
              <a:cs typeface="+mj-cs"/>
            </a:endParaRPr>
          </a:p>
        </p:txBody>
      </p:sp>
      <p:sp>
        <p:nvSpPr>
          <p:cNvPr id="29" name="Text 27">
            <a:extLst>
              <a:ext uri="{FF2B5EF4-FFF2-40B4-BE49-F238E27FC236}">
                <a16:creationId xmlns:a16="http://schemas.microsoft.com/office/drawing/2014/main" id="{D8595025-0793-CAEF-F930-821912AB90E4}"/>
              </a:ext>
            </a:extLst>
          </p:cNvPr>
          <p:cNvSpPr/>
          <p:nvPr/>
        </p:nvSpPr>
        <p:spPr>
          <a:xfrm>
            <a:off x="11612880" y="6473952"/>
            <a:ext cx="457200" cy="274320"/>
          </a:xfrm>
          <a:prstGeom prst="rect">
            <a:avLst/>
          </a:prstGeom>
          <a:noFill/>
          <a:ln/>
        </p:spPr>
        <p:txBody>
          <a:bodyPr wrap="square" rtlCol="0" anchor="ctr"/>
          <a:lstStyle/>
          <a:p>
            <a:pPr marL="0" indent="0" algn="r">
              <a:buNone/>
            </a:pPr>
            <a:r>
              <a:rPr lang="en-US" sz="1000" dirty="0">
                <a:solidFill>
                  <a:srgbClr val="BFD3D8"/>
                </a:solidFill>
                <a:latin typeface="Calibri" pitchFamily="34" charset="0"/>
                <a:ea typeface="Calibri" pitchFamily="34" charset="-122"/>
                <a:cs typeface="Calibri" pitchFamily="34" charset="-120"/>
              </a:rPr>
              <a:t>07</a:t>
            </a:r>
            <a:endParaRPr lang="en-US" sz="1000" dirty="0"/>
          </a:p>
        </p:txBody>
      </p:sp>
      <p:sp>
        <p:nvSpPr>
          <p:cNvPr id="30" name="Text 28">
            <a:extLst>
              <a:ext uri="{FF2B5EF4-FFF2-40B4-BE49-F238E27FC236}">
                <a16:creationId xmlns:a16="http://schemas.microsoft.com/office/drawing/2014/main" id="{9AB9B323-DF17-CFDF-BD80-EBA3FAC5A7EE}"/>
              </a:ext>
            </a:extLst>
          </p:cNvPr>
          <p:cNvSpPr/>
          <p:nvPr/>
        </p:nvSpPr>
        <p:spPr>
          <a:xfrm>
            <a:off x="548640" y="6473952"/>
            <a:ext cx="2743200" cy="274320"/>
          </a:xfrm>
          <a:prstGeom prst="rect">
            <a:avLst/>
          </a:prstGeom>
          <a:noFill/>
          <a:ln/>
        </p:spPr>
        <p:txBody>
          <a:bodyPr wrap="square" rtlCol="0" anchor="ctr"/>
          <a:lstStyle/>
          <a:p>
            <a:pPr marL="0" indent="0">
              <a:buNone/>
            </a:pPr>
            <a:r>
              <a:rPr lang="en-US" sz="1000" dirty="0">
                <a:solidFill>
                  <a:srgbClr val="BFD3D8"/>
                </a:solidFill>
                <a:latin typeface="Calibri" pitchFamily="34" charset="0"/>
                <a:ea typeface="Calibri" pitchFamily="34" charset="-122"/>
                <a:cs typeface="Calibri" pitchFamily="34" charset="-120"/>
              </a:rPr>
              <a:t>MediNova-AI</a:t>
            </a:r>
            <a:endParaRPr lang="en-US" sz="1000" dirty="0"/>
          </a:p>
        </p:txBody>
      </p:sp>
      <p:sp>
        <p:nvSpPr>
          <p:cNvPr id="4" name="TextBox 3">
            <a:extLst>
              <a:ext uri="{FF2B5EF4-FFF2-40B4-BE49-F238E27FC236}">
                <a16:creationId xmlns:a16="http://schemas.microsoft.com/office/drawing/2014/main" id="{21330BCF-0795-F918-0057-34064E219998}"/>
              </a:ext>
            </a:extLst>
          </p:cNvPr>
          <p:cNvSpPr txBox="1"/>
          <p:nvPr/>
        </p:nvSpPr>
        <p:spPr>
          <a:xfrm>
            <a:off x="3048000" y="305658"/>
            <a:ext cx="6096000" cy="584775"/>
          </a:xfrm>
          <a:prstGeom prst="rect">
            <a:avLst/>
          </a:prstGeom>
          <a:noFill/>
        </p:spPr>
        <p:txBody>
          <a:bodyPr wrap="square">
            <a:spAutoFit/>
          </a:bodyPr>
          <a:lstStyle/>
          <a:p>
            <a:r>
              <a:rPr lang="en-US" sz="3200" u="sng" dirty="0">
                <a:solidFill>
                  <a:schemeClr val="bg1"/>
                </a:solidFill>
                <a:latin typeface="Times New Roman" panose="02020603050405020304" pitchFamily="18" charset="0"/>
                <a:cs typeface="Times New Roman" panose="02020603050405020304" pitchFamily="18" charset="0"/>
              </a:rPr>
              <a:t>Sample of Breast Cancer Dataset</a:t>
            </a:r>
          </a:p>
        </p:txBody>
      </p:sp>
      <p:pic>
        <p:nvPicPr>
          <p:cNvPr id="7" name="Picture 6">
            <a:extLst>
              <a:ext uri="{FF2B5EF4-FFF2-40B4-BE49-F238E27FC236}">
                <a16:creationId xmlns:a16="http://schemas.microsoft.com/office/drawing/2014/main" id="{972E4BFF-5267-72AC-4B57-6A84028D0A26}"/>
              </a:ext>
            </a:extLst>
          </p:cNvPr>
          <p:cNvPicPr>
            <a:picLocks noChangeAspect="1"/>
          </p:cNvPicPr>
          <p:nvPr/>
        </p:nvPicPr>
        <p:blipFill>
          <a:blip r:embed="rId3"/>
          <a:stretch>
            <a:fillRect/>
          </a:stretch>
        </p:blipFill>
        <p:spPr>
          <a:xfrm>
            <a:off x="3283902" y="1177175"/>
            <a:ext cx="4852035" cy="4895616"/>
          </a:xfrm>
          <a:prstGeom prst="rect">
            <a:avLst/>
          </a:prstGeom>
        </p:spPr>
      </p:pic>
    </p:spTree>
    <p:extLst>
      <p:ext uri="{BB962C8B-B14F-4D97-AF65-F5344CB8AC3E}">
        <p14:creationId xmlns:p14="http://schemas.microsoft.com/office/powerpoint/2010/main" val="24566080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2E3C4E"/>
        </a:solidFill>
        <a:effectLst/>
      </p:bgPr>
    </p:bg>
    <p:spTree>
      <p:nvGrpSpPr>
        <p:cNvPr id="1" name="">
          <a:extLst>
            <a:ext uri="{FF2B5EF4-FFF2-40B4-BE49-F238E27FC236}">
              <a16:creationId xmlns:a16="http://schemas.microsoft.com/office/drawing/2014/main" id="{F6165BFF-0CDC-47BB-EB94-FC5FFCDD2312}"/>
            </a:ext>
          </a:extLst>
        </p:cNvPr>
        <p:cNvGrpSpPr/>
        <p:nvPr/>
      </p:nvGrpSpPr>
      <p:grpSpPr>
        <a:xfrm>
          <a:off x="0" y="0"/>
          <a:ext cx="0" cy="0"/>
          <a:chOff x="0" y="0"/>
          <a:chExt cx="0" cy="0"/>
        </a:xfrm>
      </p:grpSpPr>
      <p:sp>
        <p:nvSpPr>
          <p:cNvPr id="3" name="Text 1">
            <a:extLst>
              <a:ext uri="{FF2B5EF4-FFF2-40B4-BE49-F238E27FC236}">
                <a16:creationId xmlns:a16="http://schemas.microsoft.com/office/drawing/2014/main" id="{9B07F180-1F61-7A8F-B555-BADC8C29778B}"/>
              </a:ext>
            </a:extLst>
          </p:cNvPr>
          <p:cNvSpPr/>
          <p:nvPr/>
        </p:nvSpPr>
        <p:spPr>
          <a:xfrm>
            <a:off x="314960" y="147424"/>
            <a:ext cx="10789920" cy="685800"/>
          </a:xfrm>
          <a:prstGeom prst="rect">
            <a:avLst/>
          </a:prstGeom>
          <a:noFill/>
          <a:ln/>
        </p:spPr>
        <p:txBody>
          <a:bodyPr wrap="square" lIns="0" tIns="0" rIns="0" bIns="0" rtlCol="0" anchor="ctr"/>
          <a:lstStyle/>
          <a:p>
            <a:pPr algn="ctr"/>
            <a:endParaRPr lang="en-US" sz="4000" u="sng" dirty="0">
              <a:cs typeface="+mj-cs"/>
            </a:endParaRPr>
          </a:p>
        </p:txBody>
      </p:sp>
      <p:sp>
        <p:nvSpPr>
          <p:cNvPr id="29" name="Text 27">
            <a:extLst>
              <a:ext uri="{FF2B5EF4-FFF2-40B4-BE49-F238E27FC236}">
                <a16:creationId xmlns:a16="http://schemas.microsoft.com/office/drawing/2014/main" id="{B53CCAB3-0DC4-C019-AD89-433C0E303BF4}"/>
              </a:ext>
            </a:extLst>
          </p:cNvPr>
          <p:cNvSpPr/>
          <p:nvPr/>
        </p:nvSpPr>
        <p:spPr>
          <a:xfrm>
            <a:off x="11612880" y="6473952"/>
            <a:ext cx="457200" cy="274320"/>
          </a:xfrm>
          <a:prstGeom prst="rect">
            <a:avLst/>
          </a:prstGeom>
          <a:noFill/>
          <a:ln/>
        </p:spPr>
        <p:txBody>
          <a:bodyPr wrap="square" rtlCol="0" anchor="ctr"/>
          <a:lstStyle/>
          <a:p>
            <a:pPr marL="0" indent="0" algn="r">
              <a:buNone/>
            </a:pPr>
            <a:r>
              <a:rPr lang="en-US" sz="1000" dirty="0">
                <a:solidFill>
                  <a:srgbClr val="BFD3D8"/>
                </a:solidFill>
                <a:latin typeface="Calibri" pitchFamily="34" charset="0"/>
                <a:ea typeface="Calibri" pitchFamily="34" charset="-122"/>
                <a:cs typeface="Calibri" pitchFamily="34" charset="-120"/>
              </a:rPr>
              <a:t>07</a:t>
            </a:r>
            <a:endParaRPr lang="en-US" sz="1000" dirty="0"/>
          </a:p>
        </p:txBody>
      </p:sp>
      <p:sp>
        <p:nvSpPr>
          <p:cNvPr id="30" name="Text 28">
            <a:extLst>
              <a:ext uri="{FF2B5EF4-FFF2-40B4-BE49-F238E27FC236}">
                <a16:creationId xmlns:a16="http://schemas.microsoft.com/office/drawing/2014/main" id="{C4EA9933-451C-84A8-C85A-A8B49B63F6E0}"/>
              </a:ext>
            </a:extLst>
          </p:cNvPr>
          <p:cNvSpPr/>
          <p:nvPr/>
        </p:nvSpPr>
        <p:spPr>
          <a:xfrm>
            <a:off x="548640" y="6473952"/>
            <a:ext cx="2743200" cy="274320"/>
          </a:xfrm>
          <a:prstGeom prst="rect">
            <a:avLst/>
          </a:prstGeom>
          <a:noFill/>
          <a:ln/>
        </p:spPr>
        <p:txBody>
          <a:bodyPr wrap="square" rtlCol="0" anchor="ctr"/>
          <a:lstStyle/>
          <a:p>
            <a:pPr marL="0" indent="0">
              <a:buNone/>
            </a:pPr>
            <a:r>
              <a:rPr lang="en-US" sz="1000" dirty="0">
                <a:solidFill>
                  <a:srgbClr val="BFD3D8"/>
                </a:solidFill>
                <a:latin typeface="Calibri" pitchFamily="34" charset="0"/>
                <a:ea typeface="Calibri" pitchFamily="34" charset="-122"/>
                <a:cs typeface="Calibri" pitchFamily="34" charset="-120"/>
              </a:rPr>
              <a:t>MediNova-AI</a:t>
            </a:r>
            <a:endParaRPr lang="en-US" sz="1000" dirty="0"/>
          </a:p>
        </p:txBody>
      </p:sp>
      <p:sp>
        <p:nvSpPr>
          <p:cNvPr id="4" name="TextBox 3">
            <a:extLst>
              <a:ext uri="{FF2B5EF4-FFF2-40B4-BE49-F238E27FC236}">
                <a16:creationId xmlns:a16="http://schemas.microsoft.com/office/drawing/2014/main" id="{DDD12536-D363-2E19-48B7-5A02BD76C2ED}"/>
              </a:ext>
            </a:extLst>
          </p:cNvPr>
          <p:cNvSpPr txBox="1"/>
          <p:nvPr/>
        </p:nvSpPr>
        <p:spPr>
          <a:xfrm>
            <a:off x="3048000" y="305658"/>
            <a:ext cx="6096000" cy="584775"/>
          </a:xfrm>
          <a:prstGeom prst="rect">
            <a:avLst/>
          </a:prstGeom>
          <a:noFill/>
        </p:spPr>
        <p:txBody>
          <a:bodyPr wrap="square">
            <a:spAutoFit/>
          </a:bodyPr>
          <a:lstStyle/>
          <a:p>
            <a:r>
              <a:rPr lang="en-US" sz="3200" u="sng" dirty="0">
                <a:solidFill>
                  <a:schemeClr val="bg1"/>
                </a:solidFill>
                <a:latin typeface="Times New Roman" panose="02020603050405020304" pitchFamily="18" charset="0"/>
                <a:cs typeface="Times New Roman" panose="02020603050405020304" pitchFamily="18" charset="0"/>
              </a:rPr>
              <a:t>Results of Breast Cancer Dataset</a:t>
            </a:r>
          </a:p>
        </p:txBody>
      </p:sp>
      <p:pic>
        <p:nvPicPr>
          <p:cNvPr id="8" name="Picture 7">
            <a:extLst>
              <a:ext uri="{FF2B5EF4-FFF2-40B4-BE49-F238E27FC236}">
                <a16:creationId xmlns:a16="http://schemas.microsoft.com/office/drawing/2014/main" id="{13BA24FC-B074-B892-EB24-723A7BB4F1A2}"/>
              </a:ext>
            </a:extLst>
          </p:cNvPr>
          <p:cNvPicPr>
            <a:picLocks noChangeAspect="1"/>
          </p:cNvPicPr>
          <p:nvPr/>
        </p:nvPicPr>
        <p:blipFill>
          <a:blip r:embed="rId3"/>
          <a:stretch>
            <a:fillRect/>
          </a:stretch>
        </p:blipFill>
        <p:spPr>
          <a:xfrm>
            <a:off x="1280160" y="890433"/>
            <a:ext cx="8808720" cy="5724525"/>
          </a:xfrm>
          <a:prstGeom prst="rect">
            <a:avLst/>
          </a:prstGeom>
        </p:spPr>
      </p:pic>
    </p:spTree>
    <p:extLst>
      <p:ext uri="{BB962C8B-B14F-4D97-AF65-F5344CB8AC3E}">
        <p14:creationId xmlns:p14="http://schemas.microsoft.com/office/powerpoint/2010/main" val="74596315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2E3C4E"/>
        </a:solidFill>
        <a:effectLst/>
      </p:bgPr>
    </p:bg>
    <p:spTree>
      <p:nvGrpSpPr>
        <p:cNvPr id="1" name="">
          <a:extLst>
            <a:ext uri="{FF2B5EF4-FFF2-40B4-BE49-F238E27FC236}">
              <a16:creationId xmlns:a16="http://schemas.microsoft.com/office/drawing/2014/main" id="{FA9E771C-F004-E3A5-B6FE-AD511C2A3C38}"/>
            </a:ext>
          </a:extLst>
        </p:cNvPr>
        <p:cNvGrpSpPr/>
        <p:nvPr/>
      </p:nvGrpSpPr>
      <p:grpSpPr>
        <a:xfrm>
          <a:off x="0" y="0"/>
          <a:ext cx="0" cy="0"/>
          <a:chOff x="0" y="0"/>
          <a:chExt cx="0" cy="0"/>
        </a:xfrm>
      </p:grpSpPr>
      <p:sp>
        <p:nvSpPr>
          <p:cNvPr id="3" name="Text 1">
            <a:extLst>
              <a:ext uri="{FF2B5EF4-FFF2-40B4-BE49-F238E27FC236}">
                <a16:creationId xmlns:a16="http://schemas.microsoft.com/office/drawing/2014/main" id="{5AA96CFA-65AD-5A82-DF7A-FF6BFE58C7CC}"/>
              </a:ext>
            </a:extLst>
          </p:cNvPr>
          <p:cNvSpPr/>
          <p:nvPr/>
        </p:nvSpPr>
        <p:spPr>
          <a:xfrm>
            <a:off x="314960" y="147424"/>
            <a:ext cx="10789920" cy="685800"/>
          </a:xfrm>
          <a:prstGeom prst="rect">
            <a:avLst/>
          </a:prstGeom>
          <a:noFill/>
          <a:ln/>
        </p:spPr>
        <p:txBody>
          <a:bodyPr wrap="square" lIns="0" tIns="0" rIns="0" bIns="0" rtlCol="0" anchor="ctr"/>
          <a:lstStyle/>
          <a:p>
            <a:pPr algn="ctr"/>
            <a:endParaRPr lang="en-US" sz="4000" u="sng" dirty="0">
              <a:cs typeface="+mj-cs"/>
            </a:endParaRPr>
          </a:p>
        </p:txBody>
      </p:sp>
      <p:sp>
        <p:nvSpPr>
          <p:cNvPr id="29" name="Text 27">
            <a:extLst>
              <a:ext uri="{FF2B5EF4-FFF2-40B4-BE49-F238E27FC236}">
                <a16:creationId xmlns:a16="http://schemas.microsoft.com/office/drawing/2014/main" id="{5510E58B-121B-253E-105F-8634981BCE80}"/>
              </a:ext>
            </a:extLst>
          </p:cNvPr>
          <p:cNvSpPr/>
          <p:nvPr/>
        </p:nvSpPr>
        <p:spPr>
          <a:xfrm>
            <a:off x="11612880" y="6473952"/>
            <a:ext cx="457200" cy="274320"/>
          </a:xfrm>
          <a:prstGeom prst="rect">
            <a:avLst/>
          </a:prstGeom>
          <a:noFill/>
          <a:ln/>
        </p:spPr>
        <p:txBody>
          <a:bodyPr wrap="square" rtlCol="0" anchor="ctr"/>
          <a:lstStyle/>
          <a:p>
            <a:pPr marL="0" indent="0" algn="r">
              <a:buNone/>
            </a:pPr>
            <a:r>
              <a:rPr lang="en-US" sz="1000" dirty="0">
                <a:solidFill>
                  <a:srgbClr val="BFD3D8"/>
                </a:solidFill>
                <a:latin typeface="Calibri" pitchFamily="34" charset="0"/>
                <a:ea typeface="Calibri" pitchFamily="34" charset="-122"/>
                <a:cs typeface="Calibri" pitchFamily="34" charset="-120"/>
              </a:rPr>
              <a:t>07</a:t>
            </a:r>
            <a:endParaRPr lang="en-US" sz="1000" dirty="0"/>
          </a:p>
        </p:txBody>
      </p:sp>
      <p:sp>
        <p:nvSpPr>
          <p:cNvPr id="30" name="Text 28">
            <a:extLst>
              <a:ext uri="{FF2B5EF4-FFF2-40B4-BE49-F238E27FC236}">
                <a16:creationId xmlns:a16="http://schemas.microsoft.com/office/drawing/2014/main" id="{BD815669-39BA-AD31-5E2B-A19C8F1280AF}"/>
              </a:ext>
            </a:extLst>
          </p:cNvPr>
          <p:cNvSpPr/>
          <p:nvPr/>
        </p:nvSpPr>
        <p:spPr>
          <a:xfrm>
            <a:off x="548640" y="6473952"/>
            <a:ext cx="2743200" cy="274320"/>
          </a:xfrm>
          <a:prstGeom prst="rect">
            <a:avLst/>
          </a:prstGeom>
          <a:noFill/>
          <a:ln/>
        </p:spPr>
        <p:txBody>
          <a:bodyPr wrap="square" rtlCol="0" anchor="ctr"/>
          <a:lstStyle/>
          <a:p>
            <a:pPr marL="0" indent="0">
              <a:buNone/>
            </a:pPr>
            <a:r>
              <a:rPr lang="en-US" sz="1000" dirty="0">
                <a:solidFill>
                  <a:srgbClr val="BFD3D8"/>
                </a:solidFill>
                <a:latin typeface="Calibri" pitchFamily="34" charset="0"/>
                <a:ea typeface="Calibri" pitchFamily="34" charset="-122"/>
                <a:cs typeface="Calibri" pitchFamily="34" charset="-120"/>
              </a:rPr>
              <a:t>MediNova-AI</a:t>
            </a:r>
            <a:endParaRPr lang="en-US" sz="1000" dirty="0"/>
          </a:p>
        </p:txBody>
      </p:sp>
      <p:sp>
        <p:nvSpPr>
          <p:cNvPr id="4" name="TextBox 3">
            <a:extLst>
              <a:ext uri="{FF2B5EF4-FFF2-40B4-BE49-F238E27FC236}">
                <a16:creationId xmlns:a16="http://schemas.microsoft.com/office/drawing/2014/main" id="{76C13E86-0C35-D420-88D7-09447C48D83E}"/>
              </a:ext>
            </a:extLst>
          </p:cNvPr>
          <p:cNvSpPr txBox="1"/>
          <p:nvPr/>
        </p:nvSpPr>
        <p:spPr>
          <a:xfrm>
            <a:off x="2600960" y="305658"/>
            <a:ext cx="7934960" cy="646331"/>
          </a:xfrm>
          <a:prstGeom prst="rect">
            <a:avLst/>
          </a:prstGeom>
          <a:noFill/>
        </p:spPr>
        <p:txBody>
          <a:bodyPr wrap="square">
            <a:spAutoFit/>
          </a:bodyPr>
          <a:lstStyle/>
          <a:p>
            <a:r>
              <a:rPr lang="en-US" sz="3600" u="sng" dirty="0">
                <a:solidFill>
                  <a:schemeClr val="bg1"/>
                </a:solidFill>
              </a:rPr>
              <a:t>Eye Disease Classification Model</a:t>
            </a:r>
            <a:endParaRPr lang="en-US" sz="3600" u="sng" dirty="0">
              <a:solidFill>
                <a:schemeClr val="bg1"/>
              </a:solidFill>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D72E2948-F2DC-FCCE-5F27-A095883AA2D2}"/>
              </a:ext>
            </a:extLst>
          </p:cNvPr>
          <p:cNvSpPr txBox="1"/>
          <p:nvPr/>
        </p:nvSpPr>
        <p:spPr>
          <a:xfrm>
            <a:off x="1056640" y="1210973"/>
            <a:ext cx="9072880" cy="5262979"/>
          </a:xfrm>
          <a:prstGeom prst="rect">
            <a:avLst/>
          </a:prstGeom>
          <a:noFill/>
        </p:spPr>
        <p:txBody>
          <a:bodyPr wrap="square" rtlCol="0">
            <a:spAutoFit/>
          </a:bodyPr>
          <a:lstStyle/>
          <a:p>
            <a:r>
              <a:rPr lang="en-US" sz="2000" b="1" dirty="0">
                <a:solidFill>
                  <a:schemeClr val="bg1"/>
                </a:solidFill>
                <a:latin typeface="Times New Roman" panose="02020603050405020304" pitchFamily="18" charset="0"/>
                <a:cs typeface="Times New Roman" panose="02020603050405020304" pitchFamily="18" charset="0"/>
              </a:rPr>
              <a:t>Model Architecture:</a:t>
            </a:r>
            <a:r>
              <a:rPr lang="en-US" sz="2000" dirty="0">
                <a:solidFill>
                  <a:schemeClr val="bg1"/>
                </a:solidFill>
                <a:latin typeface="Times New Roman" panose="02020603050405020304" pitchFamily="18" charset="0"/>
                <a:cs typeface="Times New Roman" panose="02020603050405020304" pitchFamily="18" charset="0"/>
              </a:rPr>
              <a:t> </a:t>
            </a:r>
          </a:p>
          <a:p>
            <a:r>
              <a:rPr lang="en-US" dirty="0">
                <a:solidFill>
                  <a:schemeClr val="bg1"/>
                </a:solidFill>
              </a:rPr>
              <a:t>EfficientNetB3</a:t>
            </a:r>
          </a:p>
          <a:p>
            <a:r>
              <a:rPr lang="en-US" sz="2000" b="1" dirty="0">
                <a:solidFill>
                  <a:schemeClr val="bg1"/>
                </a:solidFill>
                <a:latin typeface="Times New Roman" panose="02020603050405020304" pitchFamily="18" charset="0"/>
                <a:cs typeface="Times New Roman" panose="02020603050405020304" pitchFamily="18" charset="0"/>
              </a:rPr>
              <a:t> Framework: </a:t>
            </a:r>
            <a:r>
              <a:rPr lang="en-US" dirty="0">
                <a:solidFill>
                  <a:schemeClr val="bg1"/>
                </a:solidFill>
              </a:rPr>
              <a:t>TensorFlow </a:t>
            </a:r>
          </a:p>
          <a:p>
            <a:r>
              <a:rPr lang="en-US" sz="2000" b="1" dirty="0">
                <a:solidFill>
                  <a:schemeClr val="bg1"/>
                </a:solidFill>
                <a:latin typeface="Times New Roman" panose="02020603050405020304" pitchFamily="18" charset="0"/>
                <a:cs typeface="Times New Roman" panose="02020603050405020304" pitchFamily="18" charset="0"/>
              </a:rPr>
              <a:t>Dataset:</a:t>
            </a:r>
            <a:r>
              <a:rPr lang="en-US" sz="2000" dirty="0">
                <a:solidFill>
                  <a:schemeClr val="bg1"/>
                </a:solidFill>
                <a:latin typeface="Times New Roman" panose="02020603050405020304" pitchFamily="18" charset="0"/>
                <a:cs typeface="Times New Roman" panose="02020603050405020304" pitchFamily="18" charset="0"/>
              </a:rPr>
              <a:t> </a:t>
            </a:r>
            <a:r>
              <a:rPr lang="en-US" dirty="0">
                <a:solidFill>
                  <a:schemeClr val="bg1"/>
                </a:solidFill>
              </a:rPr>
              <a:t>Fundus Dataset (15,000 retinal fundus images) </a:t>
            </a:r>
            <a:r>
              <a:rPr lang="en-US" b="1" dirty="0">
                <a:solidFill>
                  <a:schemeClr val="bg1"/>
                </a:solidFill>
              </a:rPr>
              <a:t>Input:</a:t>
            </a:r>
            <a:r>
              <a:rPr lang="en-US" dirty="0">
                <a:solidFill>
                  <a:schemeClr val="bg1"/>
                </a:solidFill>
              </a:rPr>
              <a:t> 224 × 224 fundus images </a:t>
            </a:r>
          </a:p>
          <a:p>
            <a:r>
              <a:rPr lang="en-US" sz="2000" b="1" dirty="0">
                <a:solidFill>
                  <a:schemeClr val="bg1"/>
                </a:solidFill>
                <a:latin typeface="Times New Roman" panose="02020603050405020304" pitchFamily="18" charset="0"/>
                <a:cs typeface="Times New Roman" panose="02020603050405020304" pitchFamily="18" charset="0"/>
              </a:rPr>
              <a:t>Accuracy:</a:t>
            </a:r>
            <a:r>
              <a:rPr lang="en-US" sz="2000" dirty="0">
                <a:solidFill>
                  <a:schemeClr val="bg1"/>
                </a:solidFill>
                <a:latin typeface="Times New Roman" panose="02020603050405020304" pitchFamily="18" charset="0"/>
                <a:cs typeface="Times New Roman" panose="02020603050405020304" pitchFamily="18" charset="0"/>
              </a:rPr>
              <a:t> </a:t>
            </a:r>
            <a:r>
              <a:rPr lang="en-US" b="1" dirty="0">
                <a:solidFill>
                  <a:schemeClr val="bg1"/>
                </a:solidFill>
              </a:rPr>
              <a:t>97.8%</a:t>
            </a:r>
          </a:p>
          <a:p>
            <a:r>
              <a:rPr lang="en-US" sz="2000" dirty="0">
                <a:solidFill>
                  <a:schemeClr val="bg1"/>
                </a:solidFill>
                <a:latin typeface="Times New Roman" panose="02020603050405020304" pitchFamily="18" charset="0"/>
                <a:cs typeface="Times New Roman" panose="02020603050405020304" pitchFamily="18" charset="0"/>
              </a:rPr>
              <a:t> </a:t>
            </a:r>
            <a:r>
              <a:rPr lang="en-US" sz="2000" b="1" dirty="0">
                <a:solidFill>
                  <a:schemeClr val="bg1"/>
                </a:solidFill>
                <a:latin typeface="Times New Roman" panose="02020603050405020304" pitchFamily="18" charset="0"/>
                <a:cs typeface="Times New Roman" panose="02020603050405020304" pitchFamily="18" charset="0"/>
              </a:rPr>
              <a:t>Classification Classes (4):</a:t>
            </a:r>
            <a:r>
              <a:rPr lang="en-US" dirty="0">
                <a:solidFill>
                  <a:schemeClr val="bg1"/>
                </a:solidFill>
              </a:rPr>
              <a:t> </a:t>
            </a:r>
          </a:p>
          <a:p>
            <a:pPr marL="742950" lvl="1" indent="-285750">
              <a:buFont typeface="Arial" panose="020B0604020202020204" pitchFamily="34" charset="0"/>
              <a:buChar char="•"/>
            </a:pPr>
            <a:r>
              <a:rPr lang="en-US" dirty="0">
                <a:solidFill>
                  <a:schemeClr val="bg1"/>
                </a:solidFill>
              </a:rPr>
              <a:t>Cataract </a:t>
            </a:r>
          </a:p>
          <a:p>
            <a:pPr marL="742950" lvl="1" indent="-285750">
              <a:buFont typeface="Arial" panose="020B0604020202020204" pitchFamily="34" charset="0"/>
              <a:buChar char="•"/>
            </a:pPr>
            <a:r>
              <a:rPr lang="en-US" dirty="0">
                <a:solidFill>
                  <a:schemeClr val="bg1"/>
                </a:solidFill>
              </a:rPr>
              <a:t>Diabetic Retinopathy (DR) </a:t>
            </a:r>
          </a:p>
          <a:p>
            <a:pPr marL="742950" lvl="1" indent="-285750">
              <a:buFont typeface="Arial" panose="020B0604020202020204" pitchFamily="34" charset="0"/>
              <a:buChar char="•"/>
            </a:pPr>
            <a:r>
              <a:rPr lang="en-US" dirty="0">
                <a:solidFill>
                  <a:schemeClr val="bg1"/>
                </a:solidFill>
              </a:rPr>
              <a:t>Glaucoma </a:t>
            </a:r>
          </a:p>
          <a:p>
            <a:pPr marL="742950" lvl="1" indent="-285750">
              <a:buFont typeface="Arial" panose="020B0604020202020204" pitchFamily="34" charset="0"/>
              <a:buChar char="•"/>
            </a:pPr>
            <a:r>
              <a:rPr lang="en-US" dirty="0">
                <a:solidFill>
                  <a:schemeClr val="bg1"/>
                </a:solidFill>
              </a:rPr>
              <a:t>Normal </a:t>
            </a:r>
          </a:p>
          <a:p>
            <a:r>
              <a:rPr lang="en-US" sz="2000" b="1" dirty="0">
                <a:solidFill>
                  <a:schemeClr val="bg1"/>
                </a:solidFill>
                <a:latin typeface="Times New Roman" panose="02020603050405020304" pitchFamily="18" charset="0"/>
                <a:cs typeface="Times New Roman" panose="02020603050405020304" pitchFamily="18" charset="0"/>
              </a:rPr>
              <a:t>Training Challenges:</a:t>
            </a:r>
            <a:r>
              <a:rPr lang="en-US" sz="2000" dirty="0">
                <a:solidFill>
                  <a:schemeClr val="bg1"/>
                </a:solidFill>
                <a:latin typeface="Times New Roman" panose="02020603050405020304" pitchFamily="18" charset="0"/>
                <a:cs typeface="Times New Roman" panose="02020603050405020304" pitchFamily="18" charset="0"/>
              </a:rPr>
              <a:t> </a:t>
            </a:r>
          </a:p>
          <a:p>
            <a:pPr marL="742950" lvl="1" indent="-285750">
              <a:buFont typeface="Arial" panose="020B0604020202020204" pitchFamily="34" charset="0"/>
              <a:buChar char="•"/>
            </a:pPr>
            <a:r>
              <a:rPr lang="en-US" dirty="0">
                <a:solidFill>
                  <a:schemeClr val="bg1"/>
                </a:solidFill>
              </a:rPr>
              <a:t>Variations in image quality </a:t>
            </a:r>
          </a:p>
          <a:p>
            <a:pPr marL="742950" lvl="1" indent="-285750">
              <a:buFont typeface="Arial" panose="020B0604020202020204" pitchFamily="34" charset="0"/>
              <a:buChar char="•"/>
            </a:pPr>
            <a:r>
              <a:rPr lang="en-US" dirty="0">
                <a:solidFill>
                  <a:schemeClr val="bg1"/>
                </a:solidFill>
              </a:rPr>
              <a:t>Reflections and illumination artifacts</a:t>
            </a:r>
          </a:p>
          <a:p>
            <a:r>
              <a:rPr lang="en-US" sz="2000" b="1" dirty="0">
                <a:solidFill>
                  <a:schemeClr val="bg1"/>
                </a:solidFill>
                <a:latin typeface="Times New Roman" panose="02020603050405020304" pitchFamily="18" charset="0"/>
                <a:cs typeface="Times New Roman" panose="02020603050405020304" pitchFamily="18" charset="0"/>
              </a:rPr>
              <a:t>Model Output:</a:t>
            </a:r>
            <a:endParaRPr lang="en-US" sz="2000" dirty="0">
              <a:solidFill>
                <a:schemeClr val="bg1"/>
              </a:solidFill>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en-US" dirty="0">
                <a:solidFill>
                  <a:schemeClr val="bg1"/>
                </a:solidFill>
              </a:rPr>
              <a:t>Predicted eye disease class </a:t>
            </a:r>
          </a:p>
          <a:p>
            <a:pPr marL="742950" lvl="1" indent="-285750">
              <a:buFont typeface="Arial" panose="020B0604020202020204" pitchFamily="34" charset="0"/>
              <a:buChar char="•"/>
            </a:pPr>
            <a:r>
              <a:rPr lang="en-US" dirty="0">
                <a:solidFill>
                  <a:schemeClr val="bg1"/>
                </a:solidFill>
              </a:rPr>
              <a:t>Disease report with confidence score</a:t>
            </a:r>
          </a:p>
          <a:p>
            <a:endParaRPr lang="en-US" dirty="0">
              <a:solidFill>
                <a:schemeClr val="bg1"/>
              </a:solidFill>
            </a:endParaRPr>
          </a:p>
          <a:p>
            <a:endParaRPr lang="en-US" dirty="0"/>
          </a:p>
        </p:txBody>
      </p:sp>
    </p:spTree>
    <p:extLst>
      <p:ext uri="{BB962C8B-B14F-4D97-AF65-F5344CB8AC3E}">
        <p14:creationId xmlns:p14="http://schemas.microsoft.com/office/powerpoint/2010/main" val="21583379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2E3C4E"/>
        </a:solidFill>
        <a:effectLst/>
      </p:bgPr>
    </p:bg>
    <p:spTree>
      <p:nvGrpSpPr>
        <p:cNvPr id="1" name="">
          <a:extLst>
            <a:ext uri="{FF2B5EF4-FFF2-40B4-BE49-F238E27FC236}">
              <a16:creationId xmlns:a16="http://schemas.microsoft.com/office/drawing/2014/main" id="{EF62F619-8BB4-8352-26C0-0A3221B439DC}"/>
            </a:ext>
          </a:extLst>
        </p:cNvPr>
        <p:cNvGrpSpPr/>
        <p:nvPr/>
      </p:nvGrpSpPr>
      <p:grpSpPr>
        <a:xfrm>
          <a:off x="0" y="0"/>
          <a:ext cx="0" cy="0"/>
          <a:chOff x="0" y="0"/>
          <a:chExt cx="0" cy="0"/>
        </a:xfrm>
      </p:grpSpPr>
      <p:sp>
        <p:nvSpPr>
          <p:cNvPr id="3" name="Text 1">
            <a:extLst>
              <a:ext uri="{FF2B5EF4-FFF2-40B4-BE49-F238E27FC236}">
                <a16:creationId xmlns:a16="http://schemas.microsoft.com/office/drawing/2014/main" id="{18DCFA9E-8383-394A-3725-4DA8EC474852}"/>
              </a:ext>
            </a:extLst>
          </p:cNvPr>
          <p:cNvSpPr/>
          <p:nvPr/>
        </p:nvSpPr>
        <p:spPr>
          <a:xfrm>
            <a:off x="314960" y="147424"/>
            <a:ext cx="10789920" cy="685800"/>
          </a:xfrm>
          <a:prstGeom prst="rect">
            <a:avLst/>
          </a:prstGeom>
          <a:noFill/>
          <a:ln/>
        </p:spPr>
        <p:txBody>
          <a:bodyPr wrap="square" lIns="0" tIns="0" rIns="0" bIns="0" rtlCol="0" anchor="ctr"/>
          <a:lstStyle/>
          <a:p>
            <a:pPr algn="ctr"/>
            <a:endParaRPr lang="en-US" sz="4000" u="sng" dirty="0">
              <a:cs typeface="+mj-cs"/>
            </a:endParaRPr>
          </a:p>
        </p:txBody>
      </p:sp>
      <p:sp>
        <p:nvSpPr>
          <p:cNvPr id="29" name="Text 27">
            <a:extLst>
              <a:ext uri="{FF2B5EF4-FFF2-40B4-BE49-F238E27FC236}">
                <a16:creationId xmlns:a16="http://schemas.microsoft.com/office/drawing/2014/main" id="{EE65C4B8-BC9A-6216-DDC8-CD5A40A1380F}"/>
              </a:ext>
            </a:extLst>
          </p:cNvPr>
          <p:cNvSpPr/>
          <p:nvPr/>
        </p:nvSpPr>
        <p:spPr>
          <a:xfrm>
            <a:off x="11612880" y="6473952"/>
            <a:ext cx="457200" cy="274320"/>
          </a:xfrm>
          <a:prstGeom prst="rect">
            <a:avLst/>
          </a:prstGeom>
          <a:noFill/>
          <a:ln/>
        </p:spPr>
        <p:txBody>
          <a:bodyPr wrap="square" rtlCol="0" anchor="ctr"/>
          <a:lstStyle/>
          <a:p>
            <a:pPr marL="0" indent="0" algn="r">
              <a:buNone/>
            </a:pPr>
            <a:r>
              <a:rPr lang="en-US" sz="1000" dirty="0">
                <a:solidFill>
                  <a:srgbClr val="BFD3D8"/>
                </a:solidFill>
                <a:latin typeface="Calibri" pitchFamily="34" charset="0"/>
                <a:ea typeface="Calibri" pitchFamily="34" charset="-122"/>
                <a:cs typeface="Calibri" pitchFamily="34" charset="-120"/>
              </a:rPr>
              <a:t>07</a:t>
            </a:r>
            <a:endParaRPr lang="en-US" sz="1000" dirty="0"/>
          </a:p>
        </p:txBody>
      </p:sp>
      <p:sp>
        <p:nvSpPr>
          <p:cNvPr id="30" name="Text 28">
            <a:extLst>
              <a:ext uri="{FF2B5EF4-FFF2-40B4-BE49-F238E27FC236}">
                <a16:creationId xmlns:a16="http://schemas.microsoft.com/office/drawing/2014/main" id="{01BD76E2-8FF8-94AE-166A-E83415414AB8}"/>
              </a:ext>
            </a:extLst>
          </p:cNvPr>
          <p:cNvSpPr/>
          <p:nvPr/>
        </p:nvSpPr>
        <p:spPr>
          <a:xfrm>
            <a:off x="548640" y="6473952"/>
            <a:ext cx="2743200" cy="274320"/>
          </a:xfrm>
          <a:prstGeom prst="rect">
            <a:avLst/>
          </a:prstGeom>
          <a:noFill/>
          <a:ln/>
        </p:spPr>
        <p:txBody>
          <a:bodyPr wrap="square" rtlCol="0" anchor="ctr"/>
          <a:lstStyle/>
          <a:p>
            <a:pPr marL="0" indent="0">
              <a:buNone/>
            </a:pPr>
            <a:r>
              <a:rPr lang="en-US" sz="1000" dirty="0">
                <a:solidFill>
                  <a:srgbClr val="BFD3D8"/>
                </a:solidFill>
                <a:latin typeface="Calibri" pitchFamily="34" charset="0"/>
                <a:ea typeface="Calibri" pitchFamily="34" charset="-122"/>
                <a:cs typeface="Calibri" pitchFamily="34" charset="-120"/>
              </a:rPr>
              <a:t>MediNova-AI</a:t>
            </a:r>
            <a:endParaRPr lang="en-US" sz="1000" dirty="0"/>
          </a:p>
        </p:txBody>
      </p:sp>
      <p:sp>
        <p:nvSpPr>
          <p:cNvPr id="4" name="TextBox 3">
            <a:extLst>
              <a:ext uri="{FF2B5EF4-FFF2-40B4-BE49-F238E27FC236}">
                <a16:creationId xmlns:a16="http://schemas.microsoft.com/office/drawing/2014/main" id="{A24BA376-D0A2-AE70-2C15-E6D03D212B4A}"/>
              </a:ext>
            </a:extLst>
          </p:cNvPr>
          <p:cNvSpPr txBox="1"/>
          <p:nvPr/>
        </p:nvSpPr>
        <p:spPr>
          <a:xfrm>
            <a:off x="2600960" y="305658"/>
            <a:ext cx="7934960" cy="646331"/>
          </a:xfrm>
          <a:prstGeom prst="rect">
            <a:avLst/>
          </a:prstGeom>
          <a:noFill/>
        </p:spPr>
        <p:txBody>
          <a:bodyPr wrap="square">
            <a:spAutoFit/>
          </a:bodyPr>
          <a:lstStyle/>
          <a:p>
            <a:r>
              <a:rPr lang="en-US" sz="3600" u="sng" dirty="0">
                <a:solidFill>
                  <a:schemeClr val="bg1"/>
                </a:solidFill>
              </a:rPr>
              <a:t>Sample of Eye Disease Dataset</a:t>
            </a:r>
            <a:endParaRPr lang="en-US" sz="3600" u="sng" dirty="0">
              <a:solidFill>
                <a:schemeClr val="bg1"/>
              </a:solidFill>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5FD8A6DF-FC4C-1A49-E198-B058385EB89D}"/>
              </a:ext>
            </a:extLst>
          </p:cNvPr>
          <p:cNvPicPr>
            <a:picLocks noChangeAspect="1"/>
          </p:cNvPicPr>
          <p:nvPr/>
        </p:nvPicPr>
        <p:blipFill>
          <a:blip r:embed="rId3"/>
          <a:stretch>
            <a:fillRect/>
          </a:stretch>
        </p:blipFill>
        <p:spPr>
          <a:xfrm>
            <a:off x="3263424" y="1177913"/>
            <a:ext cx="4892992" cy="5070114"/>
          </a:xfrm>
          <a:prstGeom prst="rect">
            <a:avLst/>
          </a:prstGeom>
        </p:spPr>
      </p:pic>
    </p:spTree>
    <p:extLst>
      <p:ext uri="{BB962C8B-B14F-4D97-AF65-F5344CB8AC3E}">
        <p14:creationId xmlns:p14="http://schemas.microsoft.com/office/powerpoint/2010/main" val="13220160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2E3C4E"/>
        </a:solidFill>
        <a:effectLst/>
      </p:bgPr>
    </p:bg>
    <p:spTree>
      <p:nvGrpSpPr>
        <p:cNvPr id="1" name="">
          <a:extLst>
            <a:ext uri="{FF2B5EF4-FFF2-40B4-BE49-F238E27FC236}">
              <a16:creationId xmlns:a16="http://schemas.microsoft.com/office/drawing/2014/main" id="{AA51D157-6E89-BBBA-84B1-74405FB1CF92}"/>
            </a:ext>
          </a:extLst>
        </p:cNvPr>
        <p:cNvGrpSpPr/>
        <p:nvPr/>
      </p:nvGrpSpPr>
      <p:grpSpPr>
        <a:xfrm>
          <a:off x="0" y="0"/>
          <a:ext cx="0" cy="0"/>
          <a:chOff x="0" y="0"/>
          <a:chExt cx="0" cy="0"/>
        </a:xfrm>
      </p:grpSpPr>
      <p:sp>
        <p:nvSpPr>
          <p:cNvPr id="3" name="Text 1">
            <a:extLst>
              <a:ext uri="{FF2B5EF4-FFF2-40B4-BE49-F238E27FC236}">
                <a16:creationId xmlns:a16="http://schemas.microsoft.com/office/drawing/2014/main" id="{575C42B1-DBDC-89CB-8126-B199E98E6F23}"/>
              </a:ext>
            </a:extLst>
          </p:cNvPr>
          <p:cNvSpPr/>
          <p:nvPr/>
        </p:nvSpPr>
        <p:spPr>
          <a:xfrm>
            <a:off x="314960" y="147424"/>
            <a:ext cx="10789920" cy="685800"/>
          </a:xfrm>
          <a:prstGeom prst="rect">
            <a:avLst/>
          </a:prstGeom>
          <a:noFill/>
          <a:ln/>
        </p:spPr>
        <p:txBody>
          <a:bodyPr wrap="square" lIns="0" tIns="0" rIns="0" bIns="0" rtlCol="0" anchor="ctr"/>
          <a:lstStyle/>
          <a:p>
            <a:pPr algn="ctr"/>
            <a:endParaRPr lang="en-US" sz="4000" u="sng" dirty="0">
              <a:cs typeface="+mj-cs"/>
            </a:endParaRPr>
          </a:p>
        </p:txBody>
      </p:sp>
      <p:sp>
        <p:nvSpPr>
          <p:cNvPr id="29" name="Text 27">
            <a:extLst>
              <a:ext uri="{FF2B5EF4-FFF2-40B4-BE49-F238E27FC236}">
                <a16:creationId xmlns:a16="http://schemas.microsoft.com/office/drawing/2014/main" id="{6F06A307-F84E-5CE0-3019-342EE2E39F22}"/>
              </a:ext>
            </a:extLst>
          </p:cNvPr>
          <p:cNvSpPr/>
          <p:nvPr/>
        </p:nvSpPr>
        <p:spPr>
          <a:xfrm>
            <a:off x="11612880" y="6473952"/>
            <a:ext cx="457200" cy="274320"/>
          </a:xfrm>
          <a:prstGeom prst="rect">
            <a:avLst/>
          </a:prstGeom>
          <a:noFill/>
          <a:ln/>
        </p:spPr>
        <p:txBody>
          <a:bodyPr wrap="square" rtlCol="0" anchor="ctr"/>
          <a:lstStyle/>
          <a:p>
            <a:pPr marL="0" indent="0" algn="r">
              <a:buNone/>
            </a:pPr>
            <a:r>
              <a:rPr lang="en-US" sz="1000" dirty="0">
                <a:solidFill>
                  <a:srgbClr val="BFD3D8"/>
                </a:solidFill>
                <a:latin typeface="Calibri" pitchFamily="34" charset="0"/>
                <a:ea typeface="Calibri" pitchFamily="34" charset="-122"/>
                <a:cs typeface="Calibri" pitchFamily="34" charset="-120"/>
              </a:rPr>
              <a:t>07</a:t>
            </a:r>
            <a:endParaRPr lang="en-US" sz="1000" dirty="0"/>
          </a:p>
        </p:txBody>
      </p:sp>
      <p:sp>
        <p:nvSpPr>
          <p:cNvPr id="30" name="Text 28">
            <a:extLst>
              <a:ext uri="{FF2B5EF4-FFF2-40B4-BE49-F238E27FC236}">
                <a16:creationId xmlns:a16="http://schemas.microsoft.com/office/drawing/2014/main" id="{49646F06-4AAE-80A7-40D7-F83DCA443F8C}"/>
              </a:ext>
            </a:extLst>
          </p:cNvPr>
          <p:cNvSpPr/>
          <p:nvPr/>
        </p:nvSpPr>
        <p:spPr>
          <a:xfrm>
            <a:off x="548640" y="6473952"/>
            <a:ext cx="2743200" cy="274320"/>
          </a:xfrm>
          <a:prstGeom prst="rect">
            <a:avLst/>
          </a:prstGeom>
          <a:noFill/>
          <a:ln/>
        </p:spPr>
        <p:txBody>
          <a:bodyPr wrap="square" rtlCol="0" anchor="ctr"/>
          <a:lstStyle/>
          <a:p>
            <a:pPr marL="0" indent="0">
              <a:buNone/>
            </a:pPr>
            <a:r>
              <a:rPr lang="en-US" sz="1000" dirty="0">
                <a:solidFill>
                  <a:srgbClr val="BFD3D8"/>
                </a:solidFill>
                <a:latin typeface="Calibri" pitchFamily="34" charset="0"/>
                <a:ea typeface="Calibri" pitchFamily="34" charset="-122"/>
                <a:cs typeface="Calibri" pitchFamily="34" charset="-120"/>
              </a:rPr>
              <a:t>MediNova-AI</a:t>
            </a:r>
            <a:endParaRPr lang="en-US" sz="1000" dirty="0"/>
          </a:p>
        </p:txBody>
      </p:sp>
      <p:sp>
        <p:nvSpPr>
          <p:cNvPr id="4" name="TextBox 3">
            <a:extLst>
              <a:ext uri="{FF2B5EF4-FFF2-40B4-BE49-F238E27FC236}">
                <a16:creationId xmlns:a16="http://schemas.microsoft.com/office/drawing/2014/main" id="{0942C7E9-4986-7C2A-CEEB-1B39841B5A4A}"/>
              </a:ext>
            </a:extLst>
          </p:cNvPr>
          <p:cNvSpPr txBox="1"/>
          <p:nvPr/>
        </p:nvSpPr>
        <p:spPr>
          <a:xfrm>
            <a:off x="3332480" y="186893"/>
            <a:ext cx="7934960" cy="646331"/>
          </a:xfrm>
          <a:prstGeom prst="rect">
            <a:avLst/>
          </a:prstGeom>
          <a:noFill/>
        </p:spPr>
        <p:txBody>
          <a:bodyPr wrap="square">
            <a:spAutoFit/>
          </a:bodyPr>
          <a:lstStyle/>
          <a:p>
            <a:r>
              <a:rPr lang="en-US" sz="3600" u="sng" dirty="0">
                <a:solidFill>
                  <a:schemeClr val="bg1"/>
                </a:solidFill>
              </a:rPr>
              <a:t>Results for Eye Disease </a:t>
            </a:r>
            <a:endParaRPr lang="en-US" sz="3600" u="sng" dirty="0">
              <a:solidFill>
                <a:schemeClr val="bg1"/>
              </a:solidFill>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003E9870-CB22-A4BF-6449-1F5DF4AAF171}"/>
              </a:ext>
            </a:extLst>
          </p:cNvPr>
          <p:cNvPicPr>
            <a:picLocks noChangeAspect="1"/>
          </p:cNvPicPr>
          <p:nvPr/>
        </p:nvPicPr>
        <p:blipFill>
          <a:blip r:embed="rId3"/>
          <a:stretch>
            <a:fillRect/>
          </a:stretch>
        </p:blipFill>
        <p:spPr>
          <a:xfrm>
            <a:off x="1056640" y="1063749"/>
            <a:ext cx="9042400" cy="5591175"/>
          </a:xfrm>
          <a:prstGeom prst="rect">
            <a:avLst/>
          </a:prstGeom>
        </p:spPr>
      </p:pic>
    </p:spTree>
    <p:extLst>
      <p:ext uri="{BB962C8B-B14F-4D97-AF65-F5344CB8AC3E}">
        <p14:creationId xmlns:p14="http://schemas.microsoft.com/office/powerpoint/2010/main" val="10437883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2E3C4E"/>
        </a:solidFill>
        <a:effectLst/>
      </p:bgPr>
    </p:bg>
    <p:spTree>
      <p:nvGrpSpPr>
        <p:cNvPr id="1" name="">
          <a:extLst>
            <a:ext uri="{FF2B5EF4-FFF2-40B4-BE49-F238E27FC236}">
              <a16:creationId xmlns:a16="http://schemas.microsoft.com/office/drawing/2014/main" id="{829A6443-A53E-C27E-AB52-B1EF8C379325}"/>
            </a:ext>
          </a:extLst>
        </p:cNvPr>
        <p:cNvGrpSpPr/>
        <p:nvPr/>
      </p:nvGrpSpPr>
      <p:grpSpPr>
        <a:xfrm>
          <a:off x="0" y="0"/>
          <a:ext cx="0" cy="0"/>
          <a:chOff x="0" y="0"/>
          <a:chExt cx="0" cy="0"/>
        </a:xfrm>
      </p:grpSpPr>
      <p:sp>
        <p:nvSpPr>
          <p:cNvPr id="3" name="Text 1">
            <a:extLst>
              <a:ext uri="{FF2B5EF4-FFF2-40B4-BE49-F238E27FC236}">
                <a16:creationId xmlns:a16="http://schemas.microsoft.com/office/drawing/2014/main" id="{D5D52FCA-9395-9F97-5E57-100CF452F728}"/>
              </a:ext>
            </a:extLst>
          </p:cNvPr>
          <p:cNvSpPr/>
          <p:nvPr/>
        </p:nvSpPr>
        <p:spPr>
          <a:xfrm>
            <a:off x="314960" y="147424"/>
            <a:ext cx="10789920" cy="685800"/>
          </a:xfrm>
          <a:prstGeom prst="rect">
            <a:avLst/>
          </a:prstGeom>
          <a:noFill/>
          <a:ln/>
        </p:spPr>
        <p:txBody>
          <a:bodyPr wrap="square" lIns="0" tIns="0" rIns="0" bIns="0" rtlCol="0" anchor="ctr"/>
          <a:lstStyle/>
          <a:p>
            <a:pPr algn="ctr"/>
            <a:endParaRPr lang="en-US" sz="4000" u="sng" dirty="0">
              <a:cs typeface="+mj-cs"/>
            </a:endParaRPr>
          </a:p>
        </p:txBody>
      </p:sp>
      <p:sp>
        <p:nvSpPr>
          <p:cNvPr id="29" name="Text 27">
            <a:extLst>
              <a:ext uri="{FF2B5EF4-FFF2-40B4-BE49-F238E27FC236}">
                <a16:creationId xmlns:a16="http://schemas.microsoft.com/office/drawing/2014/main" id="{6BD3794C-EB62-57D3-6898-CC5F893E88A1}"/>
              </a:ext>
            </a:extLst>
          </p:cNvPr>
          <p:cNvSpPr/>
          <p:nvPr/>
        </p:nvSpPr>
        <p:spPr>
          <a:xfrm>
            <a:off x="11612880" y="6473952"/>
            <a:ext cx="457200" cy="274320"/>
          </a:xfrm>
          <a:prstGeom prst="rect">
            <a:avLst/>
          </a:prstGeom>
          <a:noFill/>
          <a:ln/>
        </p:spPr>
        <p:txBody>
          <a:bodyPr wrap="square" rtlCol="0" anchor="ctr"/>
          <a:lstStyle/>
          <a:p>
            <a:pPr marL="0" indent="0" algn="r">
              <a:buNone/>
            </a:pPr>
            <a:r>
              <a:rPr lang="en-US" sz="1000" dirty="0">
                <a:solidFill>
                  <a:srgbClr val="BFD3D8"/>
                </a:solidFill>
                <a:latin typeface="Calibri" pitchFamily="34" charset="0"/>
                <a:ea typeface="Calibri" pitchFamily="34" charset="-122"/>
                <a:cs typeface="Calibri" pitchFamily="34" charset="-120"/>
              </a:rPr>
              <a:t>07</a:t>
            </a:r>
            <a:endParaRPr lang="en-US" sz="1000" dirty="0"/>
          </a:p>
        </p:txBody>
      </p:sp>
      <p:sp>
        <p:nvSpPr>
          <p:cNvPr id="30" name="Text 28">
            <a:extLst>
              <a:ext uri="{FF2B5EF4-FFF2-40B4-BE49-F238E27FC236}">
                <a16:creationId xmlns:a16="http://schemas.microsoft.com/office/drawing/2014/main" id="{C47A83D4-0EA5-8CD4-45D5-832918573AD4}"/>
              </a:ext>
            </a:extLst>
          </p:cNvPr>
          <p:cNvSpPr/>
          <p:nvPr/>
        </p:nvSpPr>
        <p:spPr>
          <a:xfrm>
            <a:off x="548640" y="6473952"/>
            <a:ext cx="2743200" cy="274320"/>
          </a:xfrm>
          <a:prstGeom prst="rect">
            <a:avLst/>
          </a:prstGeom>
          <a:noFill/>
          <a:ln/>
        </p:spPr>
        <p:txBody>
          <a:bodyPr wrap="square" rtlCol="0" anchor="ctr"/>
          <a:lstStyle/>
          <a:p>
            <a:pPr marL="0" indent="0">
              <a:buNone/>
            </a:pPr>
            <a:r>
              <a:rPr lang="en-US" sz="1000" dirty="0">
                <a:solidFill>
                  <a:srgbClr val="BFD3D8"/>
                </a:solidFill>
                <a:latin typeface="Calibri" pitchFamily="34" charset="0"/>
                <a:ea typeface="Calibri" pitchFamily="34" charset="-122"/>
                <a:cs typeface="Calibri" pitchFamily="34" charset="-120"/>
              </a:rPr>
              <a:t>MediNova-AI</a:t>
            </a:r>
            <a:endParaRPr lang="en-US" sz="1000" dirty="0"/>
          </a:p>
        </p:txBody>
      </p:sp>
      <p:sp>
        <p:nvSpPr>
          <p:cNvPr id="4" name="TextBox 3">
            <a:extLst>
              <a:ext uri="{FF2B5EF4-FFF2-40B4-BE49-F238E27FC236}">
                <a16:creationId xmlns:a16="http://schemas.microsoft.com/office/drawing/2014/main" id="{B50ADED6-3AEA-861B-3BBB-324D94211D60}"/>
              </a:ext>
            </a:extLst>
          </p:cNvPr>
          <p:cNvSpPr txBox="1"/>
          <p:nvPr/>
        </p:nvSpPr>
        <p:spPr>
          <a:xfrm>
            <a:off x="2590800" y="234414"/>
            <a:ext cx="7934960" cy="646331"/>
          </a:xfrm>
          <a:prstGeom prst="rect">
            <a:avLst/>
          </a:prstGeom>
          <a:noFill/>
        </p:spPr>
        <p:txBody>
          <a:bodyPr wrap="square">
            <a:spAutoFit/>
          </a:bodyPr>
          <a:lstStyle/>
          <a:p>
            <a:r>
              <a:rPr lang="en-US" sz="3600" u="sng" dirty="0">
                <a:solidFill>
                  <a:schemeClr val="bg1"/>
                </a:solidFill>
                <a:latin typeface="Times New Roman" panose="02020603050405020304" pitchFamily="18" charset="0"/>
                <a:cs typeface="Times New Roman" panose="02020603050405020304" pitchFamily="18" charset="0"/>
              </a:rPr>
              <a:t>Brain Tumor Classification Model</a:t>
            </a:r>
          </a:p>
        </p:txBody>
      </p:sp>
      <p:sp>
        <p:nvSpPr>
          <p:cNvPr id="2" name="TextBox 1">
            <a:extLst>
              <a:ext uri="{FF2B5EF4-FFF2-40B4-BE49-F238E27FC236}">
                <a16:creationId xmlns:a16="http://schemas.microsoft.com/office/drawing/2014/main" id="{0AB577F2-E3C4-9DE9-3071-B93C69C52D73}"/>
              </a:ext>
            </a:extLst>
          </p:cNvPr>
          <p:cNvSpPr txBox="1"/>
          <p:nvPr/>
        </p:nvSpPr>
        <p:spPr>
          <a:xfrm>
            <a:off x="1280160" y="1208603"/>
            <a:ext cx="8087360" cy="4247317"/>
          </a:xfrm>
          <a:prstGeom prst="rect">
            <a:avLst/>
          </a:prstGeom>
          <a:noFill/>
        </p:spPr>
        <p:txBody>
          <a:bodyPr wrap="square" rtlCol="0">
            <a:spAutoFit/>
          </a:bodyPr>
          <a:lstStyle/>
          <a:p>
            <a:r>
              <a:rPr lang="en-US" sz="2400" b="1" dirty="0">
                <a:solidFill>
                  <a:schemeClr val="bg1"/>
                </a:solidFill>
                <a:latin typeface="Times New Roman" panose="02020603050405020304" pitchFamily="18" charset="0"/>
                <a:cs typeface="Times New Roman" panose="02020603050405020304" pitchFamily="18" charset="0"/>
              </a:rPr>
              <a:t>Model Architecture:</a:t>
            </a:r>
            <a:r>
              <a:rPr lang="en-US" sz="2400" dirty="0">
                <a:solidFill>
                  <a:schemeClr val="bg1"/>
                </a:solidFill>
                <a:latin typeface="Times New Roman" panose="02020603050405020304" pitchFamily="18" charset="0"/>
                <a:cs typeface="Times New Roman" panose="02020603050405020304" pitchFamily="18" charset="0"/>
              </a:rPr>
              <a:t> </a:t>
            </a:r>
          </a:p>
          <a:p>
            <a:r>
              <a:rPr lang="en-US" dirty="0">
                <a:solidFill>
                  <a:schemeClr val="bg1"/>
                </a:solidFill>
              </a:rPr>
              <a:t>VGG-like Convolutional Neural Network (CNN) </a:t>
            </a:r>
          </a:p>
          <a:p>
            <a:endParaRPr lang="en-US" dirty="0">
              <a:solidFill>
                <a:schemeClr val="bg1"/>
              </a:solidFill>
            </a:endParaRPr>
          </a:p>
          <a:p>
            <a:r>
              <a:rPr lang="en-US" sz="2400" b="1" dirty="0">
                <a:solidFill>
                  <a:schemeClr val="bg1"/>
                </a:solidFill>
                <a:latin typeface="Times New Roman" panose="02020603050405020304" pitchFamily="18" charset="0"/>
                <a:cs typeface="Times New Roman" panose="02020603050405020304" pitchFamily="18" charset="0"/>
              </a:rPr>
              <a:t>Framework:</a:t>
            </a:r>
            <a:r>
              <a:rPr lang="en-US" sz="2400" dirty="0">
                <a:solidFill>
                  <a:schemeClr val="bg1"/>
                </a:solidFill>
                <a:latin typeface="Times New Roman" panose="02020603050405020304" pitchFamily="18" charset="0"/>
                <a:cs typeface="Times New Roman" panose="02020603050405020304" pitchFamily="18" charset="0"/>
              </a:rPr>
              <a:t> </a:t>
            </a:r>
            <a:r>
              <a:rPr lang="en-US" dirty="0">
                <a:solidFill>
                  <a:schemeClr val="bg1"/>
                </a:solidFill>
              </a:rPr>
              <a:t>TensorFlow </a:t>
            </a:r>
            <a:r>
              <a:rPr lang="en-US" b="1" dirty="0">
                <a:solidFill>
                  <a:schemeClr val="bg1"/>
                </a:solidFill>
              </a:rPr>
              <a:t>Dataset:</a:t>
            </a:r>
            <a:r>
              <a:rPr lang="en-US" dirty="0">
                <a:solidFill>
                  <a:schemeClr val="bg1"/>
                </a:solidFill>
              </a:rPr>
              <a:t> MRI </a:t>
            </a:r>
          </a:p>
          <a:p>
            <a:r>
              <a:rPr lang="en-US" sz="2400" dirty="0">
                <a:solidFill>
                  <a:schemeClr val="bg1"/>
                </a:solidFill>
                <a:latin typeface="Times New Roman" panose="02020603050405020304" pitchFamily="18" charset="0"/>
                <a:cs typeface="Times New Roman" panose="02020603050405020304" pitchFamily="18" charset="0"/>
              </a:rPr>
              <a:t>Dataset </a:t>
            </a:r>
            <a:r>
              <a:rPr lang="en-US" dirty="0">
                <a:solidFill>
                  <a:schemeClr val="bg1"/>
                </a:solidFill>
              </a:rPr>
              <a:t>(7,000 brain MRI images) </a:t>
            </a:r>
            <a:r>
              <a:rPr lang="en-US" b="1" dirty="0">
                <a:solidFill>
                  <a:schemeClr val="bg1"/>
                </a:solidFill>
              </a:rPr>
              <a:t>Input:</a:t>
            </a:r>
            <a:r>
              <a:rPr lang="en-US" dirty="0">
                <a:solidFill>
                  <a:schemeClr val="bg1"/>
                </a:solidFill>
              </a:rPr>
              <a:t> 224 × 224 MRI images </a:t>
            </a:r>
            <a:r>
              <a:rPr lang="en-US" b="1" dirty="0">
                <a:solidFill>
                  <a:schemeClr val="bg1"/>
                </a:solidFill>
              </a:rPr>
              <a:t>Accuracy:</a:t>
            </a:r>
            <a:r>
              <a:rPr lang="en-US" dirty="0">
                <a:solidFill>
                  <a:schemeClr val="bg1"/>
                </a:solidFill>
              </a:rPr>
              <a:t> </a:t>
            </a:r>
            <a:r>
              <a:rPr lang="en-US" b="1" dirty="0">
                <a:solidFill>
                  <a:schemeClr val="bg1"/>
                </a:solidFill>
              </a:rPr>
              <a:t>98.1%</a:t>
            </a:r>
            <a:r>
              <a:rPr lang="en-US" dirty="0">
                <a:solidFill>
                  <a:schemeClr val="bg1"/>
                </a:solidFill>
              </a:rPr>
              <a:t> </a:t>
            </a:r>
            <a:r>
              <a:rPr lang="en-US" sz="2400" b="1" dirty="0">
                <a:solidFill>
                  <a:schemeClr val="bg1"/>
                </a:solidFill>
                <a:latin typeface="Times New Roman" panose="02020603050405020304" pitchFamily="18" charset="0"/>
                <a:cs typeface="Times New Roman" panose="02020603050405020304" pitchFamily="18" charset="0"/>
              </a:rPr>
              <a:t>Classification Classes (4):</a:t>
            </a:r>
          </a:p>
          <a:p>
            <a:pPr marL="800100" lvl="1" indent="-342900">
              <a:buFont typeface="Arial" panose="020B0604020202020204" pitchFamily="34" charset="0"/>
              <a:buChar char="•"/>
            </a:pPr>
            <a:r>
              <a:rPr lang="en-US" sz="2400" dirty="0">
                <a:solidFill>
                  <a:schemeClr val="bg1"/>
                </a:solidFill>
                <a:latin typeface="Times New Roman" panose="02020603050405020304" pitchFamily="18" charset="0"/>
                <a:cs typeface="Times New Roman" panose="02020603050405020304" pitchFamily="18" charset="0"/>
              </a:rPr>
              <a:t> </a:t>
            </a:r>
            <a:r>
              <a:rPr lang="en-US" dirty="0">
                <a:solidFill>
                  <a:schemeClr val="bg1"/>
                </a:solidFill>
              </a:rPr>
              <a:t>Glioma </a:t>
            </a:r>
          </a:p>
          <a:p>
            <a:pPr marL="742950" lvl="1" indent="-285750">
              <a:buFont typeface="Arial" panose="020B0604020202020204" pitchFamily="34" charset="0"/>
              <a:buChar char="•"/>
            </a:pPr>
            <a:r>
              <a:rPr lang="en-US" dirty="0">
                <a:solidFill>
                  <a:schemeClr val="bg1"/>
                </a:solidFill>
              </a:rPr>
              <a:t>Meningioma </a:t>
            </a:r>
          </a:p>
          <a:p>
            <a:pPr marL="742950" lvl="1" indent="-285750">
              <a:buFont typeface="Arial" panose="020B0604020202020204" pitchFamily="34" charset="0"/>
              <a:buChar char="•"/>
            </a:pPr>
            <a:r>
              <a:rPr lang="en-US" dirty="0">
                <a:solidFill>
                  <a:schemeClr val="bg1"/>
                </a:solidFill>
              </a:rPr>
              <a:t>Pituitary Tumor </a:t>
            </a:r>
          </a:p>
          <a:p>
            <a:pPr marL="742950" lvl="1" indent="-285750">
              <a:buFont typeface="Arial" panose="020B0604020202020204" pitchFamily="34" charset="0"/>
              <a:buChar char="•"/>
            </a:pPr>
            <a:r>
              <a:rPr lang="en-US" dirty="0">
                <a:solidFill>
                  <a:schemeClr val="bg1"/>
                </a:solidFill>
              </a:rPr>
              <a:t>No Tumor </a:t>
            </a:r>
          </a:p>
          <a:p>
            <a:r>
              <a:rPr lang="en-US" sz="2400" b="1" dirty="0">
                <a:solidFill>
                  <a:schemeClr val="bg1"/>
                </a:solidFill>
                <a:latin typeface="Times New Roman" panose="02020603050405020304" pitchFamily="18" charset="0"/>
                <a:cs typeface="Times New Roman" panose="02020603050405020304" pitchFamily="18" charset="0"/>
              </a:rPr>
              <a:t>Training Challenges:</a:t>
            </a:r>
          </a:p>
          <a:p>
            <a:pPr marL="742950" lvl="1" indent="-285750">
              <a:buFont typeface="Arial" panose="020B0604020202020204" pitchFamily="34" charset="0"/>
              <a:buChar char="•"/>
            </a:pPr>
            <a:r>
              <a:rPr lang="en-US" dirty="0">
                <a:solidFill>
                  <a:schemeClr val="bg1"/>
                </a:solidFill>
              </a:rPr>
              <a:t> Overfitting due to limited medical data </a:t>
            </a:r>
          </a:p>
          <a:p>
            <a:pPr marL="742950" lvl="1" indent="-285750">
              <a:buFont typeface="Arial" panose="020B0604020202020204" pitchFamily="34" charset="0"/>
              <a:buChar char="•"/>
            </a:pPr>
            <a:r>
              <a:rPr lang="en-US" dirty="0">
                <a:solidFill>
                  <a:schemeClr val="bg1"/>
                </a:solidFill>
              </a:rPr>
              <a:t>High memory consumption during training</a:t>
            </a:r>
          </a:p>
        </p:txBody>
      </p:sp>
    </p:spTree>
    <p:extLst>
      <p:ext uri="{BB962C8B-B14F-4D97-AF65-F5344CB8AC3E}">
        <p14:creationId xmlns:p14="http://schemas.microsoft.com/office/powerpoint/2010/main" val="350002535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2E3C4E"/>
        </a:solidFill>
        <a:effectLst/>
      </p:bgPr>
    </p:bg>
    <p:spTree>
      <p:nvGrpSpPr>
        <p:cNvPr id="1" name="">
          <a:extLst>
            <a:ext uri="{FF2B5EF4-FFF2-40B4-BE49-F238E27FC236}">
              <a16:creationId xmlns:a16="http://schemas.microsoft.com/office/drawing/2014/main" id="{E219915D-D5C5-1509-46EA-6293518533D4}"/>
            </a:ext>
          </a:extLst>
        </p:cNvPr>
        <p:cNvGrpSpPr/>
        <p:nvPr/>
      </p:nvGrpSpPr>
      <p:grpSpPr>
        <a:xfrm>
          <a:off x="0" y="0"/>
          <a:ext cx="0" cy="0"/>
          <a:chOff x="0" y="0"/>
          <a:chExt cx="0" cy="0"/>
        </a:xfrm>
      </p:grpSpPr>
      <p:sp>
        <p:nvSpPr>
          <p:cNvPr id="3" name="Text 1">
            <a:extLst>
              <a:ext uri="{FF2B5EF4-FFF2-40B4-BE49-F238E27FC236}">
                <a16:creationId xmlns:a16="http://schemas.microsoft.com/office/drawing/2014/main" id="{CAEED792-5FCE-7E09-EE86-58DF177693EF}"/>
              </a:ext>
            </a:extLst>
          </p:cNvPr>
          <p:cNvSpPr/>
          <p:nvPr/>
        </p:nvSpPr>
        <p:spPr>
          <a:xfrm>
            <a:off x="314960" y="147424"/>
            <a:ext cx="10789920" cy="685800"/>
          </a:xfrm>
          <a:prstGeom prst="rect">
            <a:avLst/>
          </a:prstGeom>
          <a:noFill/>
          <a:ln/>
        </p:spPr>
        <p:txBody>
          <a:bodyPr wrap="square" lIns="0" tIns="0" rIns="0" bIns="0" rtlCol="0" anchor="ctr"/>
          <a:lstStyle/>
          <a:p>
            <a:pPr algn="ctr"/>
            <a:endParaRPr lang="en-US" sz="4000" u="sng" dirty="0">
              <a:cs typeface="+mj-cs"/>
            </a:endParaRPr>
          </a:p>
        </p:txBody>
      </p:sp>
      <p:sp>
        <p:nvSpPr>
          <p:cNvPr id="29" name="Text 27">
            <a:extLst>
              <a:ext uri="{FF2B5EF4-FFF2-40B4-BE49-F238E27FC236}">
                <a16:creationId xmlns:a16="http://schemas.microsoft.com/office/drawing/2014/main" id="{D3F7691A-C042-FB86-85FD-5E84F58EEB5B}"/>
              </a:ext>
            </a:extLst>
          </p:cNvPr>
          <p:cNvSpPr/>
          <p:nvPr/>
        </p:nvSpPr>
        <p:spPr>
          <a:xfrm>
            <a:off x="11612880" y="6473952"/>
            <a:ext cx="457200" cy="274320"/>
          </a:xfrm>
          <a:prstGeom prst="rect">
            <a:avLst/>
          </a:prstGeom>
          <a:noFill/>
          <a:ln/>
        </p:spPr>
        <p:txBody>
          <a:bodyPr wrap="square" rtlCol="0" anchor="ctr"/>
          <a:lstStyle/>
          <a:p>
            <a:pPr marL="0" indent="0" algn="r">
              <a:buNone/>
            </a:pPr>
            <a:r>
              <a:rPr lang="en-US" sz="1000" dirty="0">
                <a:solidFill>
                  <a:srgbClr val="BFD3D8"/>
                </a:solidFill>
                <a:latin typeface="Calibri" pitchFamily="34" charset="0"/>
                <a:ea typeface="Calibri" pitchFamily="34" charset="-122"/>
                <a:cs typeface="Calibri" pitchFamily="34" charset="-120"/>
              </a:rPr>
              <a:t>07</a:t>
            </a:r>
            <a:endParaRPr lang="en-US" sz="1000" dirty="0"/>
          </a:p>
        </p:txBody>
      </p:sp>
      <p:sp>
        <p:nvSpPr>
          <p:cNvPr id="30" name="Text 28">
            <a:extLst>
              <a:ext uri="{FF2B5EF4-FFF2-40B4-BE49-F238E27FC236}">
                <a16:creationId xmlns:a16="http://schemas.microsoft.com/office/drawing/2014/main" id="{FC02E5A4-2F8F-5D82-94B9-575596FF737D}"/>
              </a:ext>
            </a:extLst>
          </p:cNvPr>
          <p:cNvSpPr/>
          <p:nvPr/>
        </p:nvSpPr>
        <p:spPr>
          <a:xfrm>
            <a:off x="548640" y="6473952"/>
            <a:ext cx="2743200" cy="274320"/>
          </a:xfrm>
          <a:prstGeom prst="rect">
            <a:avLst/>
          </a:prstGeom>
          <a:noFill/>
          <a:ln/>
        </p:spPr>
        <p:txBody>
          <a:bodyPr wrap="square" rtlCol="0" anchor="ctr"/>
          <a:lstStyle/>
          <a:p>
            <a:pPr marL="0" indent="0">
              <a:buNone/>
            </a:pPr>
            <a:r>
              <a:rPr lang="en-US" sz="1000" dirty="0">
                <a:solidFill>
                  <a:srgbClr val="BFD3D8"/>
                </a:solidFill>
                <a:latin typeface="Calibri" pitchFamily="34" charset="0"/>
                <a:ea typeface="Calibri" pitchFamily="34" charset="-122"/>
                <a:cs typeface="Calibri" pitchFamily="34" charset="-120"/>
              </a:rPr>
              <a:t>MediNova-AI</a:t>
            </a:r>
            <a:endParaRPr lang="en-US" sz="1000" dirty="0"/>
          </a:p>
        </p:txBody>
      </p:sp>
      <p:sp>
        <p:nvSpPr>
          <p:cNvPr id="4" name="TextBox 3">
            <a:extLst>
              <a:ext uri="{FF2B5EF4-FFF2-40B4-BE49-F238E27FC236}">
                <a16:creationId xmlns:a16="http://schemas.microsoft.com/office/drawing/2014/main" id="{103D93C5-065D-6835-5A5B-4FFCD10B7F8A}"/>
              </a:ext>
            </a:extLst>
          </p:cNvPr>
          <p:cNvSpPr txBox="1"/>
          <p:nvPr/>
        </p:nvSpPr>
        <p:spPr>
          <a:xfrm>
            <a:off x="2590800" y="234414"/>
            <a:ext cx="7934960" cy="646331"/>
          </a:xfrm>
          <a:prstGeom prst="rect">
            <a:avLst/>
          </a:prstGeom>
          <a:noFill/>
        </p:spPr>
        <p:txBody>
          <a:bodyPr wrap="square">
            <a:spAutoFit/>
          </a:bodyPr>
          <a:lstStyle/>
          <a:p>
            <a:r>
              <a:rPr lang="en-US" sz="3600" u="sng" dirty="0">
                <a:solidFill>
                  <a:schemeClr val="bg1"/>
                </a:solidFill>
                <a:latin typeface="Times New Roman" panose="02020603050405020304" pitchFamily="18" charset="0"/>
                <a:cs typeface="Times New Roman" panose="02020603050405020304" pitchFamily="18" charset="0"/>
              </a:rPr>
              <a:t>Sample of Brain Tumor Dataset</a:t>
            </a:r>
          </a:p>
        </p:txBody>
      </p:sp>
      <p:pic>
        <p:nvPicPr>
          <p:cNvPr id="6" name="Picture 5">
            <a:extLst>
              <a:ext uri="{FF2B5EF4-FFF2-40B4-BE49-F238E27FC236}">
                <a16:creationId xmlns:a16="http://schemas.microsoft.com/office/drawing/2014/main" id="{B6523F54-E89D-3001-042C-451678A1B2E7}"/>
              </a:ext>
            </a:extLst>
          </p:cNvPr>
          <p:cNvPicPr>
            <a:picLocks noChangeAspect="1"/>
          </p:cNvPicPr>
          <p:nvPr/>
        </p:nvPicPr>
        <p:blipFill>
          <a:blip r:embed="rId3"/>
          <a:stretch>
            <a:fillRect/>
          </a:stretch>
        </p:blipFill>
        <p:spPr>
          <a:xfrm>
            <a:off x="2682240" y="1200037"/>
            <a:ext cx="6075680" cy="5068683"/>
          </a:xfrm>
          <a:prstGeom prst="rect">
            <a:avLst/>
          </a:prstGeom>
        </p:spPr>
      </p:pic>
    </p:spTree>
    <p:extLst>
      <p:ext uri="{BB962C8B-B14F-4D97-AF65-F5344CB8AC3E}">
        <p14:creationId xmlns:p14="http://schemas.microsoft.com/office/powerpoint/2010/main" val="30702657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2E3C4E"/>
        </a:solidFill>
        <a:effectLst/>
      </p:bgPr>
    </p:bg>
    <p:spTree>
      <p:nvGrpSpPr>
        <p:cNvPr id="1" name="">
          <a:extLst>
            <a:ext uri="{FF2B5EF4-FFF2-40B4-BE49-F238E27FC236}">
              <a16:creationId xmlns:a16="http://schemas.microsoft.com/office/drawing/2014/main" id="{B36788AE-3ED6-D0F3-12AD-9FD177995157}"/>
            </a:ext>
          </a:extLst>
        </p:cNvPr>
        <p:cNvGrpSpPr/>
        <p:nvPr/>
      </p:nvGrpSpPr>
      <p:grpSpPr>
        <a:xfrm>
          <a:off x="0" y="0"/>
          <a:ext cx="0" cy="0"/>
          <a:chOff x="0" y="0"/>
          <a:chExt cx="0" cy="0"/>
        </a:xfrm>
      </p:grpSpPr>
      <p:sp>
        <p:nvSpPr>
          <p:cNvPr id="3" name="Text 1">
            <a:extLst>
              <a:ext uri="{FF2B5EF4-FFF2-40B4-BE49-F238E27FC236}">
                <a16:creationId xmlns:a16="http://schemas.microsoft.com/office/drawing/2014/main" id="{DC4FAE33-A825-6C0A-208B-42FBE8FA198C}"/>
              </a:ext>
            </a:extLst>
          </p:cNvPr>
          <p:cNvSpPr/>
          <p:nvPr/>
        </p:nvSpPr>
        <p:spPr>
          <a:xfrm>
            <a:off x="314960" y="147424"/>
            <a:ext cx="10789920" cy="685800"/>
          </a:xfrm>
          <a:prstGeom prst="rect">
            <a:avLst/>
          </a:prstGeom>
          <a:noFill/>
          <a:ln/>
        </p:spPr>
        <p:txBody>
          <a:bodyPr wrap="square" lIns="0" tIns="0" rIns="0" bIns="0" rtlCol="0" anchor="ctr"/>
          <a:lstStyle/>
          <a:p>
            <a:pPr algn="ctr"/>
            <a:endParaRPr lang="en-US" sz="4000" u="sng" dirty="0">
              <a:cs typeface="+mj-cs"/>
            </a:endParaRPr>
          </a:p>
        </p:txBody>
      </p:sp>
      <p:sp>
        <p:nvSpPr>
          <p:cNvPr id="29" name="Text 27">
            <a:extLst>
              <a:ext uri="{FF2B5EF4-FFF2-40B4-BE49-F238E27FC236}">
                <a16:creationId xmlns:a16="http://schemas.microsoft.com/office/drawing/2014/main" id="{6C2EBF95-319D-00A7-F4B5-6A494CDD9B44}"/>
              </a:ext>
            </a:extLst>
          </p:cNvPr>
          <p:cNvSpPr/>
          <p:nvPr/>
        </p:nvSpPr>
        <p:spPr>
          <a:xfrm>
            <a:off x="11612880" y="6473952"/>
            <a:ext cx="457200" cy="274320"/>
          </a:xfrm>
          <a:prstGeom prst="rect">
            <a:avLst/>
          </a:prstGeom>
          <a:noFill/>
          <a:ln/>
        </p:spPr>
        <p:txBody>
          <a:bodyPr wrap="square" rtlCol="0" anchor="ctr"/>
          <a:lstStyle/>
          <a:p>
            <a:pPr marL="0" indent="0" algn="r">
              <a:buNone/>
            </a:pPr>
            <a:r>
              <a:rPr lang="en-US" sz="1000" dirty="0">
                <a:solidFill>
                  <a:srgbClr val="BFD3D8"/>
                </a:solidFill>
                <a:latin typeface="Calibri" pitchFamily="34" charset="0"/>
                <a:ea typeface="Calibri" pitchFamily="34" charset="-122"/>
                <a:cs typeface="Calibri" pitchFamily="34" charset="-120"/>
              </a:rPr>
              <a:t>07</a:t>
            </a:r>
            <a:endParaRPr lang="en-US" sz="1000" dirty="0"/>
          </a:p>
        </p:txBody>
      </p:sp>
      <p:sp>
        <p:nvSpPr>
          <p:cNvPr id="30" name="Text 28">
            <a:extLst>
              <a:ext uri="{FF2B5EF4-FFF2-40B4-BE49-F238E27FC236}">
                <a16:creationId xmlns:a16="http://schemas.microsoft.com/office/drawing/2014/main" id="{48D7E700-2F34-5ED3-7FB1-ADDF69D3315A}"/>
              </a:ext>
            </a:extLst>
          </p:cNvPr>
          <p:cNvSpPr/>
          <p:nvPr/>
        </p:nvSpPr>
        <p:spPr>
          <a:xfrm>
            <a:off x="548640" y="6473952"/>
            <a:ext cx="2743200" cy="274320"/>
          </a:xfrm>
          <a:prstGeom prst="rect">
            <a:avLst/>
          </a:prstGeom>
          <a:noFill/>
          <a:ln/>
        </p:spPr>
        <p:txBody>
          <a:bodyPr wrap="square" rtlCol="0" anchor="ctr"/>
          <a:lstStyle/>
          <a:p>
            <a:pPr marL="0" indent="0">
              <a:buNone/>
            </a:pPr>
            <a:r>
              <a:rPr lang="en-US" sz="1000" dirty="0">
                <a:solidFill>
                  <a:srgbClr val="BFD3D8"/>
                </a:solidFill>
                <a:latin typeface="Calibri" pitchFamily="34" charset="0"/>
                <a:ea typeface="Calibri" pitchFamily="34" charset="-122"/>
                <a:cs typeface="Calibri" pitchFamily="34" charset="-120"/>
              </a:rPr>
              <a:t>MediNova-AI</a:t>
            </a:r>
            <a:endParaRPr lang="en-US" sz="1000" dirty="0"/>
          </a:p>
        </p:txBody>
      </p:sp>
      <p:sp>
        <p:nvSpPr>
          <p:cNvPr id="4" name="TextBox 3">
            <a:extLst>
              <a:ext uri="{FF2B5EF4-FFF2-40B4-BE49-F238E27FC236}">
                <a16:creationId xmlns:a16="http://schemas.microsoft.com/office/drawing/2014/main" id="{0DC74168-7274-79A8-E3BF-EB8E88662923}"/>
              </a:ext>
            </a:extLst>
          </p:cNvPr>
          <p:cNvSpPr txBox="1"/>
          <p:nvPr/>
        </p:nvSpPr>
        <p:spPr>
          <a:xfrm>
            <a:off x="2590800" y="234414"/>
            <a:ext cx="7934960" cy="646331"/>
          </a:xfrm>
          <a:prstGeom prst="rect">
            <a:avLst/>
          </a:prstGeom>
          <a:noFill/>
        </p:spPr>
        <p:txBody>
          <a:bodyPr wrap="square">
            <a:spAutoFit/>
          </a:bodyPr>
          <a:lstStyle/>
          <a:p>
            <a:r>
              <a:rPr lang="en-US" sz="3600" u="sng" dirty="0">
                <a:solidFill>
                  <a:schemeClr val="bg1"/>
                </a:solidFill>
                <a:latin typeface="Times New Roman" panose="02020603050405020304" pitchFamily="18" charset="0"/>
                <a:cs typeface="Times New Roman" panose="02020603050405020304" pitchFamily="18" charset="0"/>
              </a:rPr>
              <a:t>Results of Brain Tumor Dataset</a:t>
            </a:r>
          </a:p>
        </p:txBody>
      </p:sp>
      <p:pic>
        <p:nvPicPr>
          <p:cNvPr id="5" name="Picture 4">
            <a:extLst>
              <a:ext uri="{FF2B5EF4-FFF2-40B4-BE49-F238E27FC236}">
                <a16:creationId xmlns:a16="http://schemas.microsoft.com/office/drawing/2014/main" id="{5BFB9E55-032C-861E-9F05-2841298B45F0}"/>
              </a:ext>
            </a:extLst>
          </p:cNvPr>
          <p:cNvPicPr>
            <a:picLocks noChangeAspect="1"/>
          </p:cNvPicPr>
          <p:nvPr/>
        </p:nvPicPr>
        <p:blipFill>
          <a:blip r:embed="rId3"/>
          <a:stretch>
            <a:fillRect/>
          </a:stretch>
        </p:blipFill>
        <p:spPr>
          <a:xfrm>
            <a:off x="1767841" y="1349988"/>
            <a:ext cx="8757919" cy="4329452"/>
          </a:xfrm>
          <a:prstGeom prst="rect">
            <a:avLst/>
          </a:prstGeom>
        </p:spPr>
      </p:pic>
    </p:spTree>
    <p:extLst>
      <p:ext uri="{BB962C8B-B14F-4D97-AF65-F5344CB8AC3E}">
        <p14:creationId xmlns:p14="http://schemas.microsoft.com/office/powerpoint/2010/main" val="120296028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2E3C4E"/>
        </a:solidFill>
        <a:effectLst/>
      </p:bgPr>
    </p:bg>
    <p:spTree>
      <p:nvGrpSpPr>
        <p:cNvPr id="1" name="">
          <a:extLst>
            <a:ext uri="{FF2B5EF4-FFF2-40B4-BE49-F238E27FC236}">
              <a16:creationId xmlns:a16="http://schemas.microsoft.com/office/drawing/2014/main" id="{E7967855-DBB2-7ABF-B170-6A3238792E3E}"/>
            </a:ext>
          </a:extLst>
        </p:cNvPr>
        <p:cNvGrpSpPr/>
        <p:nvPr/>
      </p:nvGrpSpPr>
      <p:grpSpPr>
        <a:xfrm>
          <a:off x="0" y="0"/>
          <a:ext cx="0" cy="0"/>
          <a:chOff x="0" y="0"/>
          <a:chExt cx="0" cy="0"/>
        </a:xfrm>
      </p:grpSpPr>
      <p:sp>
        <p:nvSpPr>
          <p:cNvPr id="3" name="Text 1">
            <a:extLst>
              <a:ext uri="{FF2B5EF4-FFF2-40B4-BE49-F238E27FC236}">
                <a16:creationId xmlns:a16="http://schemas.microsoft.com/office/drawing/2014/main" id="{0FA9CB11-C9D9-90F0-5FC3-B84F5DC6A567}"/>
              </a:ext>
            </a:extLst>
          </p:cNvPr>
          <p:cNvSpPr/>
          <p:nvPr/>
        </p:nvSpPr>
        <p:spPr>
          <a:xfrm>
            <a:off x="314960" y="147424"/>
            <a:ext cx="10789920" cy="685800"/>
          </a:xfrm>
          <a:prstGeom prst="rect">
            <a:avLst/>
          </a:prstGeom>
          <a:noFill/>
          <a:ln/>
        </p:spPr>
        <p:txBody>
          <a:bodyPr wrap="square" lIns="0" tIns="0" rIns="0" bIns="0" rtlCol="0" anchor="ctr"/>
          <a:lstStyle/>
          <a:p>
            <a:pPr algn="ctr"/>
            <a:endParaRPr lang="en-US" sz="4000" u="sng" dirty="0">
              <a:cs typeface="+mj-cs"/>
            </a:endParaRPr>
          </a:p>
        </p:txBody>
      </p:sp>
      <p:sp>
        <p:nvSpPr>
          <p:cNvPr id="29" name="Text 27">
            <a:extLst>
              <a:ext uri="{FF2B5EF4-FFF2-40B4-BE49-F238E27FC236}">
                <a16:creationId xmlns:a16="http://schemas.microsoft.com/office/drawing/2014/main" id="{BFB283A1-DC11-5F66-5C7B-1AC1E0297F6F}"/>
              </a:ext>
            </a:extLst>
          </p:cNvPr>
          <p:cNvSpPr/>
          <p:nvPr/>
        </p:nvSpPr>
        <p:spPr>
          <a:xfrm>
            <a:off x="11612880" y="6473952"/>
            <a:ext cx="457200" cy="274320"/>
          </a:xfrm>
          <a:prstGeom prst="rect">
            <a:avLst/>
          </a:prstGeom>
          <a:noFill/>
          <a:ln/>
        </p:spPr>
        <p:txBody>
          <a:bodyPr wrap="square" rtlCol="0" anchor="ctr"/>
          <a:lstStyle/>
          <a:p>
            <a:pPr marL="0" indent="0" algn="r">
              <a:buNone/>
            </a:pPr>
            <a:r>
              <a:rPr lang="en-US" sz="1000" dirty="0">
                <a:solidFill>
                  <a:srgbClr val="BFD3D8"/>
                </a:solidFill>
                <a:latin typeface="Calibri" pitchFamily="34" charset="0"/>
                <a:ea typeface="Calibri" pitchFamily="34" charset="-122"/>
                <a:cs typeface="Calibri" pitchFamily="34" charset="-120"/>
              </a:rPr>
              <a:t>07</a:t>
            </a:r>
            <a:endParaRPr lang="en-US" sz="1000" dirty="0"/>
          </a:p>
        </p:txBody>
      </p:sp>
      <p:sp>
        <p:nvSpPr>
          <p:cNvPr id="30" name="Text 28">
            <a:extLst>
              <a:ext uri="{FF2B5EF4-FFF2-40B4-BE49-F238E27FC236}">
                <a16:creationId xmlns:a16="http://schemas.microsoft.com/office/drawing/2014/main" id="{179BA5A4-0119-55D1-3593-B05D62287E1E}"/>
              </a:ext>
            </a:extLst>
          </p:cNvPr>
          <p:cNvSpPr/>
          <p:nvPr/>
        </p:nvSpPr>
        <p:spPr>
          <a:xfrm>
            <a:off x="548640" y="6473952"/>
            <a:ext cx="2743200" cy="274320"/>
          </a:xfrm>
          <a:prstGeom prst="rect">
            <a:avLst/>
          </a:prstGeom>
          <a:noFill/>
          <a:ln/>
        </p:spPr>
        <p:txBody>
          <a:bodyPr wrap="square" rtlCol="0" anchor="ctr"/>
          <a:lstStyle/>
          <a:p>
            <a:pPr marL="0" indent="0">
              <a:buNone/>
            </a:pPr>
            <a:r>
              <a:rPr lang="en-US" sz="1000" dirty="0">
                <a:solidFill>
                  <a:srgbClr val="BFD3D8"/>
                </a:solidFill>
                <a:latin typeface="Calibri" pitchFamily="34" charset="0"/>
                <a:ea typeface="Calibri" pitchFamily="34" charset="-122"/>
                <a:cs typeface="Calibri" pitchFamily="34" charset="-120"/>
              </a:rPr>
              <a:t>MediNova-AI</a:t>
            </a:r>
            <a:endParaRPr lang="en-US" sz="1000" dirty="0"/>
          </a:p>
        </p:txBody>
      </p:sp>
      <p:pic>
        <p:nvPicPr>
          <p:cNvPr id="6" name="Picture 5">
            <a:extLst>
              <a:ext uri="{FF2B5EF4-FFF2-40B4-BE49-F238E27FC236}">
                <a16:creationId xmlns:a16="http://schemas.microsoft.com/office/drawing/2014/main" id="{878E06C5-EEEA-9FC2-6E9E-C86705540F12}"/>
              </a:ext>
            </a:extLst>
          </p:cNvPr>
          <p:cNvPicPr>
            <a:picLocks noChangeAspect="1"/>
          </p:cNvPicPr>
          <p:nvPr/>
        </p:nvPicPr>
        <p:blipFill>
          <a:blip r:embed="rId3"/>
          <a:stretch>
            <a:fillRect/>
          </a:stretch>
        </p:blipFill>
        <p:spPr>
          <a:xfrm>
            <a:off x="1016000" y="436881"/>
            <a:ext cx="9357359" cy="5530532"/>
          </a:xfrm>
          <a:prstGeom prst="rect">
            <a:avLst/>
          </a:prstGeom>
        </p:spPr>
      </p:pic>
    </p:spTree>
    <p:extLst>
      <p:ext uri="{BB962C8B-B14F-4D97-AF65-F5344CB8AC3E}">
        <p14:creationId xmlns:p14="http://schemas.microsoft.com/office/powerpoint/2010/main" val="122028633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2E3C4E"/>
        </a:solidFill>
        <a:effectLst/>
      </p:bgPr>
    </p:bg>
    <p:spTree>
      <p:nvGrpSpPr>
        <p:cNvPr id="1" name="">
          <a:extLst>
            <a:ext uri="{FF2B5EF4-FFF2-40B4-BE49-F238E27FC236}">
              <a16:creationId xmlns:a16="http://schemas.microsoft.com/office/drawing/2014/main" id="{D06642A9-92E7-46CB-7D98-1C7AFEE6E8E9}"/>
            </a:ext>
          </a:extLst>
        </p:cNvPr>
        <p:cNvGrpSpPr/>
        <p:nvPr/>
      </p:nvGrpSpPr>
      <p:grpSpPr>
        <a:xfrm>
          <a:off x="0" y="0"/>
          <a:ext cx="0" cy="0"/>
          <a:chOff x="0" y="0"/>
          <a:chExt cx="0" cy="0"/>
        </a:xfrm>
      </p:grpSpPr>
      <p:sp>
        <p:nvSpPr>
          <p:cNvPr id="29" name="Text 27">
            <a:extLst>
              <a:ext uri="{FF2B5EF4-FFF2-40B4-BE49-F238E27FC236}">
                <a16:creationId xmlns:a16="http://schemas.microsoft.com/office/drawing/2014/main" id="{BFCF9B89-35BB-D0D6-8E09-B46C630E603A}"/>
              </a:ext>
            </a:extLst>
          </p:cNvPr>
          <p:cNvSpPr/>
          <p:nvPr/>
        </p:nvSpPr>
        <p:spPr>
          <a:xfrm>
            <a:off x="11612880" y="6473952"/>
            <a:ext cx="457200" cy="274320"/>
          </a:xfrm>
          <a:prstGeom prst="rect">
            <a:avLst/>
          </a:prstGeom>
          <a:noFill/>
          <a:ln/>
        </p:spPr>
        <p:txBody>
          <a:bodyPr wrap="square" rtlCol="0" anchor="ctr"/>
          <a:lstStyle/>
          <a:p>
            <a:pPr marL="0" indent="0" algn="r">
              <a:buNone/>
            </a:pPr>
            <a:r>
              <a:rPr lang="en-US" sz="1000" dirty="0">
                <a:solidFill>
                  <a:srgbClr val="BFD3D8"/>
                </a:solidFill>
                <a:latin typeface="Calibri" pitchFamily="34" charset="0"/>
                <a:ea typeface="Calibri" pitchFamily="34" charset="-122"/>
                <a:cs typeface="Calibri" pitchFamily="34" charset="-120"/>
              </a:rPr>
              <a:t>07</a:t>
            </a:r>
            <a:endParaRPr lang="en-US" sz="1000" dirty="0"/>
          </a:p>
        </p:txBody>
      </p:sp>
      <p:sp>
        <p:nvSpPr>
          <p:cNvPr id="30" name="Text 28">
            <a:extLst>
              <a:ext uri="{FF2B5EF4-FFF2-40B4-BE49-F238E27FC236}">
                <a16:creationId xmlns:a16="http://schemas.microsoft.com/office/drawing/2014/main" id="{37C4F3BD-3915-C776-D6D8-20EEDCB47E3D}"/>
              </a:ext>
            </a:extLst>
          </p:cNvPr>
          <p:cNvSpPr/>
          <p:nvPr/>
        </p:nvSpPr>
        <p:spPr>
          <a:xfrm>
            <a:off x="548640" y="6473952"/>
            <a:ext cx="2743200" cy="274320"/>
          </a:xfrm>
          <a:prstGeom prst="rect">
            <a:avLst/>
          </a:prstGeom>
          <a:noFill/>
          <a:ln/>
        </p:spPr>
        <p:txBody>
          <a:bodyPr wrap="square" rtlCol="0" anchor="ctr"/>
          <a:lstStyle/>
          <a:p>
            <a:pPr marL="0" indent="0">
              <a:buNone/>
            </a:pPr>
            <a:r>
              <a:rPr lang="en-US" sz="1000" dirty="0">
                <a:solidFill>
                  <a:srgbClr val="BFD3D8"/>
                </a:solidFill>
                <a:latin typeface="Calibri" pitchFamily="34" charset="0"/>
                <a:ea typeface="Calibri" pitchFamily="34" charset="-122"/>
                <a:cs typeface="Calibri" pitchFamily="34" charset="-120"/>
              </a:rPr>
              <a:t>MediNova-AI</a:t>
            </a:r>
            <a:endParaRPr lang="en-US" sz="1000" dirty="0"/>
          </a:p>
        </p:txBody>
      </p:sp>
      <p:sp>
        <p:nvSpPr>
          <p:cNvPr id="4" name="TextBox 3">
            <a:extLst>
              <a:ext uri="{FF2B5EF4-FFF2-40B4-BE49-F238E27FC236}">
                <a16:creationId xmlns:a16="http://schemas.microsoft.com/office/drawing/2014/main" id="{C7889462-C08A-4C36-0035-77895D2737F5}"/>
              </a:ext>
            </a:extLst>
          </p:cNvPr>
          <p:cNvSpPr txBox="1"/>
          <p:nvPr/>
        </p:nvSpPr>
        <p:spPr>
          <a:xfrm>
            <a:off x="1920240" y="538480"/>
            <a:ext cx="8605520" cy="584775"/>
          </a:xfrm>
          <a:prstGeom prst="rect">
            <a:avLst/>
          </a:prstGeom>
          <a:noFill/>
        </p:spPr>
        <p:txBody>
          <a:bodyPr wrap="square" rtlCol="0">
            <a:spAutoFit/>
          </a:bodyPr>
          <a:lstStyle/>
          <a:p>
            <a:pPr algn="ctr"/>
            <a:r>
              <a:rPr lang="en-US" sz="3200" b="1" u="sng" dirty="0">
                <a:solidFill>
                  <a:schemeClr val="bg1"/>
                </a:solidFill>
                <a:latin typeface="Times New Roman" panose="02020603050405020304" pitchFamily="18" charset="0"/>
                <a:cs typeface="Times New Roman" panose="02020603050405020304" pitchFamily="18" charset="0"/>
              </a:rPr>
              <a:t>Heart Disease Analysis Model</a:t>
            </a:r>
          </a:p>
        </p:txBody>
      </p:sp>
      <p:sp>
        <p:nvSpPr>
          <p:cNvPr id="5" name="TextBox 4">
            <a:extLst>
              <a:ext uri="{FF2B5EF4-FFF2-40B4-BE49-F238E27FC236}">
                <a16:creationId xmlns:a16="http://schemas.microsoft.com/office/drawing/2014/main" id="{F7F60F5B-08C9-5B2F-D299-52C9A9734911}"/>
              </a:ext>
            </a:extLst>
          </p:cNvPr>
          <p:cNvSpPr txBox="1"/>
          <p:nvPr/>
        </p:nvSpPr>
        <p:spPr>
          <a:xfrm>
            <a:off x="955040" y="1427690"/>
            <a:ext cx="9235440" cy="4093428"/>
          </a:xfrm>
          <a:prstGeom prst="rect">
            <a:avLst/>
          </a:prstGeom>
          <a:noFill/>
        </p:spPr>
        <p:txBody>
          <a:bodyPr wrap="square" rtlCol="0">
            <a:spAutoFit/>
          </a:bodyPr>
          <a:lstStyle/>
          <a:p>
            <a:r>
              <a:rPr lang="en-US" sz="2400" b="1" dirty="0">
                <a:solidFill>
                  <a:schemeClr val="bg1"/>
                </a:solidFill>
                <a:latin typeface="Times New Roman" panose="02020603050405020304" pitchFamily="18" charset="0"/>
                <a:cs typeface="Times New Roman" panose="02020603050405020304" pitchFamily="18" charset="0"/>
              </a:rPr>
              <a:t>Model Architecture:</a:t>
            </a:r>
            <a:r>
              <a:rPr lang="en-US" sz="2400" dirty="0">
                <a:solidFill>
                  <a:schemeClr val="bg1"/>
                </a:solidFill>
                <a:latin typeface="Times New Roman" panose="02020603050405020304" pitchFamily="18" charset="0"/>
                <a:cs typeface="Times New Roman" panose="02020603050405020304" pitchFamily="18" charset="0"/>
              </a:rPr>
              <a:t> </a:t>
            </a:r>
            <a:r>
              <a:rPr lang="en-US" sz="2000" dirty="0">
                <a:solidFill>
                  <a:schemeClr val="bg1"/>
                </a:solidFill>
              </a:rPr>
              <a:t>U-Net</a:t>
            </a:r>
            <a:endParaRPr lang="en-US" dirty="0">
              <a:solidFill>
                <a:schemeClr val="bg1"/>
              </a:solidFill>
            </a:endParaRPr>
          </a:p>
          <a:p>
            <a:r>
              <a:rPr lang="en-US" sz="2400" dirty="0">
                <a:solidFill>
                  <a:schemeClr val="bg1"/>
                </a:solidFill>
                <a:latin typeface="Times New Roman" panose="02020603050405020304" pitchFamily="18" charset="0"/>
                <a:cs typeface="Times New Roman" panose="02020603050405020304" pitchFamily="18" charset="0"/>
              </a:rPr>
              <a:t> </a:t>
            </a:r>
            <a:r>
              <a:rPr lang="en-US" sz="2400" b="1" dirty="0">
                <a:solidFill>
                  <a:schemeClr val="bg1"/>
                </a:solidFill>
                <a:latin typeface="Times New Roman" panose="02020603050405020304" pitchFamily="18" charset="0"/>
                <a:cs typeface="Times New Roman" panose="02020603050405020304" pitchFamily="18" charset="0"/>
              </a:rPr>
              <a:t>Framework:  </a:t>
            </a:r>
            <a:r>
              <a:rPr lang="en-US" sz="2000" dirty="0">
                <a:solidFill>
                  <a:schemeClr val="bg1"/>
                </a:solidFill>
              </a:rPr>
              <a:t>TensorFlow</a:t>
            </a:r>
            <a:r>
              <a:rPr lang="en-US" dirty="0">
                <a:solidFill>
                  <a:schemeClr val="bg1"/>
                </a:solidFill>
              </a:rPr>
              <a:t> </a:t>
            </a:r>
          </a:p>
          <a:p>
            <a:r>
              <a:rPr lang="en-US" sz="2400" b="1" dirty="0">
                <a:solidFill>
                  <a:schemeClr val="bg1"/>
                </a:solidFill>
                <a:latin typeface="Times New Roman" panose="02020603050405020304" pitchFamily="18" charset="0"/>
                <a:cs typeface="Times New Roman" panose="02020603050405020304" pitchFamily="18" charset="0"/>
              </a:rPr>
              <a:t>Dataset:</a:t>
            </a:r>
            <a:r>
              <a:rPr lang="en-US" sz="2400" dirty="0">
                <a:solidFill>
                  <a:schemeClr val="bg1"/>
                </a:solidFill>
                <a:latin typeface="Times New Roman" panose="02020603050405020304" pitchFamily="18" charset="0"/>
                <a:cs typeface="Times New Roman" panose="02020603050405020304" pitchFamily="18" charset="0"/>
              </a:rPr>
              <a:t> </a:t>
            </a:r>
            <a:r>
              <a:rPr lang="en-US" sz="2000" dirty="0">
                <a:solidFill>
                  <a:schemeClr val="bg1"/>
                </a:solidFill>
              </a:rPr>
              <a:t>Heart Echocardiography Dataset (13,000 images) </a:t>
            </a:r>
            <a:r>
              <a:rPr lang="en-US" sz="2000" b="1" dirty="0">
                <a:solidFill>
                  <a:schemeClr val="bg1"/>
                </a:solidFill>
              </a:rPr>
              <a:t>Input:</a:t>
            </a:r>
            <a:r>
              <a:rPr lang="en-US" sz="2000" dirty="0">
                <a:solidFill>
                  <a:schemeClr val="bg1"/>
                </a:solidFill>
              </a:rPr>
              <a:t> 128 × 128 echocardiography (Echo) images </a:t>
            </a:r>
            <a:endParaRPr lang="en-US" dirty="0">
              <a:solidFill>
                <a:schemeClr val="bg1"/>
              </a:solidFill>
            </a:endParaRPr>
          </a:p>
          <a:p>
            <a:r>
              <a:rPr lang="en-US" sz="2000" b="1" dirty="0">
                <a:solidFill>
                  <a:schemeClr val="bg1"/>
                </a:solidFill>
                <a:latin typeface="Times New Roman" panose="02020603050405020304" pitchFamily="18" charset="0"/>
                <a:cs typeface="Times New Roman" panose="02020603050405020304" pitchFamily="18" charset="0"/>
              </a:rPr>
              <a:t>Accuracy:</a:t>
            </a:r>
            <a:r>
              <a:rPr lang="en-US" sz="2000" dirty="0">
                <a:solidFill>
                  <a:schemeClr val="bg1"/>
                </a:solidFill>
                <a:latin typeface="Times New Roman" panose="02020603050405020304" pitchFamily="18" charset="0"/>
                <a:cs typeface="Times New Roman" panose="02020603050405020304" pitchFamily="18" charset="0"/>
              </a:rPr>
              <a:t> </a:t>
            </a:r>
            <a:r>
              <a:rPr lang="en-US" b="1" dirty="0">
                <a:solidFill>
                  <a:schemeClr val="bg1"/>
                </a:solidFill>
              </a:rPr>
              <a:t>97.3%</a:t>
            </a:r>
            <a:r>
              <a:rPr lang="en-US" dirty="0">
                <a:solidFill>
                  <a:schemeClr val="bg1"/>
                </a:solidFill>
              </a:rPr>
              <a:t> </a:t>
            </a:r>
          </a:p>
          <a:p>
            <a:r>
              <a:rPr lang="en-US" sz="2400" b="1" dirty="0">
                <a:solidFill>
                  <a:schemeClr val="bg1"/>
                </a:solidFill>
                <a:latin typeface="Times New Roman" panose="02020603050405020304" pitchFamily="18" charset="0"/>
                <a:cs typeface="Times New Roman" panose="02020603050405020304" pitchFamily="18" charset="0"/>
              </a:rPr>
              <a:t>Classification Classes (3):</a:t>
            </a:r>
          </a:p>
          <a:p>
            <a:pPr marL="742950" lvl="1" indent="-285750">
              <a:buFont typeface="Arial" panose="020B0604020202020204" pitchFamily="34" charset="0"/>
              <a:buChar char="•"/>
            </a:pPr>
            <a:r>
              <a:rPr lang="en-US" dirty="0">
                <a:solidFill>
                  <a:schemeClr val="bg1"/>
                </a:solidFill>
              </a:rPr>
              <a:t> </a:t>
            </a:r>
            <a:r>
              <a:rPr lang="en-US" sz="2000" dirty="0">
                <a:solidFill>
                  <a:schemeClr val="bg1"/>
                </a:solidFill>
              </a:rPr>
              <a:t>Normal </a:t>
            </a:r>
          </a:p>
          <a:p>
            <a:pPr marL="742950" lvl="1" indent="-285750">
              <a:buFont typeface="Arial" panose="020B0604020202020204" pitchFamily="34" charset="0"/>
              <a:buChar char="•"/>
            </a:pPr>
            <a:r>
              <a:rPr lang="en-US" sz="2000" dirty="0">
                <a:solidFill>
                  <a:schemeClr val="bg1"/>
                </a:solidFill>
              </a:rPr>
              <a:t>Slightly Enlarged </a:t>
            </a:r>
          </a:p>
          <a:p>
            <a:pPr marL="742950" lvl="1" indent="-285750">
              <a:buFont typeface="Arial" panose="020B0604020202020204" pitchFamily="34" charset="0"/>
              <a:buChar char="•"/>
            </a:pPr>
            <a:r>
              <a:rPr lang="en-US" sz="2000" dirty="0">
                <a:solidFill>
                  <a:schemeClr val="bg1"/>
                </a:solidFill>
              </a:rPr>
              <a:t>Abnormal </a:t>
            </a:r>
          </a:p>
          <a:p>
            <a:r>
              <a:rPr lang="en-US" sz="2400" b="1" dirty="0">
                <a:solidFill>
                  <a:schemeClr val="bg1"/>
                </a:solidFill>
                <a:latin typeface="Times New Roman" panose="02020603050405020304" pitchFamily="18" charset="0"/>
                <a:cs typeface="Times New Roman" panose="02020603050405020304" pitchFamily="18" charset="0"/>
              </a:rPr>
              <a:t>Training Challenges:</a:t>
            </a:r>
          </a:p>
          <a:p>
            <a:pPr marL="742950" lvl="1" indent="-285750">
              <a:buFont typeface="Arial" panose="020B0604020202020204" pitchFamily="34" charset="0"/>
              <a:buChar char="•"/>
            </a:pPr>
            <a:r>
              <a:rPr lang="en-US" dirty="0">
                <a:solidFill>
                  <a:schemeClr val="bg1"/>
                </a:solidFill>
              </a:rPr>
              <a:t> </a:t>
            </a:r>
            <a:r>
              <a:rPr lang="en-US" sz="2000" dirty="0">
                <a:solidFill>
                  <a:schemeClr val="bg1"/>
                </a:solidFill>
              </a:rPr>
              <a:t>Low image contrast </a:t>
            </a:r>
          </a:p>
          <a:p>
            <a:pPr marL="742950" lvl="1" indent="-285750">
              <a:buFont typeface="Arial" panose="020B0604020202020204" pitchFamily="34" charset="0"/>
              <a:buChar char="•"/>
            </a:pPr>
            <a:r>
              <a:rPr lang="en-US" sz="2000" dirty="0">
                <a:solidFill>
                  <a:schemeClr val="bg1"/>
                </a:solidFill>
              </a:rPr>
              <a:t>Variability in heart anatomy and image quality</a:t>
            </a:r>
          </a:p>
        </p:txBody>
      </p:sp>
    </p:spTree>
    <p:extLst>
      <p:ext uri="{BB962C8B-B14F-4D97-AF65-F5344CB8AC3E}">
        <p14:creationId xmlns:p14="http://schemas.microsoft.com/office/powerpoint/2010/main" val="213004514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2E3C4E"/>
        </a:solidFill>
        <a:effectLst/>
      </p:bgPr>
    </p:bg>
    <p:spTree>
      <p:nvGrpSpPr>
        <p:cNvPr id="1" name="">
          <a:extLst>
            <a:ext uri="{FF2B5EF4-FFF2-40B4-BE49-F238E27FC236}">
              <a16:creationId xmlns:a16="http://schemas.microsoft.com/office/drawing/2014/main" id="{B595A611-04CB-BFBB-B612-F9559D7F5AD2}"/>
            </a:ext>
          </a:extLst>
        </p:cNvPr>
        <p:cNvGrpSpPr/>
        <p:nvPr/>
      </p:nvGrpSpPr>
      <p:grpSpPr>
        <a:xfrm>
          <a:off x="0" y="0"/>
          <a:ext cx="0" cy="0"/>
          <a:chOff x="0" y="0"/>
          <a:chExt cx="0" cy="0"/>
        </a:xfrm>
      </p:grpSpPr>
      <p:sp>
        <p:nvSpPr>
          <p:cNvPr id="29" name="Text 27">
            <a:extLst>
              <a:ext uri="{FF2B5EF4-FFF2-40B4-BE49-F238E27FC236}">
                <a16:creationId xmlns:a16="http://schemas.microsoft.com/office/drawing/2014/main" id="{BD99B9D5-DD51-D563-7F89-A269A9639299}"/>
              </a:ext>
            </a:extLst>
          </p:cNvPr>
          <p:cNvSpPr/>
          <p:nvPr/>
        </p:nvSpPr>
        <p:spPr>
          <a:xfrm>
            <a:off x="11612880" y="6473952"/>
            <a:ext cx="457200" cy="274320"/>
          </a:xfrm>
          <a:prstGeom prst="rect">
            <a:avLst/>
          </a:prstGeom>
          <a:noFill/>
          <a:ln/>
        </p:spPr>
        <p:txBody>
          <a:bodyPr wrap="square" rtlCol="0" anchor="ctr"/>
          <a:lstStyle/>
          <a:p>
            <a:pPr marL="0" indent="0" algn="r">
              <a:buNone/>
            </a:pPr>
            <a:r>
              <a:rPr lang="en-US" sz="1000" dirty="0">
                <a:solidFill>
                  <a:srgbClr val="BFD3D8"/>
                </a:solidFill>
                <a:latin typeface="Calibri" pitchFamily="34" charset="0"/>
                <a:ea typeface="Calibri" pitchFamily="34" charset="-122"/>
                <a:cs typeface="Calibri" pitchFamily="34" charset="-120"/>
              </a:rPr>
              <a:t>07</a:t>
            </a:r>
            <a:endParaRPr lang="en-US" sz="1000" dirty="0"/>
          </a:p>
        </p:txBody>
      </p:sp>
      <p:sp>
        <p:nvSpPr>
          <p:cNvPr id="30" name="Text 28">
            <a:extLst>
              <a:ext uri="{FF2B5EF4-FFF2-40B4-BE49-F238E27FC236}">
                <a16:creationId xmlns:a16="http://schemas.microsoft.com/office/drawing/2014/main" id="{E0021191-48E3-2C8A-D686-62E6F386306B}"/>
              </a:ext>
            </a:extLst>
          </p:cNvPr>
          <p:cNvSpPr/>
          <p:nvPr/>
        </p:nvSpPr>
        <p:spPr>
          <a:xfrm>
            <a:off x="548640" y="6473952"/>
            <a:ext cx="2743200" cy="274320"/>
          </a:xfrm>
          <a:prstGeom prst="rect">
            <a:avLst/>
          </a:prstGeom>
          <a:noFill/>
          <a:ln/>
        </p:spPr>
        <p:txBody>
          <a:bodyPr wrap="square" rtlCol="0" anchor="ctr"/>
          <a:lstStyle/>
          <a:p>
            <a:pPr marL="0" indent="0">
              <a:buNone/>
            </a:pPr>
            <a:r>
              <a:rPr lang="en-US" sz="1000" dirty="0">
                <a:solidFill>
                  <a:srgbClr val="BFD3D8"/>
                </a:solidFill>
                <a:latin typeface="Calibri" pitchFamily="34" charset="0"/>
                <a:ea typeface="Calibri" pitchFamily="34" charset="-122"/>
                <a:cs typeface="Calibri" pitchFamily="34" charset="-120"/>
              </a:rPr>
              <a:t>MediNova-AI</a:t>
            </a:r>
            <a:endParaRPr lang="en-US" sz="1000" dirty="0"/>
          </a:p>
        </p:txBody>
      </p:sp>
      <p:sp>
        <p:nvSpPr>
          <p:cNvPr id="4" name="TextBox 3">
            <a:extLst>
              <a:ext uri="{FF2B5EF4-FFF2-40B4-BE49-F238E27FC236}">
                <a16:creationId xmlns:a16="http://schemas.microsoft.com/office/drawing/2014/main" id="{DA1B23DE-8C51-91CD-EA57-D809CC06B3DC}"/>
              </a:ext>
            </a:extLst>
          </p:cNvPr>
          <p:cNvSpPr txBox="1"/>
          <p:nvPr/>
        </p:nvSpPr>
        <p:spPr>
          <a:xfrm>
            <a:off x="1920240" y="538480"/>
            <a:ext cx="8605520" cy="584775"/>
          </a:xfrm>
          <a:prstGeom prst="rect">
            <a:avLst/>
          </a:prstGeom>
          <a:noFill/>
        </p:spPr>
        <p:txBody>
          <a:bodyPr wrap="square" rtlCol="0">
            <a:spAutoFit/>
          </a:bodyPr>
          <a:lstStyle/>
          <a:p>
            <a:pPr algn="ctr"/>
            <a:r>
              <a:rPr lang="en-US" sz="3200" b="1" u="sng" dirty="0" err="1">
                <a:solidFill>
                  <a:schemeClr val="bg1"/>
                </a:solidFill>
                <a:latin typeface="Times New Roman" panose="02020603050405020304" pitchFamily="18" charset="0"/>
                <a:cs typeface="Times New Roman" panose="02020603050405020304" pitchFamily="18" charset="0"/>
              </a:rPr>
              <a:t>Resulte</a:t>
            </a:r>
            <a:r>
              <a:rPr lang="en-US" sz="3200" b="1" u="sng" dirty="0">
                <a:solidFill>
                  <a:schemeClr val="bg1"/>
                </a:solidFill>
                <a:latin typeface="Times New Roman" panose="02020603050405020304" pitchFamily="18" charset="0"/>
                <a:cs typeface="Times New Roman" panose="02020603050405020304" pitchFamily="18" charset="0"/>
              </a:rPr>
              <a:t> of Heart Disease dataset</a:t>
            </a:r>
          </a:p>
        </p:txBody>
      </p:sp>
      <p:pic>
        <p:nvPicPr>
          <p:cNvPr id="7" name="Picture 6">
            <a:extLst>
              <a:ext uri="{FF2B5EF4-FFF2-40B4-BE49-F238E27FC236}">
                <a16:creationId xmlns:a16="http://schemas.microsoft.com/office/drawing/2014/main" id="{1B16F562-8709-F54D-AE8E-4DFEB5B5D338}"/>
              </a:ext>
            </a:extLst>
          </p:cNvPr>
          <p:cNvPicPr>
            <a:picLocks noChangeAspect="1"/>
          </p:cNvPicPr>
          <p:nvPr/>
        </p:nvPicPr>
        <p:blipFill>
          <a:blip r:embed="rId3"/>
          <a:stretch>
            <a:fillRect/>
          </a:stretch>
        </p:blipFill>
        <p:spPr>
          <a:xfrm>
            <a:off x="1920240" y="1237297"/>
            <a:ext cx="8605520" cy="4838383"/>
          </a:xfrm>
          <a:prstGeom prst="rect">
            <a:avLst/>
          </a:prstGeom>
        </p:spPr>
      </p:pic>
    </p:spTree>
    <p:extLst>
      <p:ext uri="{BB962C8B-B14F-4D97-AF65-F5344CB8AC3E}">
        <p14:creationId xmlns:p14="http://schemas.microsoft.com/office/powerpoint/2010/main" val="324671058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2E3C4E"/>
        </a:solidFill>
        <a:effectLst/>
      </p:bgPr>
    </p:bg>
    <p:spTree>
      <p:nvGrpSpPr>
        <p:cNvPr id="1" name="">
          <a:extLst>
            <a:ext uri="{FF2B5EF4-FFF2-40B4-BE49-F238E27FC236}">
              <a16:creationId xmlns:a16="http://schemas.microsoft.com/office/drawing/2014/main" id="{084B7D8F-D682-7D7A-2AA9-374B0FFDF049}"/>
            </a:ext>
          </a:extLst>
        </p:cNvPr>
        <p:cNvGrpSpPr/>
        <p:nvPr/>
      </p:nvGrpSpPr>
      <p:grpSpPr>
        <a:xfrm>
          <a:off x="0" y="0"/>
          <a:ext cx="0" cy="0"/>
          <a:chOff x="0" y="0"/>
          <a:chExt cx="0" cy="0"/>
        </a:xfrm>
      </p:grpSpPr>
      <p:sp>
        <p:nvSpPr>
          <p:cNvPr id="29" name="Text 27">
            <a:extLst>
              <a:ext uri="{FF2B5EF4-FFF2-40B4-BE49-F238E27FC236}">
                <a16:creationId xmlns:a16="http://schemas.microsoft.com/office/drawing/2014/main" id="{20FE8421-6D1F-97C8-F801-AD344CF14C81}"/>
              </a:ext>
            </a:extLst>
          </p:cNvPr>
          <p:cNvSpPr/>
          <p:nvPr/>
        </p:nvSpPr>
        <p:spPr>
          <a:xfrm>
            <a:off x="11612880" y="6473952"/>
            <a:ext cx="457200" cy="274320"/>
          </a:xfrm>
          <a:prstGeom prst="rect">
            <a:avLst/>
          </a:prstGeom>
          <a:noFill/>
          <a:ln/>
        </p:spPr>
        <p:txBody>
          <a:bodyPr wrap="square" rtlCol="0" anchor="ctr"/>
          <a:lstStyle/>
          <a:p>
            <a:pPr marL="0" indent="0" algn="r">
              <a:buNone/>
            </a:pPr>
            <a:r>
              <a:rPr lang="en-US" sz="1000" dirty="0">
                <a:solidFill>
                  <a:srgbClr val="BFD3D8"/>
                </a:solidFill>
                <a:latin typeface="Calibri" pitchFamily="34" charset="0"/>
                <a:ea typeface="Calibri" pitchFamily="34" charset="-122"/>
                <a:cs typeface="Calibri" pitchFamily="34" charset="-120"/>
              </a:rPr>
              <a:t>07</a:t>
            </a:r>
            <a:endParaRPr lang="en-US" sz="1000" dirty="0"/>
          </a:p>
        </p:txBody>
      </p:sp>
      <p:sp>
        <p:nvSpPr>
          <p:cNvPr id="30" name="Text 28">
            <a:extLst>
              <a:ext uri="{FF2B5EF4-FFF2-40B4-BE49-F238E27FC236}">
                <a16:creationId xmlns:a16="http://schemas.microsoft.com/office/drawing/2014/main" id="{A3C4CC1B-E7D4-9E2A-478A-9B0B99A49CEC}"/>
              </a:ext>
            </a:extLst>
          </p:cNvPr>
          <p:cNvSpPr/>
          <p:nvPr/>
        </p:nvSpPr>
        <p:spPr>
          <a:xfrm>
            <a:off x="548640" y="6473952"/>
            <a:ext cx="2743200" cy="274320"/>
          </a:xfrm>
          <a:prstGeom prst="rect">
            <a:avLst/>
          </a:prstGeom>
          <a:noFill/>
          <a:ln/>
        </p:spPr>
        <p:txBody>
          <a:bodyPr wrap="square" rtlCol="0" anchor="ctr"/>
          <a:lstStyle/>
          <a:p>
            <a:pPr marL="0" indent="0">
              <a:buNone/>
            </a:pPr>
            <a:r>
              <a:rPr lang="en-US" sz="1000" dirty="0">
                <a:solidFill>
                  <a:srgbClr val="BFD3D8"/>
                </a:solidFill>
                <a:latin typeface="Calibri" pitchFamily="34" charset="0"/>
                <a:ea typeface="Calibri" pitchFamily="34" charset="-122"/>
                <a:cs typeface="Calibri" pitchFamily="34" charset="-120"/>
              </a:rPr>
              <a:t>MediNova-AI</a:t>
            </a:r>
            <a:endParaRPr lang="en-US" sz="1000" dirty="0"/>
          </a:p>
        </p:txBody>
      </p:sp>
      <p:sp>
        <p:nvSpPr>
          <p:cNvPr id="4" name="TextBox 3">
            <a:extLst>
              <a:ext uri="{FF2B5EF4-FFF2-40B4-BE49-F238E27FC236}">
                <a16:creationId xmlns:a16="http://schemas.microsoft.com/office/drawing/2014/main" id="{2309FC1C-E126-6A57-5ED5-D9C084CDE846}"/>
              </a:ext>
            </a:extLst>
          </p:cNvPr>
          <p:cNvSpPr txBox="1"/>
          <p:nvPr/>
        </p:nvSpPr>
        <p:spPr>
          <a:xfrm>
            <a:off x="1793240" y="246092"/>
            <a:ext cx="8605520" cy="584775"/>
          </a:xfrm>
          <a:prstGeom prst="rect">
            <a:avLst/>
          </a:prstGeom>
          <a:noFill/>
        </p:spPr>
        <p:txBody>
          <a:bodyPr wrap="square" rtlCol="0">
            <a:spAutoFit/>
          </a:bodyPr>
          <a:lstStyle/>
          <a:p>
            <a:pPr algn="ctr"/>
            <a:r>
              <a:rPr lang="en-US" sz="3200" b="1" u="sng" dirty="0">
                <a:solidFill>
                  <a:schemeClr val="bg1"/>
                </a:solidFill>
                <a:latin typeface="Times New Roman" panose="02020603050405020304" pitchFamily="18" charset="0"/>
                <a:cs typeface="Times New Roman" panose="02020603050405020304" pitchFamily="18" charset="0"/>
              </a:rPr>
              <a:t>Chest X-Ray Disease Classification Model</a:t>
            </a:r>
          </a:p>
        </p:txBody>
      </p:sp>
      <p:sp>
        <p:nvSpPr>
          <p:cNvPr id="5" name="TextBox 4">
            <a:extLst>
              <a:ext uri="{FF2B5EF4-FFF2-40B4-BE49-F238E27FC236}">
                <a16:creationId xmlns:a16="http://schemas.microsoft.com/office/drawing/2014/main" id="{E21E2F70-B5E4-E109-A864-06ACDEBFAF18}"/>
              </a:ext>
            </a:extLst>
          </p:cNvPr>
          <p:cNvSpPr txBox="1"/>
          <p:nvPr/>
        </p:nvSpPr>
        <p:spPr>
          <a:xfrm>
            <a:off x="833120" y="1031815"/>
            <a:ext cx="11135360" cy="5940088"/>
          </a:xfrm>
          <a:prstGeom prst="rect">
            <a:avLst/>
          </a:prstGeom>
          <a:noFill/>
        </p:spPr>
        <p:txBody>
          <a:bodyPr wrap="square" rtlCol="0">
            <a:spAutoFit/>
          </a:bodyPr>
          <a:lstStyle/>
          <a:p>
            <a:r>
              <a:rPr lang="en-US" sz="2400" b="1" dirty="0">
                <a:solidFill>
                  <a:schemeClr val="bg1"/>
                </a:solidFill>
              </a:rPr>
              <a:t>Model Architecture:</a:t>
            </a:r>
            <a:endParaRPr lang="ar-SA" sz="2400" b="1" dirty="0">
              <a:solidFill>
                <a:schemeClr val="bg1"/>
              </a:solidFill>
            </a:endParaRPr>
          </a:p>
          <a:p>
            <a:r>
              <a:rPr lang="en-US" sz="2400" dirty="0">
                <a:solidFill>
                  <a:schemeClr val="bg1"/>
                </a:solidFill>
              </a:rPr>
              <a:t> ResNet152 + EfficientNetB5 + Attention Mechanism </a:t>
            </a:r>
            <a:endParaRPr lang="ar-SA" sz="2400" dirty="0">
              <a:solidFill>
                <a:schemeClr val="bg1"/>
              </a:solidFill>
            </a:endParaRPr>
          </a:p>
          <a:p>
            <a:r>
              <a:rPr lang="en-US" sz="2400" b="1" dirty="0">
                <a:solidFill>
                  <a:schemeClr val="bg1"/>
                </a:solidFill>
              </a:rPr>
              <a:t>Framework:</a:t>
            </a:r>
            <a:r>
              <a:rPr lang="en-US" sz="2400" dirty="0">
                <a:solidFill>
                  <a:schemeClr val="bg1"/>
                </a:solidFill>
              </a:rPr>
              <a:t> </a:t>
            </a:r>
            <a:r>
              <a:rPr lang="en-US" sz="2400" dirty="0" err="1">
                <a:solidFill>
                  <a:schemeClr val="bg1"/>
                </a:solidFill>
              </a:rPr>
              <a:t>PyTorch</a:t>
            </a:r>
            <a:endParaRPr lang="ar-SA" sz="2400" dirty="0">
              <a:solidFill>
                <a:schemeClr val="bg1"/>
              </a:solidFill>
            </a:endParaRPr>
          </a:p>
          <a:p>
            <a:r>
              <a:rPr lang="en-US" sz="2400" dirty="0">
                <a:solidFill>
                  <a:schemeClr val="bg1"/>
                </a:solidFill>
              </a:rPr>
              <a:t> </a:t>
            </a:r>
            <a:r>
              <a:rPr lang="en-US" sz="2400" b="1" dirty="0">
                <a:solidFill>
                  <a:schemeClr val="bg1"/>
                </a:solidFill>
              </a:rPr>
              <a:t>Dataset:</a:t>
            </a:r>
            <a:r>
              <a:rPr lang="en-US" sz="2400" dirty="0">
                <a:solidFill>
                  <a:schemeClr val="bg1"/>
                </a:solidFill>
              </a:rPr>
              <a:t> Chest X-Ray Dataset (22,000 images) </a:t>
            </a:r>
            <a:r>
              <a:rPr lang="en-US" sz="2400" b="1" dirty="0">
                <a:solidFill>
                  <a:schemeClr val="bg1"/>
                </a:solidFill>
              </a:rPr>
              <a:t>Input:</a:t>
            </a:r>
            <a:r>
              <a:rPr lang="en-US" sz="2400" dirty="0">
                <a:solidFill>
                  <a:schemeClr val="bg1"/>
                </a:solidFill>
              </a:rPr>
              <a:t> 224 × 224 Chest X-ray images </a:t>
            </a:r>
            <a:endParaRPr lang="ar-SA" sz="2400" dirty="0">
              <a:solidFill>
                <a:schemeClr val="bg1"/>
              </a:solidFill>
            </a:endParaRPr>
          </a:p>
          <a:p>
            <a:r>
              <a:rPr lang="en-US" sz="2400" b="1" dirty="0">
                <a:solidFill>
                  <a:schemeClr val="bg1"/>
                </a:solidFill>
              </a:rPr>
              <a:t>Accuracy:</a:t>
            </a:r>
            <a:r>
              <a:rPr lang="en-US" sz="2400" dirty="0">
                <a:solidFill>
                  <a:schemeClr val="bg1"/>
                </a:solidFill>
              </a:rPr>
              <a:t> </a:t>
            </a:r>
            <a:r>
              <a:rPr lang="en-US" sz="2400" b="1" dirty="0">
                <a:solidFill>
                  <a:schemeClr val="bg1"/>
                </a:solidFill>
              </a:rPr>
              <a:t>96.9%</a:t>
            </a:r>
            <a:r>
              <a:rPr lang="en-US" sz="2400" dirty="0">
                <a:solidFill>
                  <a:schemeClr val="bg1"/>
                </a:solidFill>
              </a:rPr>
              <a:t> </a:t>
            </a:r>
            <a:endParaRPr lang="ar-SA" sz="2400" dirty="0">
              <a:solidFill>
                <a:schemeClr val="bg1"/>
              </a:solidFill>
            </a:endParaRPr>
          </a:p>
          <a:p>
            <a:r>
              <a:rPr lang="en-US" sz="2400" b="1" dirty="0">
                <a:solidFill>
                  <a:schemeClr val="bg1"/>
                </a:solidFill>
              </a:rPr>
              <a:t>Classification Classes (6):</a:t>
            </a:r>
            <a:endParaRPr lang="ar-SA" sz="2400" b="1" dirty="0">
              <a:solidFill>
                <a:schemeClr val="bg1"/>
              </a:solidFill>
            </a:endParaRPr>
          </a:p>
          <a:p>
            <a:pPr marL="800100" lvl="1" indent="-342900">
              <a:buFont typeface="Arial" panose="020B0604020202020204" pitchFamily="34" charset="0"/>
              <a:buChar char="•"/>
            </a:pPr>
            <a:r>
              <a:rPr lang="en-US" sz="2400" dirty="0">
                <a:solidFill>
                  <a:schemeClr val="bg1"/>
                </a:solidFill>
              </a:rPr>
              <a:t> COVID-19 </a:t>
            </a:r>
          </a:p>
          <a:p>
            <a:pPr marL="800100" lvl="1" indent="-342900">
              <a:buFont typeface="Arial" panose="020B0604020202020204" pitchFamily="34" charset="0"/>
              <a:buChar char="•"/>
            </a:pPr>
            <a:r>
              <a:rPr lang="en-US" sz="2400" dirty="0">
                <a:solidFill>
                  <a:schemeClr val="bg1"/>
                </a:solidFill>
              </a:rPr>
              <a:t>Viral Pneumonia </a:t>
            </a:r>
          </a:p>
          <a:p>
            <a:pPr marL="800100" lvl="1" indent="-342900">
              <a:buFont typeface="Arial" panose="020B0604020202020204" pitchFamily="34" charset="0"/>
              <a:buChar char="•"/>
            </a:pPr>
            <a:r>
              <a:rPr lang="en-US" sz="2400" dirty="0">
                <a:solidFill>
                  <a:schemeClr val="bg1"/>
                </a:solidFill>
              </a:rPr>
              <a:t>Bacterial Pneumonia </a:t>
            </a:r>
          </a:p>
          <a:p>
            <a:pPr marL="800100" lvl="1" indent="-342900">
              <a:buFont typeface="Arial" panose="020B0604020202020204" pitchFamily="34" charset="0"/>
              <a:buChar char="•"/>
            </a:pPr>
            <a:r>
              <a:rPr lang="en-US" sz="2400" dirty="0">
                <a:solidFill>
                  <a:schemeClr val="bg1"/>
                </a:solidFill>
              </a:rPr>
              <a:t>Tuberculosis (TB) </a:t>
            </a:r>
          </a:p>
          <a:p>
            <a:pPr marL="800100" lvl="1" indent="-342900">
              <a:buFont typeface="Arial" panose="020B0604020202020204" pitchFamily="34" charset="0"/>
              <a:buChar char="•"/>
            </a:pPr>
            <a:r>
              <a:rPr lang="en-US" sz="2400" dirty="0">
                <a:solidFill>
                  <a:schemeClr val="bg1"/>
                </a:solidFill>
              </a:rPr>
              <a:t>Emphysema </a:t>
            </a:r>
          </a:p>
          <a:p>
            <a:pPr marL="800100" lvl="1" indent="-342900">
              <a:buFont typeface="Arial" panose="020B0604020202020204" pitchFamily="34" charset="0"/>
              <a:buChar char="•"/>
            </a:pPr>
            <a:r>
              <a:rPr lang="en-US" sz="2400" dirty="0">
                <a:solidFill>
                  <a:schemeClr val="bg1"/>
                </a:solidFill>
              </a:rPr>
              <a:t>Normal </a:t>
            </a:r>
          </a:p>
          <a:p>
            <a:r>
              <a:rPr lang="en-US" sz="2400" b="1" dirty="0">
                <a:solidFill>
                  <a:schemeClr val="bg1"/>
                </a:solidFill>
              </a:rPr>
              <a:t>Training Challenges:</a:t>
            </a:r>
            <a:endParaRPr lang="ar-SA" sz="2400" b="1" dirty="0">
              <a:solidFill>
                <a:schemeClr val="bg1"/>
              </a:solidFill>
            </a:endParaRPr>
          </a:p>
          <a:p>
            <a:pPr marL="800100" lvl="1" indent="-342900">
              <a:buFont typeface="Arial" panose="020B0604020202020204" pitchFamily="34" charset="0"/>
              <a:buChar char="•"/>
            </a:pPr>
            <a:r>
              <a:rPr lang="en-US" sz="2400" dirty="0">
                <a:solidFill>
                  <a:schemeClr val="bg1"/>
                </a:solidFill>
              </a:rPr>
              <a:t> Large model complexity </a:t>
            </a:r>
          </a:p>
          <a:p>
            <a:pPr marL="800100" lvl="1" indent="-342900">
              <a:buFont typeface="Arial" panose="020B0604020202020204" pitchFamily="34" charset="0"/>
              <a:buChar char="•"/>
            </a:pPr>
            <a:r>
              <a:rPr lang="en-US" sz="2400" dirty="0">
                <a:solidFill>
                  <a:schemeClr val="bg1"/>
                </a:solidFill>
              </a:rPr>
              <a:t>Class imbalance</a:t>
            </a:r>
          </a:p>
          <a:p>
            <a:pPr marL="742950" lvl="1" indent="-285750">
              <a:buFont typeface="Arial" panose="020B0604020202020204" pitchFamily="34" charset="0"/>
              <a:buChar char="•"/>
            </a:pPr>
            <a:endParaRPr lang="en-US" sz="2000" dirty="0">
              <a:solidFill>
                <a:schemeClr val="bg1"/>
              </a:solidFill>
            </a:endParaRPr>
          </a:p>
        </p:txBody>
      </p:sp>
    </p:spTree>
    <p:extLst>
      <p:ext uri="{BB962C8B-B14F-4D97-AF65-F5344CB8AC3E}">
        <p14:creationId xmlns:p14="http://schemas.microsoft.com/office/powerpoint/2010/main" val="51213105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2E3C4E"/>
        </a:solidFill>
        <a:effectLst/>
      </p:bgPr>
    </p:bg>
    <p:spTree>
      <p:nvGrpSpPr>
        <p:cNvPr id="1" name="">
          <a:extLst>
            <a:ext uri="{FF2B5EF4-FFF2-40B4-BE49-F238E27FC236}">
              <a16:creationId xmlns:a16="http://schemas.microsoft.com/office/drawing/2014/main" id="{477B2BE3-7FD7-4DD0-7072-EA6ACADF4BD1}"/>
            </a:ext>
          </a:extLst>
        </p:cNvPr>
        <p:cNvGrpSpPr/>
        <p:nvPr/>
      </p:nvGrpSpPr>
      <p:grpSpPr>
        <a:xfrm>
          <a:off x="0" y="0"/>
          <a:ext cx="0" cy="0"/>
          <a:chOff x="0" y="0"/>
          <a:chExt cx="0" cy="0"/>
        </a:xfrm>
      </p:grpSpPr>
      <p:sp>
        <p:nvSpPr>
          <p:cNvPr id="29" name="Text 27">
            <a:extLst>
              <a:ext uri="{FF2B5EF4-FFF2-40B4-BE49-F238E27FC236}">
                <a16:creationId xmlns:a16="http://schemas.microsoft.com/office/drawing/2014/main" id="{87A14D2B-2B75-D2B9-F8C9-72539E84D373}"/>
              </a:ext>
            </a:extLst>
          </p:cNvPr>
          <p:cNvSpPr/>
          <p:nvPr/>
        </p:nvSpPr>
        <p:spPr>
          <a:xfrm>
            <a:off x="11612880" y="6473952"/>
            <a:ext cx="457200" cy="274320"/>
          </a:xfrm>
          <a:prstGeom prst="rect">
            <a:avLst/>
          </a:prstGeom>
          <a:noFill/>
          <a:ln/>
        </p:spPr>
        <p:txBody>
          <a:bodyPr wrap="square" rtlCol="0" anchor="ctr"/>
          <a:lstStyle/>
          <a:p>
            <a:pPr marL="0" indent="0" algn="r">
              <a:buNone/>
            </a:pPr>
            <a:r>
              <a:rPr lang="en-US" sz="1000" dirty="0">
                <a:solidFill>
                  <a:srgbClr val="BFD3D8"/>
                </a:solidFill>
                <a:latin typeface="Calibri" pitchFamily="34" charset="0"/>
                <a:ea typeface="Calibri" pitchFamily="34" charset="-122"/>
                <a:cs typeface="Calibri" pitchFamily="34" charset="-120"/>
              </a:rPr>
              <a:t>07</a:t>
            </a:r>
            <a:endParaRPr lang="en-US" sz="1000" dirty="0"/>
          </a:p>
        </p:txBody>
      </p:sp>
      <p:sp>
        <p:nvSpPr>
          <p:cNvPr id="30" name="Text 28">
            <a:extLst>
              <a:ext uri="{FF2B5EF4-FFF2-40B4-BE49-F238E27FC236}">
                <a16:creationId xmlns:a16="http://schemas.microsoft.com/office/drawing/2014/main" id="{6244196D-EB45-6105-EF44-0129789B401F}"/>
              </a:ext>
            </a:extLst>
          </p:cNvPr>
          <p:cNvSpPr/>
          <p:nvPr/>
        </p:nvSpPr>
        <p:spPr>
          <a:xfrm>
            <a:off x="548640" y="6473952"/>
            <a:ext cx="2743200" cy="274320"/>
          </a:xfrm>
          <a:prstGeom prst="rect">
            <a:avLst/>
          </a:prstGeom>
          <a:noFill/>
          <a:ln/>
        </p:spPr>
        <p:txBody>
          <a:bodyPr wrap="square" rtlCol="0" anchor="ctr"/>
          <a:lstStyle/>
          <a:p>
            <a:pPr marL="0" indent="0">
              <a:buNone/>
            </a:pPr>
            <a:r>
              <a:rPr lang="en-US" sz="1000" dirty="0">
                <a:solidFill>
                  <a:srgbClr val="BFD3D8"/>
                </a:solidFill>
                <a:latin typeface="Calibri" pitchFamily="34" charset="0"/>
                <a:ea typeface="Calibri" pitchFamily="34" charset="-122"/>
                <a:cs typeface="Calibri" pitchFamily="34" charset="-120"/>
              </a:rPr>
              <a:t>MediNova-AI</a:t>
            </a:r>
            <a:endParaRPr lang="en-US" sz="1000" dirty="0"/>
          </a:p>
        </p:txBody>
      </p:sp>
      <p:sp>
        <p:nvSpPr>
          <p:cNvPr id="4" name="TextBox 3">
            <a:extLst>
              <a:ext uri="{FF2B5EF4-FFF2-40B4-BE49-F238E27FC236}">
                <a16:creationId xmlns:a16="http://schemas.microsoft.com/office/drawing/2014/main" id="{1B643BEF-7050-2921-BF83-749B2786154A}"/>
              </a:ext>
            </a:extLst>
          </p:cNvPr>
          <p:cNvSpPr txBox="1"/>
          <p:nvPr/>
        </p:nvSpPr>
        <p:spPr>
          <a:xfrm>
            <a:off x="1793240" y="246092"/>
            <a:ext cx="8605520" cy="1077218"/>
          </a:xfrm>
          <a:prstGeom prst="rect">
            <a:avLst/>
          </a:prstGeom>
          <a:noFill/>
        </p:spPr>
        <p:txBody>
          <a:bodyPr wrap="square" rtlCol="0">
            <a:spAutoFit/>
          </a:bodyPr>
          <a:lstStyle/>
          <a:p>
            <a:pPr algn="ctr"/>
            <a:r>
              <a:rPr lang="en-US" sz="3200" b="1" u="sng" dirty="0">
                <a:solidFill>
                  <a:schemeClr val="bg1"/>
                </a:solidFill>
                <a:latin typeface="Times New Roman" panose="02020603050405020304" pitchFamily="18" charset="0"/>
                <a:cs typeface="Times New Roman" panose="02020603050405020304" pitchFamily="18" charset="0"/>
              </a:rPr>
              <a:t>Sample Chest X-Ray of Disease Classification dataset</a:t>
            </a:r>
          </a:p>
        </p:txBody>
      </p:sp>
      <p:pic>
        <p:nvPicPr>
          <p:cNvPr id="3" name="Picture 2">
            <a:extLst>
              <a:ext uri="{FF2B5EF4-FFF2-40B4-BE49-F238E27FC236}">
                <a16:creationId xmlns:a16="http://schemas.microsoft.com/office/drawing/2014/main" id="{83DA7D7F-CB8D-32A4-BB3C-7B8F8B1C4428}"/>
              </a:ext>
            </a:extLst>
          </p:cNvPr>
          <p:cNvPicPr>
            <a:picLocks noChangeAspect="1"/>
          </p:cNvPicPr>
          <p:nvPr/>
        </p:nvPicPr>
        <p:blipFill>
          <a:blip r:embed="rId3"/>
          <a:stretch>
            <a:fillRect/>
          </a:stretch>
        </p:blipFill>
        <p:spPr>
          <a:xfrm>
            <a:off x="2062480" y="1537518"/>
            <a:ext cx="7569200" cy="4722225"/>
          </a:xfrm>
          <a:prstGeom prst="rect">
            <a:avLst/>
          </a:prstGeom>
        </p:spPr>
      </p:pic>
    </p:spTree>
    <p:extLst>
      <p:ext uri="{BB962C8B-B14F-4D97-AF65-F5344CB8AC3E}">
        <p14:creationId xmlns:p14="http://schemas.microsoft.com/office/powerpoint/2010/main" val="245392472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2E3C4E"/>
        </a:solidFill>
        <a:effectLst/>
      </p:bgPr>
    </p:bg>
    <p:spTree>
      <p:nvGrpSpPr>
        <p:cNvPr id="1" name="">
          <a:extLst>
            <a:ext uri="{FF2B5EF4-FFF2-40B4-BE49-F238E27FC236}">
              <a16:creationId xmlns:a16="http://schemas.microsoft.com/office/drawing/2014/main" id="{D2748995-007D-D5CB-70DF-9CC48315F692}"/>
            </a:ext>
          </a:extLst>
        </p:cNvPr>
        <p:cNvGrpSpPr/>
        <p:nvPr/>
      </p:nvGrpSpPr>
      <p:grpSpPr>
        <a:xfrm>
          <a:off x="0" y="0"/>
          <a:ext cx="0" cy="0"/>
          <a:chOff x="0" y="0"/>
          <a:chExt cx="0" cy="0"/>
        </a:xfrm>
      </p:grpSpPr>
      <p:sp>
        <p:nvSpPr>
          <p:cNvPr id="29" name="Text 27">
            <a:extLst>
              <a:ext uri="{FF2B5EF4-FFF2-40B4-BE49-F238E27FC236}">
                <a16:creationId xmlns:a16="http://schemas.microsoft.com/office/drawing/2014/main" id="{26A201AF-78AB-26A0-6276-9F32F68E9724}"/>
              </a:ext>
            </a:extLst>
          </p:cNvPr>
          <p:cNvSpPr/>
          <p:nvPr/>
        </p:nvSpPr>
        <p:spPr>
          <a:xfrm>
            <a:off x="11612880" y="6473952"/>
            <a:ext cx="457200" cy="274320"/>
          </a:xfrm>
          <a:prstGeom prst="rect">
            <a:avLst/>
          </a:prstGeom>
          <a:noFill/>
          <a:ln/>
        </p:spPr>
        <p:txBody>
          <a:bodyPr wrap="square" rtlCol="0" anchor="ctr"/>
          <a:lstStyle/>
          <a:p>
            <a:pPr marL="0" indent="0" algn="r">
              <a:buNone/>
            </a:pPr>
            <a:r>
              <a:rPr lang="en-US" sz="1000" dirty="0">
                <a:solidFill>
                  <a:srgbClr val="BFD3D8"/>
                </a:solidFill>
                <a:latin typeface="Calibri" pitchFamily="34" charset="0"/>
                <a:ea typeface="Calibri" pitchFamily="34" charset="-122"/>
                <a:cs typeface="Calibri" pitchFamily="34" charset="-120"/>
              </a:rPr>
              <a:t>07</a:t>
            </a:r>
            <a:endParaRPr lang="en-US" sz="1000" dirty="0"/>
          </a:p>
        </p:txBody>
      </p:sp>
      <p:sp>
        <p:nvSpPr>
          <p:cNvPr id="30" name="Text 28">
            <a:extLst>
              <a:ext uri="{FF2B5EF4-FFF2-40B4-BE49-F238E27FC236}">
                <a16:creationId xmlns:a16="http://schemas.microsoft.com/office/drawing/2014/main" id="{DB60F380-1C41-D372-4F71-089AF349F5F5}"/>
              </a:ext>
            </a:extLst>
          </p:cNvPr>
          <p:cNvSpPr/>
          <p:nvPr/>
        </p:nvSpPr>
        <p:spPr>
          <a:xfrm>
            <a:off x="548640" y="6473952"/>
            <a:ext cx="2743200" cy="274320"/>
          </a:xfrm>
          <a:prstGeom prst="rect">
            <a:avLst/>
          </a:prstGeom>
          <a:noFill/>
          <a:ln/>
        </p:spPr>
        <p:txBody>
          <a:bodyPr wrap="square" rtlCol="0" anchor="ctr"/>
          <a:lstStyle/>
          <a:p>
            <a:pPr marL="0" indent="0">
              <a:buNone/>
            </a:pPr>
            <a:r>
              <a:rPr lang="en-US" sz="1000" dirty="0">
                <a:solidFill>
                  <a:srgbClr val="BFD3D8"/>
                </a:solidFill>
                <a:latin typeface="Calibri" pitchFamily="34" charset="0"/>
                <a:ea typeface="Calibri" pitchFamily="34" charset="-122"/>
                <a:cs typeface="Calibri" pitchFamily="34" charset="-120"/>
              </a:rPr>
              <a:t>MediNova-AI</a:t>
            </a:r>
            <a:endParaRPr lang="en-US" sz="1000" dirty="0"/>
          </a:p>
        </p:txBody>
      </p:sp>
      <p:sp>
        <p:nvSpPr>
          <p:cNvPr id="4" name="TextBox 3">
            <a:extLst>
              <a:ext uri="{FF2B5EF4-FFF2-40B4-BE49-F238E27FC236}">
                <a16:creationId xmlns:a16="http://schemas.microsoft.com/office/drawing/2014/main" id="{5E28EE03-8332-4426-7F8C-29EC5F2E035A}"/>
              </a:ext>
            </a:extLst>
          </p:cNvPr>
          <p:cNvSpPr txBox="1"/>
          <p:nvPr/>
        </p:nvSpPr>
        <p:spPr>
          <a:xfrm>
            <a:off x="1793240" y="246092"/>
            <a:ext cx="8605520" cy="584775"/>
          </a:xfrm>
          <a:prstGeom prst="rect">
            <a:avLst/>
          </a:prstGeom>
          <a:noFill/>
        </p:spPr>
        <p:txBody>
          <a:bodyPr wrap="square" rtlCol="0">
            <a:spAutoFit/>
          </a:bodyPr>
          <a:lstStyle/>
          <a:p>
            <a:pPr algn="ctr"/>
            <a:r>
              <a:rPr lang="en-US" sz="3200" b="1" u="sng" dirty="0">
                <a:solidFill>
                  <a:schemeClr val="bg1"/>
                </a:solidFill>
                <a:latin typeface="Times New Roman" panose="02020603050405020304" pitchFamily="18" charset="0"/>
                <a:cs typeface="Times New Roman" panose="02020603050405020304" pitchFamily="18" charset="0"/>
              </a:rPr>
              <a:t>Results of Chest X-Ray Disease Classification </a:t>
            </a:r>
          </a:p>
        </p:txBody>
      </p:sp>
      <p:pic>
        <p:nvPicPr>
          <p:cNvPr id="5" name="Picture 4">
            <a:extLst>
              <a:ext uri="{FF2B5EF4-FFF2-40B4-BE49-F238E27FC236}">
                <a16:creationId xmlns:a16="http://schemas.microsoft.com/office/drawing/2014/main" id="{5975D914-00B5-E89C-9168-D02CDCAE04A2}"/>
              </a:ext>
            </a:extLst>
          </p:cNvPr>
          <p:cNvPicPr>
            <a:picLocks noChangeAspect="1"/>
          </p:cNvPicPr>
          <p:nvPr/>
        </p:nvPicPr>
        <p:blipFill>
          <a:blip r:embed="rId3"/>
          <a:stretch>
            <a:fillRect/>
          </a:stretch>
        </p:blipFill>
        <p:spPr>
          <a:xfrm>
            <a:off x="1546860" y="858012"/>
            <a:ext cx="9098280" cy="5753100"/>
          </a:xfrm>
          <a:prstGeom prst="rect">
            <a:avLst/>
          </a:prstGeom>
        </p:spPr>
      </p:pic>
    </p:spTree>
    <p:extLst>
      <p:ext uri="{BB962C8B-B14F-4D97-AF65-F5344CB8AC3E}">
        <p14:creationId xmlns:p14="http://schemas.microsoft.com/office/powerpoint/2010/main" val="365422322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2E3C4E"/>
        </a:solidFill>
        <a:effectLst/>
      </p:bgPr>
    </p:bg>
    <p:spTree>
      <p:nvGrpSpPr>
        <p:cNvPr id="1" name="">
          <a:extLst>
            <a:ext uri="{FF2B5EF4-FFF2-40B4-BE49-F238E27FC236}">
              <a16:creationId xmlns:a16="http://schemas.microsoft.com/office/drawing/2014/main" id="{A21F8FFB-71FE-E15A-D0A3-7D0978E3C573}"/>
            </a:ext>
          </a:extLst>
        </p:cNvPr>
        <p:cNvGrpSpPr/>
        <p:nvPr/>
      </p:nvGrpSpPr>
      <p:grpSpPr>
        <a:xfrm>
          <a:off x="0" y="0"/>
          <a:ext cx="0" cy="0"/>
          <a:chOff x="0" y="0"/>
          <a:chExt cx="0" cy="0"/>
        </a:xfrm>
      </p:grpSpPr>
      <p:sp>
        <p:nvSpPr>
          <p:cNvPr id="29" name="Text 27">
            <a:extLst>
              <a:ext uri="{FF2B5EF4-FFF2-40B4-BE49-F238E27FC236}">
                <a16:creationId xmlns:a16="http://schemas.microsoft.com/office/drawing/2014/main" id="{19478A89-484D-2A03-EE6A-8CFB441FF534}"/>
              </a:ext>
            </a:extLst>
          </p:cNvPr>
          <p:cNvSpPr/>
          <p:nvPr/>
        </p:nvSpPr>
        <p:spPr>
          <a:xfrm>
            <a:off x="11612880" y="6473952"/>
            <a:ext cx="457200" cy="274320"/>
          </a:xfrm>
          <a:prstGeom prst="rect">
            <a:avLst/>
          </a:prstGeom>
          <a:noFill/>
          <a:ln/>
        </p:spPr>
        <p:txBody>
          <a:bodyPr wrap="square" rtlCol="0" anchor="ctr"/>
          <a:lstStyle/>
          <a:p>
            <a:pPr marL="0" indent="0" algn="r">
              <a:buNone/>
            </a:pPr>
            <a:r>
              <a:rPr lang="en-US" sz="1000" dirty="0">
                <a:solidFill>
                  <a:srgbClr val="BFD3D8"/>
                </a:solidFill>
                <a:latin typeface="Calibri" pitchFamily="34" charset="0"/>
                <a:ea typeface="Calibri" pitchFamily="34" charset="-122"/>
                <a:cs typeface="Calibri" pitchFamily="34" charset="-120"/>
              </a:rPr>
              <a:t>07</a:t>
            </a:r>
            <a:endParaRPr lang="en-US" sz="1000" dirty="0"/>
          </a:p>
        </p:txBody>
      </p:sp>
      <p:sp>
        <p:nvSpPr>
          <p:cNvPr id="30" name="Text 28">
            <a:extLst>
              <a:ext uri="{FF2B5EF4-FFF2-40B4-BE49-F238E27FC236}">
                <a16:creationId xmlns:a16="http://schemas.microsoft.com/office/drawing/2014/main" id="{1D81444A-8B97-9ACA-58FA-A939B5CC9765}"/>
              </a:ext>
            </a:extLst>
          </p:cNvPr>
          <p:cNvSpPr/>
          <p:nvPr/>
        </p:nvSpPr>
        <p:spPr>
          <a:xfrm>
            <a:off x="548640" y="6473952"/>
            <a:ext cx="2743200" cy="274320"/>
          </a:xfrm>
          <a:prstGeom prst="rect">
            <a:avLst/>
          </a:prstGeom>
          <a:noFill/>
          <a:ln/>
        </p:spPr>
        <p:txBody>
          <a:bodyPr wrap="square" rtlCol="0" anchor="ctr"/>
          <a:lstStyle/>
          <a:p>
            <a:pPr marL="0" indent="0">
              <a:buNone/>
            </a:pPr>
            <a:r>
              <a:rPr lang="en-US" sz="1000" dirty="0">
                <a:solidFill>
                  <a:srgbClr val="BFD3D8"/>
                </a:solidFill>
                <a:latin typeface="Calibri" pitchFamily="34" charset="0"/>
                <a:ea typeface="Calibri" pitchFamily="34" charset="-122"/>
                <a:cs typeface="Calibri" pitchFamily="34" charset="-120"/>
              </a:rPr>
              <a:t>MediNova-AI</a:t>
            </a:r>
            <a:endParaRPr lang="en-US" sz="1000" dirty="0"/>
          </a:p>
        </p:txBody>
      </p:sp>
      <p:sp>
        <p:nvSpPr>
          <p:cNvPr id="4" name="TextBox 3">
            <a:extLst>
              <a:ext uri="{FF2B5EF4-FFF2-40B4-BE49-F238E27FC236}">
                <a16:creationId xmlns:a16="http://schemas.microsoft.com/office/drawing/2014/main" id="{69BC3EF2-4C41-5B70-ADA6-F346432F09BF}"/>
              </a:ext>
            </a:extLst>
          </p:cNvPr>
          <p:cNvSpPr txBox="1"/>
          <p:nvPr/>
        </p:nvSpPr>
        <p:spPr>
          <a:xfrm>
            <a:off x="1793240" y="246092"/>
            <a:ext cx="8605520" cy="646331"/>
          </a:xfrm>
          <a:prstGeom prst="rect">
            <a:avLst/>
          </a:prstGeom>
          <a:noFill/>
        </p:spPr>
        <p:txBody>
          <a:bodyPr wrap="square" rtlCol="0">
            <a:spAutoFit/>
          </a:bodyPr>
          <a:lstStyle/>
          <a:p>
            <a:pPr algn="ctr"/>
            <a:r>
              <a:rPr lang="en-US" sz="3600" b="1" u="sng" dirty="0">
                <a:solidFill>
                  <a:schemeClr val="bg1"/>
                </a:solidFill>
                <a:latin typeface="Times New Roman" panose="02020603050405020304" pitchFamily="18" charset="0"/>
                <a:cs typeface="Times New Roman" panose="02020603050405020304" pitchFamily="18" charset="0"/>
              </a:rPr>
              <a:t>Kidney Disease Classification Model</a:t>
            </a:r>
          </a:p>
        </p:txBody>
      </p:sp>
      <p:sp>
        <p:nvSpPr>
          <p:cNvPr id="6" name="TextBox 5">
            <a:extLst>
              <a:ext uri="{FF2B5EF4-FFF2-40B4-BE49-F238E27FC236}">
                <a16:creationId xmlns:a16="http://schemas.microsoft.com/office/drawing/2014/main" id="{F248F98C-6BCB-8667-2561-418197802A42}"/>
              </a:ext>
            </a:extLst>
          </p:cNvPr>
          <p:cNvSpPr txBox="1"/>
          <p:nvPr/>
        </p:nvSpPr>
        <p:spPr>
          <a:xfrm>
            <a:off x="1920240" y="1473200"/>
            <a:ext cx="9519920" cy="4185761"/>
          </a:xfrm>
          <a:prstGeom prst="rect">
            <a:avLst/>
          </a:prstGeom>
          <a:noFill/>
        </p:spPr>
        <p:txBody>
          <a:bodyPr wrap="square" rtlCol="0">
            <a:spAutoFit/>
          </a:bodyPr>
          <a:lstStyle/>
          <a:p>
            <a:r>
              <a:rPr lang="en-US" sz="2000" b="1" dirty="0">
                <a:solidFill>
                  <a:schemeClr val="bg1"/>
                </a:solidFill>
                <a:latin typeface="Times New Roman" panose="02020603050405020304" pitchFamily="18" charset="0"/>
                <a:cs typeface="Times New Roman" panose="02020603050405020304" pitchFamily="18" charset="0"/>
              </a:rPr>
              <a:t>Model Architecture:</a:t>
            </a:r>
            <a:r>
              <a:rPr lang="en-US" sz="2000" dirty="0">
                <a:solidFill>
                  <a:schemeClr val="bg1"/>
                </a:solidFill>
                <a:latin typeface="Times New Roman" panose="02020603050405020304" pitchFamily="18" charset="0"/>
                <a:cs typeface="Times New Roman" panose="02020603050405020304" pitchFamily="18" charset="0"/>
              </a:rPr>
              <a:t> </a:t>
            </a:r>
          </a:p>
          <a:p>
            <a:r>
              <a:rPr lang="en-US" dirty="0">
                <a:solidFill>
                  <a:schemeClr val="bg1"/>
                </a:solidFill>
              </a:rPr>
              <a:t>Custom Convolutional Neural Network (CNN) </a:t>
            </a:r>
          </a:p>
          <a:p>
            <a:r>
              <a:rPr lang="en-US" sz="2000" b="1" dirty="0">
                <a:solidFill>
                  <a:schemeClr val="bg1"/>
                </a:solidFill>
                <a:latin typeface="Times New Roman" panose="02020603050405020304" pitchFamily="18" charset="0"/>
                <a:cs typeface="Times New Roman" panose="02020603050405020304" pitchFamily="18" charset="0"/>
              </a:rPr>
              <a:t>Framework:</a:t>
            </a:r>
            <a:r>
              <a:rPr lang="en-US" sz="2000" dirty="0">
                <a:solidFill>
                  <a:schemeClr val="bg1"/>
                </a:solidFill>
                <a:latin typeface="Times New Roman" panose="02020603050405020304" pitchFamily="18" charset="0"/>
                <a:cs typeface="Times New Roman" panose="02020603050405020304" pitchFamily="18" charset="0"/>
              </a:rPr>
              <a:t> </a:t>
            </a:r>
            <a:r>
              <a:rPr lang="en-US" dirty="0">
                <a:solidFill>
                  <a:schemeClr val="bg1"/>
                </a:solidFill>
              </a:rPr>
              <a:t>TensorFlow </a:t>
            </a:r>
          </a:p>
          <a:p>
            <a:r>
              <a:rPr lang="en-US" sz="2000" b="1" dirty="0">
                <a:solidFill>
                  <a:schemeClr val="bg1"/>
                </a:solidFill>
                <a:latin typeface="Times New Roman" panose="02020603050405020304" pitchFamily="18" charset="0"/>
                <a:cs typeface="Times New Roman" panose="02020603050405020304" pitchFamily="18" charset="0"/>
              </a:rPr>
              <a:t>Dataset:</a:t>
            </a:r>
            <a:r>
              <a:rPr lang="en-US" sz="2000" dirty="0">
                <a:solidFill>
                  <a:schemeClr val="bg1"/>
                </a:solidFill>
                <a:latin typeface="Times New Roman" panose="02020603050405020304" pitchFamily="18" charset="0"/>
                <a:cs typeface="Times New Roman" panose="02020603050405020304" pitchFamily="18" charset="0"/>
              </a:rPr>
              <a:t> </a:t>
            </a:r>
            <a:r>
              <a:rPr lang="en-US" dirty="0">
                <a:solidFill>
                  <a:schemeClr val="bg1"/>
                </a:solidFill>
              </a:rPr>
              <a:t>Kidney CT Dataset (8,000 CT images) </a:t>
            </a:r>
          </a:p>
          <a:p>
            <a:r>
              <a:rPr lang="en-US" b="1" dirty="0">
                <a:solidFill>
                  <a:schemeClr val="bg1"/>
                </a:solidFill>
              </a:rPr>
              <a:t>Input:</a:t>
            </a:r>
            <a:r>
              <a:rPr lang="en-US" dirty="0">
                <a:solidFill>
                  <a:schemeClr val="bg1"/>
                </a:solidFill>
              </a:rPr>
              <a:t> 200 × 200 CT images </a:t>
            </a:r>
          </a:p>
          <a:p>
            <a:r>
              <a:rPr lang="en-US" sz="2000" b="1" dirty="0">
                <a:solidFill>
                  <a:schemeClr val="bg1"/>
                </a:solidFill>
                <a:latin typeface="Times New Roman" panose="02020603050405020304" pitchFamily="18" charset="0"/>
                <a:cs typeface="Times New Roman" panose="02020603050405020304" pitchFamily="18" charset="0"/>
              </a:rPr>
              <a:t>Accuracy:</a:t>
            </a:r>
            <a:r>
              <a:rPr lang="en-US" sz="2000" dirty="0">
                <a:solidFill>
                  <a:schemeClr val="bg1"/>
                </a:solidFill>
                <a:latin typeface="Times New Roman" panose="02020603050405020304" pitchFamily="18" charset="0"/>
                <a:cs typeface="Times New Roman" panose="02020603050405020304" pitchFamily="18" charset="0"/>
              </a:rPr>
              <a:t> </a:t>
            </a:r>
            <a:r>
              <a:rPr lang="en-US" b="1" dirty="0">
                <a:solidFill>
                  <a:schemeClr val="bg1"/>
                </a:solidFill>
              </a:rPr>
              <a:t>97.5%</a:t>
            </a:r>
          </a:p>
          <a:p>
            <a:r>
              <a:rPr lang="en-US" dirty="0">
                <a:solidFill>
                  <a:schemeClr val="bg1"/>
                </a:solidFill>
              </a:rPr>
              <a:t> </a:t>
            </a:r>
            <a:r>
              <a:rPr lang="en-US" sz="2000" b="1" dirty="0">
                <a:solidFill>
                  <a:schemeClr val="bg1"/>
                </a:solidFill>
                <a:latin typeface="Times New Roman" panose="02020603050405020304" pitchFamily="18" charset="0"/>
                <a:cs typeface="Times New Roman" panose="02020603050405020304" pitchFamily="18" charset="0"/>
              </a:rPr>
              <a:t>Classification Classes (4):</a:t>
            </a:r>
          </a:p>
          <a:p>
            <a:pPr marL="800100" lvl="1" indent="-342900">
              <a:buFont typeface="Arial" panose="020B0604020202020204" pitchFamily="34" charset="0"/>
              <a:buChar char="•"/>
            </a:pPr>
            <a:r>
              <a:rPr lang="en-US" sz="2000" dirty="0">
                <a:solidFill>
                  <a:schemeClr val="bg1"/>
                </a:solidFill>
                <a:latin typeface="Times New Roman" panose="02020603050405020304" pitchFamily="18" charset="0"/>
                <a:cs typeface="Times New Roman" panose="02020603050405020304" pitchFamily="18" charset="0"/>
              </a:rPr>
              <a:t> </a:t>
            </a:r>
            <a:r>
              <a:rPr lang="en-US" dirty="0">
                <a:solidFill>
                  <a:schemeClr val="bg1"/>
                </a:solidFill>
              </a:rPr>
              <a:t>Cyst </a:t>
            </a:r>
          </a:p>
          <a:p>
            <a:pPr marL="742950" lvl="1" indent="-285750">
              <a:buFont typeface="Arial" panose="020B0604020202020204" pitchFamily="34" charset="0"/>
              <a:buChar char="•"/>
            </a:pPr>
            <a:r>
              <a:rPr lang="en-US" dirty="0">
                <a:solidFill>
                  <a:schemeClr val="bg1"/>
                </a:solidFill>
              </a:rPr>
              <a:t>Stone </a:t>
            </a:r>
          </a:p>
          <a:p>
            <a:pPr marL="742950" lvl="1" indent="-285750">
              <a:buFont typeface="Arial" panose="020B0604020202020204" pitchFamily="34" charset="0"/>
              <a:buChar char="•"/>
            </a:pPr>
            <a:r>
              <a:rPr lang="en-US" dirty="0">
                <a:solidFill>
                  <a:schemeClr val="bg1"/>
                </a:solidFill>
              </a:rPr>
              <a:t>Tumor </a:t>
            </a:r>
          </a:p>
          <a:p>
            <a:pPr marL="742950" lvl="1" indent="-285750">
              <a:buFont typeface="Arial" panose="020B0604020202020204" pitchFamily="34" charset="0"/>
              <a:buChar char="•"/>
            </a:pPr>
            <a:r>
              <a:rPr lang="en-US" dirty="0">
                <a:solidFill>
                  <a:schemeClr val="bg1"/>
                </a:solidFill>
              </a:rPr>
              <a:t>Normal </a:t>
            </a:r>
          </a:p>
          <a:p>
            <a:r>
              <a:rPr lang="en-US" sz="2000" b="1" dirty="0">
                <a:solidFill>
                  <a:schemeClr val="bg1"/>
                </a:solidFill>
                <a:latin typeface="Times New Roman" panose="02020603050405020304" pitchFamily="18" charset="0"/>
                <a:cs typeface="Times New Roman" panose="02020603050405020304" pitchFamily="18" charset="0"/>
              </a:rPr>
              <a:t>Training Challenges:</a:t>
            </a:r>
            <a:r>
              <a:rPr lang="en-US" sz="2000" dirty="0">
                <a:solidFill>
                  <a:schemeClr val="bg1"/>
                </a:solidFill>
                <a:latin typeface="Times New Roman" panose="02020603050405020304" pitchFamily="18" charset="0"/>
                <a:cs typeface="Times New Roman" panose="02020603050405020304" pitchFamily="18" charset="0"/>
              </a:rPr>
              <a:t> </a:t>
            </a:r>
          </a:p>
          <a:p>
            <a:pPr lvl="1"/>
            <a:r>
              <a:rPr lang="en-US" dirty="0">
                <a:solidFill>
                  <a:schemeClr val="bg1"/>
                </a:solidFill>
              </a:rPr>
              <a:t>Similar appearance of different kidney abnormalities </a:t>
            </a:r>
          </a:p>
          <a:p>
            <a:pPr lvl="1"/>
            <a:r>
              <a:rPr lang="en-US" dirty="0">
                <a:solidFill>
                  <a:schemeClr val="bg1"/>
                </a:solidFill>
              </a:rPr>
              <a:t>Variations in CT image quality</a:t>
            </a:r>
          </a:p>
        </p:txBody>
      </p:sp>
    </p:spTree>
    <p:extLst>
      <p:ext uri="{BB962C8B-B14F-4D97-AF65-F5344CB8AC3E}">
        <p14:creationId xmlns:p14="http://schemas.microsoft.com/office/powerpoint/2010/main" val="43485659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2E3C4E"/>
        </a:solidFill>
        <a:effectLst/>
      </p:bgPr>
    </p:bg>
    <p:spTree>
      <p:nvGrpSpPr>
        <p:cNvPr id="1" name="">
          <a:extLst>
            <a:ext uri="{FF2B5EF4-FFF2-40B4-BE49-F238E27FC236}">
              <a16:creationId xmlns:a16="http://schemas.microsoft.com/office/drawing/2014/main" id="{C0679311-DF81-3A83-29E6-32FBC871656D}"/>
            </a:ext>
          </a:extLst>
        </p:cNvPr>
        <p:cNvGrpSpPr/>
        <p:nvPr/>
      </p:nvGrpSpPr>
      <p:grpSpPr>
        <a:xfrm>
          <a:off x="0" y="0"/>
          <a:ext cx="0" cy="0"/>
          <a:chOff x="0" y="0"/>
          <a:chExt cx="0" cy="0"/>
        </a:xfrm>
      </p:grpSpPr>
      <p:sp>
        <p:nvSpPr>
          <p:cNvPr id="29" name="Text 27">
            <a:extLst>
              <a:ext uri="{FF2B5EF4-FFF2-40B4-BE49-F238E27FC236}">
                <a16:creationId xmlns:a16="http://schemas.microsoft.com/office/drawing/2014/main" id="{4FAFE0B4-95D3-DF65-6532-DF281F0213F5}"/>
              </a:ext>
            </a:extLst>
          </p:cNvPr>
          <p:cNvSpPr/>
          <p:nvPr/>
        </p:nvSpPr>
        <p:spPr>
          <a:xfrm>
            <a:off x="11612880" y="6473952"/>
            <a:ext cx="457200" cy="274320"/>
          </a:xfrm>
          <a:prstGeom prst="rect">
            <a:avLst/>
          </a:prstGeom>
          <a:noFill/>
          <a:ln/>
        </p:spPr>
        <p:txBody>
          <a:bodyPr wrap="square" rtlCol="0" anchor="ctr"/>
          <a:lstStyle/>
          <a:p>
            <a:pPr marL="0" indent="0" algn="r">
              <a:buNone/>
            </a:pPr>
            <a:r>
              <a:rPr lang="en-US" sz="1000" dirty="0">
                <a:solidFill>
                  <a:srgbClr val="BFD3D8"/>
                </a:solidFill>
                <a:latin typeface="Calibri" pitchFamily="34" charset="0"/>
                <a:ea typeface="Calibri" pitchFamily="34" charset="-122"/>
                <a:cs typeface="Calibri" pitchFamily="34" charset="-120"/>
              </a:rPr>
              <a:t>07</a:t>
            </a:r>
            <a:endParaRPr lang="en-US" sz="1000" dirty="0"/>
          </a:p>
        </p:txBody>
      </p:sp>
      <p:sp>
        <p:nvSpPr>
          <p:cNvPr id="30" name="Text 28">
            <a:extLst>
              <a:ext uri="{FF2B5EF4-FFF2-40B4-BE49-F238E27FC236}">
                <a16:creationId xmlns:a16="http://schemas.microsoft.com/office/drawing/2014/main" id="{5BBABEC1-B53C-F1B1-6ED3-5BDFE4393901}"/>
              </a:ext>
            </a:extLst>
          </p:cNvPr>
          <p:cNvSpPr/>
          <p:nvPr/>
        </p:nvSpPr>
        <p:spPr>
          <a:xfrm>
            <a:off x="548640" y="6473952"/>
            <a:ext cx="2743200" cy="274320"/>
          </a:xfrm>
          <a:prstGeom prst="rect">
            <a:avLst/>
          </a:prstGeom>
          <a:noFill/>
          <a:ln/>
        </p:spPr>
        <p:txBody>
          <a:bodyPr wrap="square" rtlCol="0" anchor="ctr"/>
          <a:lstStyle/>
          <a:p>
            <a:pPr marL="0" indent="0">
              <a:buNone/>
            </a:pPr>
            <a:r>
              <a:rPr lang="en-US" sz="1000" dirty="0">
                <a:solidFill>
                  <a:srgbClr val="BFD3D8"/>
                </a:solidFill>
                <a:latin typeface="Calibri" pitchFamily="34" charset="0"/>
                <a:ea typeface="Calibri" pitchFamily="34" charset="-122"/>
                <a:cs typeface="Calibri" pitchFamily="34" charset="-120"/>
              </a:rPr>
              <a:t>MediNova-AI</a:t>
            </a:r>
            <a:endParaRPr lang="en-US" sz="1000" dirty="0"/>
          </a:p>
        </p:txBody>
      </p:sp>
      <p:sp>
        <p:nvSpPr>
          <p:cNvPr id="4" name="TextBox 3">
            <a:extLst>
              <a:ext uri="{FF2B5EF4-FFF2-40B4-BE49-F238E27FC236}">
                <a16:creationId xmlns:a16="http://schemas.microsoft.com/office/drawing/2014/main" id="{E8C001F3-48D2-AA51-332E-8AB23A3074E2}"/>
              </a:ext>
            </a:extLst>
          </p:cNvPr>
          <p:cNvSpPr txBox="1"/>
          <p:nvPr/>
        </p:nvSpPr>
        <p:spPr>
          <a:xfrm>
            <a:off x="1793240" y="246092"/>
            <a:ext cx="8605520" cy="646331"/>
          </a:xfrm>
          <a:prstGeom prst="rect">
            <a:avLst/>
          </a:prstGeom>
          <a:noFill/>
        </p:spPr>
        <p:txBody>
          <a:bodyPr wrap="square" rtlCol="0">
            <a:spAutoFit/>
          </a:bodyPr>
          <a:lstStyle/>
          <a:p>
            <a:pPr algn="ctr"/>
            <a:r>
              <a:rPr lang="en-US" sz="3600" b="1" u="sng" dirty="0">
                <a:solidFill>
                  <a:schemeClr val="bg1"/>
                </a:solidFill>
                <a:latin typeface="Times New Roman" panose="02020603050405020304" pitchFamily="18" charset="0"/>
                <a:cs typeface="Times New Roman" panose="02020603050405020304" pitchFamily="18" charset="0"/>
              </a:rPr>
              <a:t>Sample of Kidney Disease dataset</a:t>
            </a:r>
          </a:p>
        </p:txBody>
      </p:sp>
      <p:pic>
        <p:nvPicPr>
          <p:cNvPr id="3" name="Picture 2">
            <a:extLst>
              <a:ext uri="{FF2B5EF4-FFF2-40B4-BE49-F238E27FC236}">
                <a16:creationId xmlns:a16="http://schemas.microsoft.com/office/drawing/2014/main" id="{C9B2B4E6-5837-6583-6DAA-E25592D4017D}"/>
              </a:ext>
            </a:extLst>
          </p:cNvPr>
          <p:cNvPicPr>
            <a:picLocks noChangeAspect="1"/>
          </p:cNvPicPr>
          <p:nvPr/>
        </p:nvPicPr>
        <p:blipFill>
          <a:blip r:embed="rId3"/>
          <a:stretch>
            <a:fillRect/>
          </a:stretch>
        </p:blipFill>
        <p:spPr>
          <a:xfrm>
            <a:off x="2752725" y="1076227"/>
            <a:ext cx="6686550" cy="5397725"/>
          </a:xfrm>
          <a:prstGeom prst="rect">
            <a:avLst/>
          </a:prstGeom>
        </p:spPr>
      </p:pic>
    </p:spTree>
    <p:extLst>
      <p:ext uri="{BB962C8B-B14F-4D97-AF65-F5344CB8AC3E}">
        <p14:creationId xmlns:p14="http://schemas.microsoft.com/office/powerpoint/2010/main" val="274208682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2E3C4E"/>
        </a:solidFill>
        <a:effectLst/>
      </p:bgPr>
    </p:bg>
    <p:spTree>
      <p:nvGrpSpPr>
        <p:cNvPr id="1" name="">
          <a:extLst>
            <a:ext uri="{FF2B5EF4-FFF2-40B4-BE49-F238E27FC236}">
              <a16:creationId xmlns:a16="http://schemas.microsoft.com/office/drawing/2014/main" id="{A998F535-083D-4D89-747F-E3EC3DD2434B}"/>
            </a:ext>
          </a:extLst>
        </p:cNvPr>
        <p:cNvGrpSpPr/>
        <p:nvPr/>
      </p:nvGrpSpPr>
      <p:grpSpPr>
        <a:xfrm>
          <a:off x="0" y="0"/>
          <a:ext cx="0" cy="0"/>
          <a:chOff x="0" y="0"/>
          <a:chExt cx="0" cy="0"/>
        </a:xfrm>
      </p:grpSpPr>
      <p:sp>
        <p:nvSpPr>
          <p:cNvPr id="29" name="Text 27">
            <a:extLst>
              <a:ext uri="{FF2B5EF4-FFF2-40B4-BE49-F238E27FC236}">
                <a16:creationId xmlns:a16="http://schemas.microsoft.com/office/drawing/2014/main" id="{C9AC8A51-CA84-2A0A-C11C-C3852C2F99CB}"/>
              </a:ext>
            </a:extLst>
          </p:cNvPr>
          <p:cNvSpPr/>
          <p:nvPr/>
        </p:nvSpPr>
        <p:spPr>
          <a:xfrm>
            <a:off x="11612880" y="6473952"/>
            <a:ext cx="457200" cy="274320"/>
          </a:xfrm>
          <a:prstGeom prst="rect">
            <a:avLst/>
          </a:prstGeom>
          <a:noFill/>
          <a:ln/>
        </p:spPr>
        <p:txBody>
          <a:bodyPr wrap="square" rtlCol="0" anchor="ctr"/>
          <a:lstStyle/>
          <a:p>
            <a:pPr marL="0" indent="0" algn="r">
              <a:buNone/>
            </a:pPr>
            <a:r>
              <a:rPr lang="en-US" sz="1000" dirty="0">
                <a:solidFill>
                  <a:srgbClr val="BFD3D8"/>
                </a:solidFill>
                <a:latin typeface="Calibri" pitchFamily="34" charset="0"/>
                <a:ea typeface="Calibri" pitchFamily="34" charset="-122"/>
                <a:cs typeface="Calibri" pitchFamily="34" charset="-120"/>
              </a:rPr>
              <a:t>07</a:t>
            </a:r>
            <a:endParaRPr lang="en-US" sz="1000" dirty="0"/>
          </a:p>
        </p:txBody>
      </p:sp>
      <p:sp>
        <p:nvSpPr>
          <p:cNvPr id="30" name="Text 28">
            <a:extLst>
              <a:ext uri="{FF2B5EF4-FFF2-40B4-BE49-F238E27FC236}">
                <a16:creationId xmlns:a16="http://schemas.microsoft.com/office/drawing/2014/main" id="{13AC2408-7472-6C2A-3791-827AD5C0091A}"/>
              </a:ext>
            </a:extLst>
          </p:cNvPr>
          <p:cNvSpPr/>
          <p:nvPr/>
        </p:nvSpPr>
        <p:spPr>
          <a:xfrm>
            <a:off x="548640" y="6473952"/>
            <a:ext cx="2743200" cy="274320"/>
          </a:xfrm>
          <a:prstGeom prst="rect">
            <a:avLst/>
          </a:prstGeom>
          <a:noFill/>
          <a:ln/>
        </p:spPr>
        <p:txBody>
          <a:bodyPr wrap="square" rtlCol="0" anchor="ctr"/>
          <a:lstStyle/>
          <a:p>
            <a:pPr marL="0" indent="0">
              <a:buNone/>
            </a:pPr>
            <a:r>
              <a:rPr lang="en-US" sz="1000" dirty="0">
                <a:solidFill>
                  <a:srgbClr val="BFD3D8"/>
                </a:solidFill>
                <a:latin typeface="Calibri" pitchFamily="34" charset="0"/>
                <a:ea typeface="Calibri" pitchFamily="34" charset="-122"/>
                <a:cs typeface="Calibri" pitchFamily="34" charset="-120"/>
              </a:rPr>
              <a:t>MediNova-AI</a:t>
            </a:r>
            <a:endParaRPr lang="en-US" sz="1000" dirty="0"/>
          </a:p>
        </p:txBody>
      </p:sp>
      <p:sp>
        <p:nvSpPr>
          <p:cNvPr id="4" name="TextBox 3">
            <a:extLst>
              <a:ext uri="{FF2B5EF4-FFF2-40B4-BE49-F238E27FC236}">
                <a16:creationId xmlns:a16="http://schemas.microsoft.com/office/drawing/2014/main" id="{5CF067A2-E359-FF41-3ADF-1A9B99A31244}"/>
              </a:ext>
            </a:extLst>
          </p:cNvPr>
          <p:cNvSpPr txBox="1"/>
          <p:nvPr/>
        </p:nvSpPr>
        <p:spPr>
          <a:xfrm>
            <a:off x="1793240" y="246092"/>
            <a:ext cx="8605520" cy="646331"/>
          </a:xfrm>
          <a:prstGeom prst="rect">
            <a:avLst/>
          </a:prstGeom>
          <a:noFill/>
        </p:spPr>
        <p:txBody>
          <a:bodyPr wrap="square" rtlCol="0">
            <a:spAutoFit/>
          </a:bodyPr>
          <a:lstStyle/>
          <a:p>
            <a:pPr algn="ctr"/>
            <a:r>
              <a:rPr lang="en-US" sz="3600" b="1" u="sng" dirty="0">
                <a:solidFill>
                  <a:schemeClr val="bg1"/>
                </a:solidFill>
                <a:latin typeface="Times New Roman" panose="02020603050405020304" pitchFamily="18" charset="0"/>
                <a:cs typeface="Times New Roman" panose="02020603050405020304" pitchFamily="18" charset="0"/>
              </a:rPr>
              <a:t>Results of Kidney Disease </a:t>
            </a:r>
          </a:p>
        </p:txBody>
      </p:sp>
      <p:pic>
        <p:nvPicPr>
          <p:cNvPr id="5" name="Picture 4">
            <a:extLst>
              <a:ext uri="{FF2B5EF4-FFF2-40B4-BE49-F238E27FC236}">
                <a16:creationId xmlns:a16="http://schemas.microsoft.com/office/drawing/2014/main" id="{5F52C8CC-F004-0C26-5F73-FA943D4B1FED}"/>
              </a:ext>
            </a:extLst>
          </p:cNvPr>
          <p:cNvPicPr>
            <a:picLocks noChangeAspect="1"/>
          </p:cNvPicPr>
          <p:nvPr/>
        </p:nvPicPr>
        <p:blipFill>
          <a:blip r:embed="rId3"/>
          <a:stretch>
            <a:fillRect/>
          </a:stretch>
        </p:blipFill>
        <p:spPr>
          <a:xfrm>
            <a:off x="1015999" y="1207560"/>
            <a:ext cx="9992687" cy="4442880"/>
          </a:xfrm>
          <a:prstGeom prst="rect">
            <a:avLst/>
          </a:prstGeom>
        </p:spPr>
      </p:pic>
    </p:spTree>
    <p:extLst>
      <p:ext uri="{BB962C8B-B14F-4D97-AF65-F5344CB8AC3E}">
        <p14:creationId xmlns:p14="http://schemas.microsoft.com/office/powerpoint/2010/main" val="54352601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2E3C4E"/>
        </a:solidFill>
        <a:effectLst/>
      </p:bgPr>
    </p:bg>
    <p:spTree>
      <p:nvGrpSpPr>
        <p:cNvPr id="1" name="">
          <a:extLst>
            <a:ext uri="{FF2B5EF4-FFF2-40B4-BE49-F238E27FC236}">
              <a16:creationId xmlns:a16="http://schemas.microsoft.com/office/drawing/2014/main" id="{5F90DB08-F5BF-A5D3-6B32-B96440933D54}"/>
            </a:ext>
          </a:extLst>
        </p:cNvPr>
        <p:cNvGrpSpPr/>
        <p:nvPr/>
      </p:nvGrpSpPr>
      <p:grpSpPr>
        <a:xfrm>
          <a:off x="0" y="0"/>
          <a:ext cx="0" cy="0"/>
          <a:chOff x="0" y="0"/>
          <a:chExt cx="0" cy="0"/>
        </a:xfrm>
      </p:grpSpPr>
      <p:sp>
        <p:nvSpPr>
          <p:cNvPr id="29" name="Text 27">
            <a:extLst>
              <a:ext uri="{FF2B5EF4-FFF2-40B4-BE49-F238E27FC236}">
                <a16:creationId xmlns:a16="http://schemas.microsoft.com/office/drawing/2014/main" id="{E077D403-E460-1CF4-79DB-CFE26E195FF3}"/>
              </a:ext>
            </a:extLst>
          </p:cNvPr>
          <p:cNvSpPr/>
          <p:nvPr/>
        </p:nvSpPr>
        <p:spPr>
          <a:xfrm>
            <a:off x="11612880" y="6473952"/>
            <a:ext cx="457200" cy="274320"/>
          </a:xfrm>
          <a:prstGeom prst="rect">
            <a:avLst/>
          </a:prstGeom>
          <a:noFill/>
          <a:ln/>
        </p:spPr>
        <p:txBody>
          <a:bodyPr wrap="square" rtlCol="0" anchor="ctr"/>
          <a:lstStyle/>
          <a:p>
            <a:pPr marL="0" indent="0" algn="r">
              <a:buNone/>
            </a:pPr>
            <a:r>
              <a:rPr lang="en-US" sz="1000" dirty="0">
                <a:solidFill>
                  <a:srgbClr val="BFD3D8"/>
                </a:solidFill>
                <a:latin typeface="Calibri" pitchFamily="34" charset="0"/>
                <a:ea typeface="Calibri" pitchFamily="34" charset="-122"/>
                <a:cs typeface="Calibri" pitchFamily="34" charset="-120"/>
              </a:rPr>
              <a:t>07</a:t>
            </a:r>
            <a:endParaRPr lang="en-US" sz="1000" dirty="0"/>
          </a:p>
        </p:txBody>
      </p:sp>
      <p:sp>
        <p:nvSpPr>
          <p:cNvPr id="30" name="Text 28">
            <a:extLst>
              <a:ext uri="{FF2B5EF4-FFF2-40B4-BE49-F238E27FC236}">
                <a16:creationId xmlns:a16="http://schemas.microsoft.com/office/drawing/2014/main" id="{4C7CC708-BE11-C549-A635-F4706B22BA1A}"/>
              </a:ext>
            </a:extLst>
          </p:cNvPr>
          <p:cNvSpPr/>
          <p:nvPr/>
        </p:nvSpPr>
        <p:spPr>
          <a:xfrm>
            <a:off x="548640" y="6473952"/>
            <a:ext cx="2743200" cy="274320"/>
          </a:xfrm>
          <a:prstGeom prst="rect">
            <a:avLst/>
          </a:prstGeom>
          <a:noFill/>
          <a:ln/>
        </p:spPr>
        <p:txBody>
          <a:bodyPr wrap="square" rtlCol="0" anchor="ctr"/>
          <a:lstStyle/>
          <a:p>
            <a:pPr marL="0" indent="0">
              <a:buNone/>
            </a:pPr>
            <a:r>
              <a:rPr lang="en-US" sz="1000" dirty="0">
                <a:solidFill>
                  <a:srgbClr val="BFD3D8"/>
                </a:solidFill>
                <a:latin typeface="Calibri" pitchFamily="34" charset="0"/>
                <a:ea typeface="Calibri" pitchFamily="34" charset="-122"/>
                <a:cs typeface="Calibri" pitchFamily="34" charset="-120"/>
              </a:rPr>
              <a:t>MediNova-AI</a:t>
            </a:r>
            <a:endParaRPr lang="en-US" sz="1000" dirty="0"/>
          </a:p>
        </p:txBody>
      </p:sp>
      <p:sp>
        <p:nvSpPr>
          <p:cNvPr id="4" name="TextBox 3">
            <a:extLst>
              <a:ext uri="{FF2B5EF4-FFF2-40B4-BE49-F238E27FC236}">
                <a16:creationId xmlns:a16="http://schemas.microsoft.com/office/drawing/2014/main" id="{011A6DA0-A5B9-780C-BE79-CAEA97BF10B4}"/>
              </a:ext>
            </a:extLst>
          </p:cNvPr>
          <p:cNvSpPr txBox="1"/>
          <p:nvPr/>
        </p:nvSpPr>
        <p:spPr>
          <a:xfrm>
            <a:off x="1793240" y="246092"/>
            <a:ext cx="8605520" cy="646331"/>
          </a:xfrm>
          <a:prstGeom prst="rect">
            <a:avLst/>
          </a:prstGeom>
          <a:noFill/>
        </p:spPr>
        <p:txBody>
          <a:bodyPr wrap="square" rtlCol="0">
            <a:spAutoFit/>
          </a:bodyPr>
          <a:lstStyle/>
          <a:p>
            <a:pPr algn="ctr"/>
            <a:r>
              <a:rPr lang="en-US" sz="3600" b="1" u="sng" dirty="0">
                <a:solidFill>
                  <a:schemeClr val="bg1"/>
                </a:solidFill>
                <a:latin typeface="Times New Roman" panose="02020603050405020304" pitchFamily="18" charset="0"/>
                <a:cs typeface="Times New Roman" panose="02020603050405020304" pitchFamily="18" charset="0"/>
              </a:rPr>
              <a:t> </a:t>
            </a:r>
          </a:p>
        </p:txBody>
      </p:sp>
      <p:pic>
        <p:nvPicPr>
          <p:cNvPr id="3" name="Picture 2">
            <a:extLst>
              <a:ext uri="{FF2B5EF4-FFF2-40B4-BE49-F238E27FC236}">
                <a16:creationId xmlns:a16="http://schemas.microsoft.com/office/drawing/2014/main" id="{E7530BBA-D331-2443-6D34-76D0FF3DE36B}"/>
              </a:ext>
            </a:extLst>
          </p:cNvPr>
          <p:cNvPicPr>
            <a:picLocks noChangeAspect="1"/>
          </p:cNvPicPr>
          <p:nvPr/>
        </p:nvPicPr>
        <p:blipFill>
          <a:blip r:embed="rId3"/>
          <a:stretch>
            <a:fillRect/>
          </a:stretch>
        </p:blipFill>
        <p:spPr>
          <a:xfrm>
            <a:off x="1229360" y="345440"/>
            <a:ext cx="9733280" cy="5763167"/>
          </a:xfrm>
          <a:prstGeom prst="rect">
            <a:avLst/>
          </a:prstGeom>
        </p:spPr>
      </p:pic>
    </p:spTree>
    <p:extLst>
      <p:ext uri="{BB962C8B-B14F-4D97-AF65-F5344CB8AC3E}">
        <p14:creationId xmlns:p14="http://schemas.microsoft.com/office/powerpoint/2010/main" val="215363632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6">
    <p:bg>
      <p:bgPr>
        <a:solidFill>
          <a:srgbClr val="2E3C4E"/>
        </a:solidFill>
        <a:effectLst/>
      </p:bgPr>
    </p:bg>
    <p:spTree>
      <p:nvGrpSpPr>
        <p:cNvPr id="1" name=""/>
        <p:cNvGrpSpPr/>
        <p:nvPr/>
      </p:nvGrpSpPr>
      <p:grpSpPr>
        <a:xfrm>
          <a:off x="0" y="0"/>
          <a:ext cx="0" cy="0"/>
          <a:chOff x="0" y="0"/>
          <a:chExt cx="0" cy="0"/>
        </a:xfrm>
      </p:grpSpPr>
      <p:sp>
        <p:nvSpPr>
          <p:cNvPr id="2" name="Text 0"/>
          <p:cNvSpPr/>
          <p:nvPr/>
        </p:nvSpPr>
        <p:spPr>
          <a:xfrm>
            <a:off x="548640" y="302768"/>
            <a:ext cx="9144000" cy="292608"/>
          </a:xfrm>
          <a:prstGeom prst="rect">
            <a:avLst/>
          </a:prstGeom>
          <a:noFill/>
          <a:ln/>
        </p:spPr>
        <p:txBody>
          <a:bodyPr wrap="square" rtlCol="0" anchor="ctr"/>
          <a:lstStyle/>
          <a:p>
            <a:pPr marL="0" indent="0">
              <a:buNone/>
            </a:pPr>
            <a:r>
              <a:rPr lang="en-US" sz="1250" b="1" kern="0" spc="200" dirty="0">
                <a:solidFill>
                  <a:srgbClr val="95CCDA"/>
                </a:solidFill>
                <a:latin typeface="Calibri" pitchFamily="34" charset="0"/>
                <a:ea typeface="Calibri" pitchFamily="34" charset="-122"/>
                <a:cs typeface="Calibri" pitchFamily="34" charset="-120"/>
              </a:rPr>
              <a:t>WHERE MEDINOVA-AI GOES NEXT</a:t>
            </a:r>
            <a:endParaRPr lang="en-US" sz="1250" dirty="0"/>
          </a:p>
        </p:txBody>
      </p:sp>
      <p:sp>
        <p:nvSpPr>
          <p:cNvPr id="3" name="Text 1"/>
          <p:cNvSpPr/>
          <p:nvPr/>
        </p:nvSpPr>
        <p:spPr>
          <a:xfrm>
            <a:off x="548640" y="566928"/>
            <a:ext cx="10789920" cy="685800"/>
          </a:xfrm>
          <a:prstGeom prst="rect">
            <a:avLst/>
          </a:prstGeom>
          <a:noFill/>
          <a:ln/>
        </p:spPr>
        <p:txBody>
          <a:bodyPr wrap="square" lIns="0" tIns="0" rIns="0" bIns="0" rtlCol="0" anchor="ctr"/>
          <a:lstStyle/>
          <a:p>
            <a:pPr marL="0" indent="0">
              <a:buNone/>
            </a:pPr>
            <a:r>
              <a:rPr lang="en-US" sz="2900" b="1" dirty="0">
                <a:solidFill>
                  <a:srgbClr val="FFFFFF"/>
                </a:solidFill>
                <a:latin typeface="Calibri" pitchFamily="34" charset="0"/>
                <a:ea typeface="Calibri" pitchFamily="34" charset="-122"/>
                <a:cs typeface="Calibri" pitchFamily="34" charset="-120"/>
              </a:rPr>
              <a:t>Future Work</a:t>
            </a:r>
            <a:endParaRPr lang="en-US" sz="2900" dirty="0"/>
          </a:p>
        </p:txBody>
      </p:sp>
      <p:sp>
        <p:nvSpPr>
          <p:cNvPr id="4" name="Shape 2"/>
          <p:cNvSpPr/>
          <p:nvPr/>
        </p:nvSpPr>
        <p:spPr>
          <a:xfrm>
            <a:off x="822960" y="2103120"/>
            <a:ext cx="3520440" cy="3108960"/>
          </a:xfrm>
          <a:prstGeom prst="roundRect">
            <a:avLst>
              <a:gd name="adj" fmla="val 2647"/>
            </a:avLst>
          </a:prstGeom>
          <a:solidFill>
            <a:srgbClr val="384653"/>
          </a:solidFill>
          <a:ln/>
          <a:effectLst>
            <a:outerShdw blurRad="101600" dist="38100" dir="5400000" algn="bl" rotWithShape="0">
              <a:srgbClr val="000000">
                <a:alpha val="35000"/>
              </a:srgbClr>
            </a:outerShdw>
          </a:effectLst>
        </p:spPr>
        <p:txBody>
          <a:bodyPr/>
          <a:lstStyle/>
          <a:p>
            <a:endParaRPr lang="en-US"/>
          </a:p>
        </p:txBody>
      </p:sp>
      <p:sp>
        <p:nvSpPr>
          <p:cNvPr id="5" name="Shape 3"/>
          <p:cNvSpPr/>
          <p:nvPr/>
        </p:nvSpPr>
        <p:spPr>
          <a:xfrm>
            <a:off x="2171700" y="2468880"/>
            <a:ext cx="822960" cy="822960"/>
          </a:xfrm>
          <a:prstGeom prst="ellipse">
            <a:avLst/>
          </a:prstGeom>
          <a:solidFill>
            <a:srgbClr val="028090"/>
          </a:solidFill>
          <a:ln/>
        </p:spPr>
        <p:txBody>
          <a:bodyPr/>
          <a:lstStyle/>
          <a:p>
            <a:endParaRPr lang="en-US"/>
          </a:p>
        </p:txBody>
      </p:sp>
      <p:sp>
        <p:nvSpPr>
          <p:cNvPr id="6" name="Text 4"/>
          <p:cNvSpPr/>
          <p:nvPr/>
        </p:nvSpPr>
        <p:spPr>
          <a:xfrm>
            <a:off x="2171700" y="2450592"/>
            <a:ext cx="822960" cy="822960"/>
          </a:xfrm>
          <a:prstGeom prst="rect">
            <a:avLst/>
          </a:prstGeom>
          <a:noFill/>
          <a:ln/>
        </p:spPr>
        <p:txBody>
          <a:bodyPr wrap="square" rtlCol="0" anchor="ctr"/>
          <a:lstStyle/>
          <a:p>
            <a:pPr marL="0" indent="0" algn="ctr">
              <a:buNone/>
            </a:pPr>
            <a:r>
              <a:rPr lang="en-US" sz="3200" dirty="0">
                <a:solidFill>
                  <a:srgbClr val="000000"/>
                </a:solidFill>
              </a:rPr>
              <a:t>📱</a:t>
            </a:r>
            <a:endParaRPr lang="en-US" sz="3200" dirty="0"/>
          </a:p>
        </p:txBody>
      </p:sp>
      <p:sp>
        <p:nvSpPr>
          <p:cNvPr id="7" name="Text 5"/>
          <p:cNvSpPr/>
          <p:nvPr/>
        </p:nvSpPr>
        <p:spPr>
          <a:xfrm>
            <a:off x="1051560" y="3520440"/>
            <a:ext cx="3063240" cy="50292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Mobile-First Client</a:t>
            </a:r>
            <a:endParaRPr lang="en-US" sz="1500" dirty="0"/>
          </a:p>
        </p:txBody>
      </p:sp>
      <p:sp>
        <p:nvSpPr>
          <p:cNvPr id="8" name="Text 6"/>
          <p:cNvSpPr/>
          <p:nvPr/>
        </p:nvSpPr>
        <p:spPr>
          <a:xfrm>
            <a:off x="1051560" y="4023360"/>
            <a:ext cx="3063240" cy="1005840"/>
          </a:xfrm>
          <a:prstGeom prst="rect">
            <a:avLst/>
          </a:prstGeom>
          <a:noFill/>
          <a:ln/>
        </p:spPr>
        <p:txBody>
          <a:bodyPr wrap="square" lIns="0" tIns="0" rIns="0" bIns="0" rtlCol="0" anchor="ctr"/>
          <a:lstStyle/>
          <a:p>
            <a:pPr marL="0" indent="0" algn="ctr">
              <a:buNone/>
            </a:pPr>
            <a:r>
              <a:rPr lang="en-US" sz="1200" dirty="0">
                <a:solidFill>
                  <a:srgbClr val="D9EDF2"/>
                </a:solidFill>
                <a:latin typeface="Calibri" pitchFamily="34" charset="0"/>
                <a:ea typeface="Calibri" pitchFamily="34" charset="-122"/>
                <a:cs typeface="Calibri" pitchFamily="34" charset="-120"/>
              </a:rPr>
              <a:t>Ship a lightweight mobile app so patients can submit images and chat directly.</a:t>
            </a:r>
            <a:endParaRPr lang="en-US" sz="1200" dirty="0"/>
          </a:p>
        </p:txBody>
      </p:sp>
      <p:sp>
        <p:nvSpPr>
          <p:cNvPr id="9" name="Shape 7"/>
          <p:cNvSpPr/>
          <p:nvPr/>
        </p:nvSpPr>
        <p:spPr>
          <a:xfrm>
            <a:off x="4617720" y="2103120"/>
            <a:ext cx="3520440" cy="3108960"/>
          </a:xfrm>
          <a:prstGeom prst="roundRect">
            <a:avLst>
              <a:gd name="adj" fmla="val 2647"/>
            </a:avLst>
          </a:prstGeom>
          <a:solidFill>
            <a:srgbClr val="384653"/>
          </a:solidFill>
          <a:ln/>
          <a:effectLst>
            <a:outerShdw blurRad="101600" dist="38100" dir="5400000" algn="bl" rotWithShape="0">
              <a:srgbClr val="000000">
                <a:alpha val="35000"/>
              </a:srgbClr>
            </a:outerShdw>
          </a:effectLst>
        </p:spPr>
        <p:txBody>
          <a:bodyPr/>
          <a:lstStyle/>
          <a:p>
            <a:endParaRPr lang="en-US"/>
          </a:p>
        </p:txBody>
      </p:sp>
      <p:sp>
        <p:nvSpPr>
          <p:cNvPr id="10" name="Shape 8"/>
          <p:cNvSpPr/>
          <p:nvPr/>
        </p:nvSpPr>
        <p:spPr>
          <a:xfrm>
            <a:off x="5966460" y="2468880"/>
            <a:ext cx="822960" cy="822960"/>
          </a:xfrm>
          <a:prstGeom prst="ellipse">
            <a:avLst/>
          </a:prstGeom>
          <a:solidFill>
            <a:srgbClr val="028090"/>
          </a:solidFill>
          <a:ln/>
        </p:spPr>
        <p:txBody>
          <a:bodyPr/>
          <a:lstStyle/>
          <a:p>
            <a:endParaRPr lang="en-US"/>
          </a:p>
        </p:txBody>
      </p:sp>
      <p:sp>
        <p:nvSpPr>
          <p:cNvPr id="11" name="Text 9"/>
          <p:cNvSpPr/>
          <p:nvPr/>
        </p:nvSpPr>
        <p:spPr>
          <a:xfrm>
            <a:off x="5966460" y="2450592"/>
            <a:ext cx="822960" cy="822960"/>
          </a:xfrm>
          <a:prstGeom prst="rect">
            <a:avLst/>
          </a:prstGeom>
          <a:noFill/>
          <a:ln/>
        </p:spPr>
        <p:txBody>
          <a:bodyPr wrap="square" rtlCol="0" anchor="ctr"/>
          <a:lstStyle/>
          <a:p>
            <a:pPr marL="0" indent="0" algn="ctr">
              <a:buNone/>
            </a:pPr>
            <a:r>
              <a:rPr lang="en-US" sz="3200" dirty="0">
                <a:solidFill>
                  <a:srgbClr val="000000"/>
                </a:solidFill>
              </a:rPr>
              <a:t>🏥</a:t>
            </a:r>
            <a:endParaRPr lang="en-US" sz="3200" dirty="0"/>
          </a:p>
        </p:txBody>
      </p:sp>
      <p:sp>
        <p:nvSpPr>
          <p:cNvPr id="12" name="Text 10"/>
          <p:cNvSpPr/>
          <p:nvPr/>
        </p:nvSpPr>
        <p:spPr>
          <a:xfrm>
            <a:off x="4846320" y="3520440"/>
            <a:ext cx="3063240" cy="50292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Clinical Validation Study</a:t>
            </a:r>
            <a:endParaRPr lang="en-US" sz="1500" dirty="0"/>
          </a:p>
        </p:txBody>
      </p:sp>
      <p:sp>
        <p:nvSpPr>
          <p:cNvPr id="13" name="Text 11"/>
          <p:cNvSpPr/>
          <p:nvPr/>
        </p:nvSpPr>
        <p:spPr>
          <a:xfrm>
            <a:off x="4846320" y="4023360"/>
            <a:ext cx="3063240" cy="1005840"/>
          </a:xfrm>
          <a:prstGeom prst="rect">
            <a:avLst/>
          </a:prstGeom>
          <a:noFill/>
          <a:ln/>
        </p:spPr>
        <p:txBody>
          <a:bodyPr wrap="square" lIns="0" tIns="0" rIns="0" bIns="0" rtlCol="0" anchor="ctr"/>
          <a:lstStyle/>
          <a:p>
            <a:pPr marL="0" indent="0" algn="ctr">
              <a:buNone/>
            </a:pPr>
            <a:r>
              <a:rPr lang="en-US" sz="1200" dirty="0">
                <a:solidFill>
                  <a:srgbClr val="D9EDF2"/>
                </a:solidFill>
                <a:latin typeface="Calibri" pitchFamily="34" charset="0"/>
                <a:ea typeface="Calibri" pitchFamily="34" charset="-122"/>
                <a:cs typeface="Calibri" pitchFamily="34" charset="-120"/>
              </a:rPr>
              <a:t>Partner with a clinical site for a prospective evaluation against specialist ground truth.</a:t>
            </a:r>
            <a:endParaRPr lang="en-US" sz="1200" dirty="0"/>
          </a:p>
        </p:txBody>
      </p:sp>
      <p:sp>
        <p:nvSpPr>
          <p:cNvPr id="14" name="Shape 12"/>
          <p:cNvSpPr/>
          <p:nvPr/>
        </p:nvSpPr>
        <p:spPr>
          <a:xfrm>
            <a:off x="8412480" y="2103120"/>
            <a:ext cx="3520440" cy="3108960"/>
          </a:xfrm>
          <a:prstGeom prst="roundRect">
            <a:avLst>
              <a:gd name="adj" fmla="val 2647"/>
            </a:avLst>
          </a:prstGeom>
          <a:solidFill>
            <a:srgbClr val="384653"/>
          </a:solidFill>
          <a:ln/>
          <a:effectLst>
            <a:outerShdw blurRad="101600" dist="38100" dir="5400000" algn="bl" rotWithShape="0">
              <a:srgbClr val="000000">
                <a:alpha val="35000"/>
              </a:srgbClr>
            </a:outerShdw>
          </a:effectLst>
        </p:spPr>
        <p:txBody>
          <a:bodyPr/>
          <a:lstStyle/>
          <a:p>
            <a:endParaRPr lang="en-US"/>
          </a:p>
        </p:txBody>
      </p:sp>
      <p:sp>
        <p:nvSpPr>
          <p:cNvPr id="15" name="Shape 13"/>
          <p:cNvSpPr/>
          <p:nvPr/>
        </p:nvSpPr>
        <p:spPr>
          <a:xfrm>
            <a:off x="9761220" y="2468880"/>
            <a:ext cx="822960" cy="822960"/>
          </a:xfrm>
          <a:prstGeom prst="ellipse">
            <a:avLst/>
          </a:prstGeom>
          <a:solidFill>
            <a:srgbClr val="028090"/>
          </a:solidFill>
          <a:ln/>
        </p:spPr>
        <p:txBody>
          <a:bodyPr/>
          <a:lstStyle/>
          <a:p>
            <a:endParaRPr lang="en-US"/>
          </a:p>
        </p:txBody>
      </p:sp>
      <p:sp>
        <p:nvSpPr>
          <p:cNvPr id="16" name="Text 14"/>
          <p:cNvSpPr/>
          <p:nvPr/>
        </p:nvSpPr>
        <p:spPr>
          <a:xfrm>
            <a:off x="9761220" y="2450592"/>
            <a:ext cx="822960" cy="822960"/>
          </a:xfrm>
          <a:prstGeom prst="rect">
            <a:avLst/>
          </a:prstGeom>
          <a:noFill/>
          <a:ln/>
        </p:spPr>
        <p:txBody>
          <a:bodyPr wrap="square" rtlCol="0" anchor="ctr"/>
          <a:lstStyle/>
          <a:p>
            <a:pPr marL="0" indent="0" algn="ctr">
              <a:buNone/>
            </a:pPr>
            <a:r>
              <a:rPr lang="en-US" sz="3200" dirty="0">
                <a:solidFill>
                  <a:srgbClr val="000000"/>
                </a:solidFill>
              </a:rPr>
              <a:t>🧩</a:t>
            </a:r>
            <a:endParaRPr lang="en-US" sz="3200" dirty="0"/>
          </a:p>
        </p:txBody>
      </p:sp>
      <p:sp>
        <p:nvSpPr>
          <p:cNvPr id="17" name="Text 15"/>
          <p:cNvSpPr/>
          <p:nvPr/>
        </p:nvSpPr>
        <p:spPr>
          <a:xfrm>
            <a:off x="8641080" y="3520440"/>
            <a:ext cx="3063240" cy="50292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New Modalities</a:t>
            </a:r>
            <a:endParaRPr lang="en-US" sz="1500" dirty="0"/>
          </a:p>
        </p:txBody>
      </p:sp>
      <p:sp>
        <p:nvSpPr>
          <p:cNvPr id="18" name="Text 16"/>
          <p:cNvSpPr/>
          <p:nvPr/>
        </p:nvSpPr>
        <p:spPr>
          <a:xfrm>
            <a:off x="8641080" y="4023360"/>
            <a:ext cx="3063240" cy="1005840"/>
          </a:xfrm>
          <a:prstGeom prst="rect">
            <a:avLst/>
          </a:prstGeom>
          <a:noFill/>
          <a:ln/>
        </p:spPr>
        <p:txBody>
          <a:bodyPr wrap="square" lIns="0" tIns="0" rIns="0" bIns="0" rtlCol="0" anchor="ctr"/>
          <a:lstStyle/>
          <a:p>
            <a:pPr marL="0" indent="0" algn="ctr">
              <a:buNone/>
            </a:pPr>
            <a:r>
              <a:rPr lang="en-US" sz="1200" dirty="0">
                <a:solidFill>
                  <a:srgbClr val="D9EDF2"/>
                </a:solidFill>
                <a:latin typeface="Calibri" pitchFamily="34" charset="0"/>
                <a:ea typeface="Calibri" pitchFamily="34" charset="-122"/>
                <a:cs typeface="Calibri" pitchFamily="34" charset="-120"/>
              </a:rPr>
              <a:t>Extend the platform to additional imaging types and languages.</a:t>
            </a:r>
            <a:endParaRPr lang="en-US" sz="1200" dirty="0"/>
          </a:p>
        </p:txBody>
      </p:sp>
      <p:sp>
        <p:nvSpPr>
          <p:cNvPr id="19" name="Text 17"/>
          <p:cNvSpPr/>
          <p:nvPr/>
        </p:nvSpPr>
        <p:spPr>
          <a:xfrm>
            <a:off x="11612880" y="6473952"/>
            <a:ext cx="457200" cy="274320"/>
          </a:xfrm>
          <a:prstGeom prst="rect">
            <a:avLst/>
          </a:prstGeom>
          <a:noFill/>
          <a:ln/>
        </p:spPr>
        <p:txBody>
          <a:bodyPr wrap="square" rtlCol="0" anchor="ctr"/>
          <a:lstStyle/>
          <a:p>
            <a:pPr marL="0" indent="0" algn="r">
              <a:buNone/>
            </a:pPr>
            <a:r>
              <a:rPr lang="en-US" sz="1000" dirty="0">
                <a:solidFill>
                  <a:srgbClr val="BFD3D8"/>
                </a:solidFill>
                <a:latin typeface="Calibri" pitchFamily="34" charset="0"/>
                <a:ea typeface="Calibri" pitchFamily="34" charset="-122"/>
                <a:cs typeface="Calibri" pitchFamily="34" charset="-120"/>
              </a:rPr>
              <a:t>26</a:t>
            </a:r>
            <a:endParaRPr lang="en-US" sz="1000" dirty="0"/>
          </a:p>
        </p:txBody>
      </p:sp>
      <p:sp>
        <p:nvSpPr>
          <p:cNvPr id="20" name="Text 18"/>
          <p:cNvSpPr/>
          <p:nvPr/>
        </p:nvSpPr>
        <p:spPr>
          <a:xfrm>
            <a:off x="548640" y="6473952"/>
            <a:ext cx="2743200" cy="274320"/>
          </a:xfrm>
          <a:prstGeom prst="rect">
            <a:avLst/>
          </a:prstGeom>
          <a:noFill/>
          <a:ln/>
        </p:spPr>
        <p:txBody>
          <a:bodyPr wrap="square" rtlCol="0" anchor="ctr"/>
          <a:lstStyle/>
          <a:p>
            <a:pPr marL="0" indent="0">
              <a:buNone/>
            </a:pPr>
            <a:r>
              <a:rPr lang="en-US" sz="1000" dirty="0">
                <a:solidFill>
                  <a:srgbClr val="BFD3D8"/>
                </a:solidFill>
                <a:latin typeface="Calibri" pitchFamily="34" charset="0"/>
                <a:ea typeface="Calibri" pitchFamily="34" charset="-122"/>
                <a:cs typeface="Calibri" pitchFamily="34" charset="-120"/>
              </a:rPr>
              <a:t>MediNova-AI</a:t>
            </a:r>
            <a:endParaRPr lang="en-US" sz="10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28">
    <p:bg>
      <p:bgPr>
        <a:solidFill>
          <a:srgbClr val="2E3C4E"/>
        </a:solidFill>
        <a:effectLst/>
      </p:bgPr>
    </p:bg>
    <p:spTree>
      <p:nvGrpSpPr>
        <p:cNvPr id="1" name=""/>
        <p:cNvGrpSpPr/>
        <p:nvPr/>
      </p:nvGrpSpPr>
      <p:grpSpPr>
        <a:xfrm>
          <a:off x="0" y="0"/>
          <a:ext cx="0" cy="0"/>
          <a:chOff x="0" y="0"/>
          <a:chExt cx="0" cy="0"/>
        </a:xfrm>
      </p:grpSpPr>
      <p:sp>
        <p:nvSpPr>
          <p:cNvPr id="2" name="Shape 0"/>
          <p:cNvSpPr/>
          <p:nvPr/>
        </p:nvSpPr>
        <p:spPr>
          <a:xfrm>
            <a:off x="9692640" y="-1463040"/>
            <a:ext cx="4754880" cy="4754880"/>
          </a:xfrm>
          <a:prstGeom prst="ellipse">
            <a:avLst/>
          </a:prstGeom>
          <a:solidFill>
            <a:srgbClr val="004A66">
              <a:alpha val="45000"/>
            </a:srgbClr>
          </a:solidFill>
          <a:ln/>
        </p:spPr>
        <p:txBody>
          <a:bodyPr/>
          <a:lstStyle/>
          <a:p>
            <a:endParaRPr lang="en-US"/>
          </a:p>
        </p:txBody>
      </p:sp>
      <p:sp>
        <p:nvSpPr>
          <p:cNvPr id="3" name="Shape 1"/>
          <p:cNvSpPr/>
          <p:nvPr/>
        </p:nvSpPr>
        <p:spPr>
          <a:xfrm>
            <a:off x="-1645920" y="4937760"/>
            <a:ext cx="4206240" cy="4206240"/>
          </a:xfrm>
          <a:prstGeom prst="ellipse">
            <a:avLst/>
          </a:prstGeom>
          <a:solidFill>
            <a:srgbClr val="0077A8">
              <a:alpha val="38000"/>
            </a:srgbClr>
          </a:solidFill>
          <a:ln/>
        </p:spPr>
        <p:txBody>
          <a:bodyPr/>
          <a:lstStyle/>
          <a:p>
            <a:endParaRPr lang="en-US"/>
          </a:p>
        </p:txBody>
      </p:sp>
      <p:sp>
        <p:nvSpPr>
          <p:cNvPr id="4" name="Text 2"/>
          <p:cNvSpPr/>
          <p:nvPr/>
        </p:nvSpPr>
        <p:spPr>
          <a:xfrm>
            <a:off x="548640" y="2651760"/>
            <a:ext cx="10058400" cy="1005840"/>
          </a:xfrm>
          <a:prstGeom prst="rect">
            <a:avLst/>
          </a:prstGeom>
          <a:noFill/>
          <a:ln/>
        </p:spPr>
        <p:txBody>
          <a:bodyPr wrap="square" lIns="0" tIns="0" rIns="0" bIns="0" rtlCol="0" anchor="ctr"/>
          <a:lstStyle/>
          <a:p>
            <a:pPr marL="0" indent="0">
              <a:buNone/>
            </a:pPr>
            <a:endParaRPr lang="en-US" sz="5200" dirty="0"/>
          </a:p>
        </p:txBody>
      </p:sp>
      <p:sp>
        <p:nvSpPr>
          <p:cNvPr id="6" name="Text 4"/>
          <p:cNvSpPr/>
          <p:nvPr/>
        </p:nvSpPr>
        <p:spPr>
          <a:xfrm>
            <a:off x="566928" y="6035040"/>
            <a:ext cx="10515600" cy="365760"/>
          </a:xfrm>
          <a:prstGeom prst="rect">
            <a:avLst/>
          </a:prstGeom>
          <a:noFill/>
          <a:ln/>
        </p:spPr>
        <p:txBody>
          <a:bodyPr wrap="square" lIns="0" tIns="0" rIns="0" bIns="0" rtlCol="0" anchor="ctr"/>
          <a:lstStyle/>
          <a:p>
            <a:pPr marL="0" indent="0">
              <a:buNone/>
            </a:pPr>
            <a:r>
              <a:rPr lang="en-US" sz="1250" i="1" dirty="0" err="1">
                <a:solidFill>
                  <a:srgbClr val="BFD3D8"/>
                </a:solidFill>
                <a:latin typeface="Calibri" pitchFamily="34" charset="0"/>
                <a:ea typeface="Calibri" pitchFamily="34" charset="-122"/>
                <a:cs typeface="Calibri" pitchFamily="34" charset="-120"/>
              </a:rPr>
              <a:t>MediNova</a:t>
            </a:r>
            <a:r>
              <a:rPr lang="en-US" sz="1250" i="1">
                <a:solidFill>
                  <a:srgbClr val="BFD3D8"/>
                </a:solidFill>
                <a:latin typeface="Calibri" pitchFamily="34" charset="0"/>
                <a:ea typeface="Calibri" pitchFamily="34" charset="-122"/>
                <a:cs typeface="Calibri" pitchFamily="34" charset="-120"/>
              </a:rPr>
              <a:t>-AI</a:t>
            </a:r>
            <a:endParaRPr lang="en-US" sz="1250" dirty="0"/>
          </a:p>
        </p:txBody>
      </p:sp>
      <p:sp>
        <p:nvSpPr>
          <p:cNvPr id="8" name="TextBox 7">
            <a:extLst>
              <a:ext uri="{FF2B5EF4-FFF2-40B4-BE49-F238E27FC236}">
                <a16:creationId xmlns:a16="http://schemas.microsoft.com/office/drawing/2014/main" id="{A9924F84-21C5-F1A5-7959-64F437573DFC}"/>
              </a:ext>
            </a:extLst>
          </p:cNvPr>
          <p:cNvSpPr txBox="1"/>
          <p:nvPr/>
        </p:nvSpPr>
        <p:spPr>
          <a:xfrm>
            <a:off x="721360" y="541913"/>
            <a:ext cx="10180320" cy="3539430"/>
          </a:xfrm>
          <a:prstGeom prst="rect">
            <a:avLst/>
          </a:prstGeom>
          <a:noFill/>
        </p:spPr>
        <p:txBody>
          <a:bodyPr wrap="square">
            <a:spAutoFit/>
          </a:bodyPr>
          <a:lstStyle/>
          <a:p>
            <a:pPr algn="ctr">
              <a:buNone/>
            </a:pPr>
            <a:r>
              <a:rPr lang="en-US" sz="3200" b="1" u="sng" dirty="0">
                <a:solidFill>
                  <a:schemeClr val="bg1"/>
                </a:solidFill>
                <a:latin typeface="Times New Roman" panose="02020603050405020304" pitchFamily="18" charset="0"/>
                <a:cs typeface="Times New Roman" panose="02020603050405020304" pitchFamily="18" charset="0"/>
              </a:rPr>
              <a:t>Conclusion</a:t>
            </a:r>
          </a:p>
          <a:p>
            <a:pPr>
              <a:buNone/>
            </a:pPr>
            <a:endParaRPr lang="en-US" b="1" dirty="0"/>
          </a:p>
          <a:p>
            <a:pPr>
              <a:buNone/>
            </a:pPr>
            <a:endParaRPr lang="en-US" b="1" dirty="0"/>
          </a:p>
          <a:p>
            <a:pPr>
              <a:buNone/>
            </a:pPr>
            <a:endParaRPr lang="en-US" b="1" dirty="0"/>
          </a:p>
          <a:p>
            <a:pPr>
              <a:buNone/>
            </a:pPr>
            <a:endParaRPr lang="en-US" b="1" dirty="0"/>
          </a:p>
          <a:p>
            <a:pPr lvl="1"/>
            <a:r>
              <a:rPr lang="en-US" sz="2000" dirty="0">
                <a:solidFill>
                  <a:schemeClr val="bg1"/>
                </a:solidFill>
                <a:latin typeface="Times New Roman" panose="02020603050405020304" pitchFamily="18" charset="0"/>
                <a:cs typeface="Times New Roman" panose="02020603050405020304" pitchFamily="18" charset="0"/>
              </a:rPr>
              <a:t>This project demonstrates the potential of </a:t>
            </a:r>
            <a:r>
              <a:rPr lang="en-US" sz="2000" b="1" dirty="0">
                <a:solidFill>
                  <a:schemeClr val="bg1"/>
                </a:solidFill>
                <a:latin typeface="Times New Roman" panose="02020603050405020304" pitchFamily="18" charset="0"/>
                <a:cs typeface="Times New Roman" panose="02020603050405020304" pitchFamily="18" charset="0"/>
              </a:rPr>
              <a:t>Artificial Intelligence</a:t>
            </a:r>
            <a:r>
              <a:rPr lang="en-US" sz="2000" dirty="0">
                <a:solidFill>
                  <a:schemeClr val="bg1"/>
                </a:solidFill>
                <a:latin typeface="Times New Roman" panose="02020603050405020304" pitchFamily="18" charset="0"/>
                <a:cs typeface="Times New Roman" panose="02020603050405020304" pitchFamily="18" charset="0"/>
              </a:rPr>
              <a:t> and </a:t>
            </a:r>
            <a:r>
              <a:rPr lang="en-US" sz="2000" b="1" dirty="0">
                <a:solidFill>
                  <a:schemeClr val="bg1"/>
                </a:solidFill>
                <a:latin typeface="Times New Roman" panose="02020603050405020304" pitchFamily="18" charset="0"/>
                <a:cs typeface="Times New Roman" panose="02020603050405020304" pitchFamily="18" charset="0"/>
              </a:rPr>
              <a:t>Deep Learning</a:t>
            </a:r>
            <a:r>
              <a:rPr lang="en-US" sz="2000" dirty="0">
                <a:solidFill>
                  <a:schemeClr val="bg1"/>
                </a:solidFill>
                <a:latin typeface="Times New Roman" panose="02020603050405020304" pitchFamily="18" charset="0"/>
                <a:cs typeface="Times New Roman" panose="02020603050405020304" pitchFamily="18" charset="0"/>
              </a:rPr>
              <a:t> in supporting the early detection of multiple diseases using medical images. By leveraging advanced CNN architectures and medical imaging datasets, the proposed models achieve high accuracy while providing fast and reliable predictions. Although AI is not a replacement for medical professionals, it can serve as an effective decision-support tool, helping improve diagnostic efficiency and patient outcomes</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2E3C4E"/>
        </a:solidFill>
        <a:effectLst/>
      </p:bgPr>
    </p:bg>
    <p:spTree>
      <p:nvGrpSpPr>
        <p:cNvPr id="1" name="">
          <a:extLst>
            <a:ext uri="{FF2B5EF4-FFF2-40B4-BE49-F238E27FC236}">
              <a16:creationId xmlns:a16="http://schemas.microsoft.com/office/drawing/2014/main" id="{8527360F-D747-844D-176B-82759E563403}"/>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92479260-2C9C-DD32-1F18-70A70219CE4D}"/>
              </a:ext>
            </a:extLst>
          </p:cNvPr>
          <p:cNvSpPr/>
          <p:nvPr/>
        </p:nvSpPr>
        <p:spPr>
          <a:xfrm>
            <a:off x="9692640" y="-1463040"/>
            <a:ext cx="4754880" cy="4754880"/>
          </a:xfrm>
          <a:prstGeom prst="ellipse">
            <a:avLst/>
          </a:prstGeom>
          <a:solidFill>
            <a:srgbClr val="004A66">
              <a:alpha val="45000"/>
            </a:srgbClr>
          </a:solidFill>
          <a:ln/>
        </p:spPr>
        <p:txBody>
          <a:bodyPr/>
          <a:lstStyle/>
          <a:p>
            <a:endParaRPr lang="en-US"/>
          </a:p>
        </p:txBody>
      </p:sp>
      <p:sp>
        <p:nvSpPr>
          <p:cNvPr id="3" name="Shape 1">
            <a:extLst>
              <a:ext uri="{FF2B5EF4-FFF2-40B4-BE49-F238E27FC236}">
                <a16:creationId xmlns:a16="http://schemas.microsoft.com/office/drawing/2014/main" id="{649B6ADC-E106-AD3D-88FC-7383141E2459}"/>
              </a:ext>
            </a:extLst>
          </p:cNvPr>
          <p:cNvSpPr/>
          <p:nvPr/>
        </p:nvSpPr>
        <p:spPr>
          <a:xfrm>
            <a:off x="-1645920" y="4937760"/>
            <a:ext cx="4206240" cy="4206240"/>
          </a:xfrm>
          <a:prstGeom prst="ellipse">
            <a:avLst/>
          </a:prstGeom>
          <a:solidFill>
            <a:srgbClr val="0077A8">
              <a:alpha val="38000"/>
            </a:srgbClr>
          </a:solidFill>
          <a:ln/>
        </p:spPr>
        <p:txBody>
          <a:bodyPr/>
          <a:lstStyle/>
          <a:p>
            <a:endParaRPr lang="en-US"/>
          </a:p>
        </p:txBody>
      </p:sp>
      <p:sp>
        <p:nvSpPr>
          <p:cNvPr id="4" name="Text 2">
            <a:extLst>
              <a:ext uri="{FF2B5EF4-FFF2-40B4-BE49-F238E27FC236}">
                <a16:creationId xmlns:a16="http://schemas.microsoft.com/office/drawing/2014/main" id="{3F390E5C-C857-2AB4-C6BA-BF9F51C144F5}"/>
              </a:ext>
            </a:extLst>
          </p:cNvPr>
          <p:cNvSpPr/>
          <p:nvPr/>
        </p:nvSpPr>
        <p:spPr>
          <a:xfrm>
            <a:off x="548640" y="2651760"/>
            <a:ext cx="10058400" cy="1005840"/>
          </a:xfrm>
          <a:prstGeom prst="rect">
            <a:avLst/>
          </a:prstGeom>
          <a:noFill/>
          <a:ln/>
        </p:spPr>
        <p:txBody>
          <a:bodyPr wrap="square" lIns="0" tIns="0" rIns="0" bIns="0" rtlCol="0" anchor="ctr"/>
          <a:lstStyle/>
          <a:p>
            <a:pPr marL="0" indent="0">
              <a:buNone/>
            </a:pPr>
            <a:r>
              <a:rPr lang="en-US" sz="5200" b="1" dirty="0">
                <a:solidFill>
                  <a:srgbClr val="FFFFFF"/>
                </a:solidFill>
                <a:latin typeface="Calibri" pitchFamily="34" charset="0"/>
                <a:ea typeface="Calibri" pitchFamily="34" charset="-122"/>
                <a:cs typeface="Calibri" pitchFamily="34" charset="-120"/>
              </a:rPr>
              <a:t>Thank You</a:t>
            </a:r>
            <a:endParaRPr lang="en-US" sz="5200" dirty="0"/>
          </a:p>
        </p:txBody>
      </p:sp>
      <p:sp>
        <p:nvSpPr>
          <p:cNvPr id="5" name="Text 3">
            <a:extLst>
              <a:ext uri="{FF2B5EF4-FFF2-40B4-BE49-F238E27FC236}">
                <a16:creationId xmlns:a16="http://schemas.microsoft.com/office/drawing/2014/main" id="{30790AB8-5EC3-67A7-AACF-B978E06AA2BC}"/>
              </a:ext>
            </a:extLst>
          </p:cNvPr>
          <p:cNvSpPr/>
          <p:nvPr/>
        </p:nvSpPr>
        <p:spPr>
          <a:xfrm>
            <a:off x="566928" y="3611880"/>
            <a:ext cx="9144000" cy="502920"/>
          </a:xfrm>
          <a:prstGeom prst="rect">
            <a:avLst/>
          </a:prstGeom>
          <a:noFill/>
          <a:ln/>
        </p:spPr>
        <p:txBody>
          <a:bodyPr wrap="square" lIns="0" tIns="0" rIns="0" bIns="0" rtlCol="0" anchor="ctr"/>
          <a:lstStyle/>
          <a:p>
            <a:pPr marL="0" indent="0">
              <a:buNone/>
            </a:pPr>
            <a:r>
              <a:rPr lang="en-US" sz="2000" dirty="0">
                <a:solidFill>
                  <a:srgbClr val="95CCDA"/>
                </a:solidFill>
                <a:latin typeface="Calibri" pitchFamily="34" charset="0"/>
                <a:ea typeface="Calibri" pitchFamily="34" charset="-122"/>
                <a:cs typeface="Calibri" pitchFamily="34" charset="-120"/>
              </a:rPr>
              <a:t>Questions &amp; Discussion</a:t>
            </a:r>
            <a:endParaRPr lang="en-US" sz="2000" dirty="0"/>
          </a:p>
        </p:txBody>
      </p:sp>
      <p:sp>
        <p:nvSpPr>
          <p:cNvPr id="6" name="Text 4">
            <a:extLst>
              <a:ext uri="{FF2B5EF4-FFF2-40B4-BE49-F238E27FC236}">
                <a16:creationId xmlns:a16="http://schemas.microsoft.com/office/drawing/2014/main" id="{72E28A66-6D90-569B-8101-3D117517338D}"/>
              </a:ext>
            </a:extLst>
          </p:cNvPr>
          <p:cNvSpPr/>
          <p:nvPr/>
        </p:nvSpPr>
        <p:spPr>
          <a:xfrm>
            <a:off x="566928" y="6035040"/>
            <a:ext cx="10515600" cy="365760"/>
          </a:xfrm>
          <a:prstGeom prst="rect">
            <a:avLst/>
          </a:prstGeom>
          <a:noFill/>
          <a:ln/>
        </p:spPr>
        <p:txBody>
          <a:bodyPr wrap="square" lIns="0" tIns="0" rIns="0" bIns="0" rtlCol="0" anchor="ctr"/>
          <a:lstStyle/>
          <a:p>
            <a:pPr marL="0" indent="0">
              <a:buNone/>
            </a:pPr>
            <a:r>
              <a:rPr lang="en-US" sz="1250" i="1" dirty="0" err="1">
                <a:solidFill>
                  <a:srgbClr val="BFD3D8"/>
                </a:solidFill>
                <a:latin typeface="Calibri" pitchFamily="34" charset="0"/>
                <a:ea typeface="Calibri" pitchFamily="34" charset="-122"/>
                <a:cs typeface="Calibri" pitchFamily="34" charset="-120"/>
              </a:rPr>
              <a:t>MediNova</a:t>
            </a:r>
            <a:r>
              <a:rPr lang="en-US" sz="1250" i="1">
                <a:solidFill>
                  <a:srgbClr val="BFD3D8"/>
                </a:solidFill>
                <a:latin typeface="Calibri" pitchFamily="34" charset="0"/>
                <a:ea typeface="Calibri" pitchFamily="34" charset="-122"/>
                <a:cs typeface="Calibri" pitchFamily="34" charset="-120"/>
              </a:rPr>
              <a:t>-AI</a:t>
            </a:r>
            <a:endParaRPr lang="en-US" sz="1250" dirty="0"/>
          </a:p>
        </p:txBody>
      </p:sp>
    </p:spTree>
    <p:extLst>
      <p:ext uri="{BB962C8B-B14F-4D97-AF65-F5344CB8AC3E}">
        <p14:creationId xmlns:p14="http://schemas.microsoft.com/office/powerpoint/2010/main" val="255621540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140</TotalTime>
  <Words>1135</Words>
  <Application>Microsoft Office PowerPoint</Application>
  <PresentationFormat>Widescreen</PresentationFormat>
  <Paragraphs>294</Paragraphs>
  <Slides>32</Slides>
  <Notes>32</Notes>
  <HiddenSlides>0</HiddenSlides>
  <MMClips>1</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32</vt:i4>
      </vt:variant>
    </vt:vector>
  </HeadingPairs>
  <TitlesOfParts>
    <vt:vector size="36" baseType="lpstr">
      <vt:lpstr>Arial</vt:lpstr>
      <vt:lpstr>Calibri</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Salma Zaghloul Ali Mohamed Samak</cp:lastModifiedBy>
  <cp:revision>5</cp:revision>
  <dcterms:created xsi:type="dcterms:W3CDTF">2026-07-11T09:32:13Z</dcterms:created>
  <dcterms:modified xsi:type="dcterms:W3CDTF">2026-07-14T22:43:15Z</dcterms:modified>
</cp:coreProperties>
</file>