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Headline metric (%)</c:v>
                </c:pt>
              </c:strCache>
            </c:strRef>
          </c:tx>
          <c:spPr>
            <a:solidFill>
              <a:srgbClr val="0077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Skin Disease</c:v>
                  </c:pt>
                  <c:pt idx="1">
                    <c:v>Chest X-Ray</c:v>
                  </c:pt>
                  <c:pt idx="2">
                    <c:v>Histopathology</c:v>
                  </c:pt>
                  <c:pt idx="3">
                    <c:v>Clinical LLM (SBERT)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98.18</c:v>
                </c:pt>
                <c:pt idx="1">
                  <c:v>80.3</c:v>
                </c:pt>
                <c:pt idx="2">
                  <c:v>81.7</c:v>
                </c:pt>
                <c:pt idx="3">
                  <c:v>82.2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FD3D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3846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FD3D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E3C4E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2E3C4E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04A6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0077A8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004A6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· 2026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566928" y="312724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AI-Powered Medical Diagnosis Platform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66928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specialised AI models — dermatology, radiology, histopathology, prescription OCR, and a bilingual clinical LLM — fused into one intelligent, multi-agent healthcare assistant.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66928" y="5349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15768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98.18%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715768" y="5349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Accuracy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64608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864608" y="5349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ROC-AUC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013448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013448" y="5349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Fady Yousef &amp; the MediNova-AI Team  ·  Vision &amp; NLP AI Fusion Pipeline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BEHIND 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51660" y="1856232"/>
            <a:ext cx="914400" cy="91440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6" name="Text 4"/>
          <p:cNvSpPr/>
          <p:nvPr/>
        </p:nvSpPr>
        <p:spPr>
          <a:xfrm>
            <a:off x="1851660" y="18379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⭐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Fady Yousef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 · Vision &amp; LLM Fusion Lead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17520" y="1764792"/>
            <a:ext cx="914400" cy="292608"/>
          </a:xfrm>
          <a:prstGeom prst="roundRect">
            <a:avLst>
              <a:gd name="adj" fmla="val 25000"/>
            </a:avLst>
          </a:prstGeom>
          <a:solidFill>
            <a:srgbClr val="95CCDA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17647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3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51960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54980" y="1856232"/>
            <a:ext cx="914400" cy="91440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13" name="Text 11"/>
          <p:cNvSpPr/>
          <p:nvPr/>
        </p:nvSpPr>
        <p:spPr>
          <a:xfrm>
            <a:off x="5554980" y="18379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💻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89120" y="29260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 Samak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8912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55280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58300" y="1856232"/>
            <a:ext cx="914400" cy="91440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18" name="Text 16"/>
          <p:cNvSpPr/>
          <p:nvPr/>
        </p:nvSpPr>
        <p:spPr>
          <a:xfrm>
            <a:off x="9258300" y="18379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🔬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Rokia Hassan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09244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 · Handwritten OCR (TrOCR)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51660" y="4507992"/>
            <a:ext cx="914400" cy="91440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23" name="Text 21"/>
          <p:cNvSpPr/>
          <p:nvPr/>
        </p:nvSpPr>
        <p:spPr>
          <a:xfrm>
            <a:off x="1851660" y="448970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⚙️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85800" y="5577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Fares Waleed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85800" y="59710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51960" y="42519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54980" y="4507992"/>
            <a:ext cx="914400" cy="91440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28" name="Text 26"/>
          <p:cNvSpPr/>
          <p:nvPr/>
        </p:nvSpPr>
        <p:spPr>
          <a:xfrm>
            <a:off x="5554980" y="448970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📊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4389120" y="5577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Alaa Abdelhakeem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389120" y="59710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280" y="42519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258300" y="4507992"/>
            <a:ext cx="914400" cy="91440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33" name="Text 31"/>
          <p:cNvSpPr/>
          <p:nvPr/>
        </p:nvSpPr>
        <p:spPr>
          <a:xfrm>
            <a:off x="9258300" y="448970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🧠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8092440" y="5577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Magdy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8092440" y="59710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Motivation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needs faster, more consistent, and more accessible first-line diagnostic support.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Shortage of Specialists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08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Dermatologists, radiologists and pathologists are unevenly distributed — many communities wait weeks for a first read.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1" name="Shape 9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223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Diagnostic Workload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and prescription volumes keep growing faster than the clinical workforce that reviews them.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Illegible Handwriting Risk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08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prescriptions are a documented source of medication errors in low-digitisation clinics.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04A66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23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Maturing AI Toolkit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223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learning, PEFT/LoRA and instruction-tuned LLMs now make specialised, low-cost medical AI practical to build.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ARE CLOSING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Problem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bottlenecks recur across dermatology, radiology, pathology and pharmacy workflows.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384653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756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77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triage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often wait for a specialist simply to learn whether a finding is urgent.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24304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172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77A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0175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Inter-observer variability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754880" y="301752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clinicians can read the same scan or slide differently, especially under time pressure.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384653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270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77A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114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disconnected tools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754880" y="411480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models, report writing and prescription reading typically live in separate, unlinked systems.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243040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77A8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52120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754880" y="52120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Non-English-speaking patients frequently receive assessments only in a language they do not read fluently.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ALREADY EXISTS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&amp; Their Limits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Single-Task Vision Apps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on one modality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validate clinically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9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cross-modality reasoning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report generation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English-only, usually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Chatbots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2628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26280" y="2788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medical knowledge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conversation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2628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9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image analysis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risk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clinical output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73736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7532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PACS / EHR Add-ons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75320" y="2788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with records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Institution-trusted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7532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9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75320" y="41605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closed platforms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adopt new models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OCR for handwritten notes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DIFFERENTIATOR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MediNova-AI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five specialised models, a single bilingual clinical 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Not Siloed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08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Dermatology, radiology, histopathology, OCR and reasoning share one orchestration layer instead of five separate apps.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1" name="Shape 9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223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Clinically-Aware Reasoning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multi-agent system routes cases through triage, semantic validation and emergency escalation.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by Design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08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structured report is generated in both English and Arabic for the patient and the clinician.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23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Fine-Tuning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223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/ PEFT and 4-bit quantisation keep every model small enough to fine-tune and serve on a single GPU.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DO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38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37944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6479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five clinically-grounded AI models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57800" y="1764792"/>
            <a:ext cx="6172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lesion, chest X-ray, breast histopathology, prescription OCR, and a medical-domain LLM.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38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779776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761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70662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clinical-grade accuracy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57800" y="2706624"/>
            <a:ext cx="6172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≥95% headline accuracy on vision tasks and a near-zero hallucination rate on generated reports.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38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721608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3648456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training efficient &amp; reproducible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57800" y="3648456"/>
            <a:ext cx="6172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PEFT/LoRA, patient-level splits and fixed seeds so every result can be reproduced on a single GPU.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384653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466344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6451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459028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Orchestrate, don't just predict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57800" y="4590288"/>
            <a:ext cx="6172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every case through a multi-agent reasoning layer that can escalate emergencies in real time.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5896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384653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605272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5869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508760" y="55321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something deployable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57800" y="5532120"/>
            <a:ext cx="6172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the whole pipeline behind a FastAPI service producing bilingual, structured clinical reports.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MODULES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System Overview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an independently fine-tuned model, unified behind one orchestration layer.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2084832" cy="109728"/>
          </a:xfrm>
          <a:prstGeom prst="roundRect">
            <a:avLst/>
          </a:prstGeom>
          <a:solidFill>
            <a:srgbClr val="0077A8"/>
          </a:solidFill>
          <a:ln/>
        </p:spPr>
      </p:sp>
      <p:sp>
        <p:nvSpPr>
          <p:cNvPr id="7" name="Shape 5"/>
          <p:cNvSpPr/>
          <p:nvPr/>
        </p:nvSpPr>
        <p:spPr>
          <a:xfrm>
            <a:off x="1179576" y="2240280"/>
            <a:ext cx="822960" cy="82296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22199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🩺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Disease Classification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· HAM10000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98064" y="182880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98064" y="1828800"/>
            <a:ext cx="2084832" cy="109728"/>
          </a:xfrm>
          <a:prstGeom prst="roundRect">
            <a:avLst/>
          </a:prstGeom>
          <a:solidFill>
            <a:srgbClr val="028090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224028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222199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🫁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935224" y="32461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Analysis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5224" y="4206240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+ LoRA · Kaggle Pneumonia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47488" y="182880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47488" y="1828800"/>
            <a:ext cx="2084832" cy="109728"/>
          </a:xfrm>
          <a:prstGeom prst="roundRect">
            <a:avLst/>
          </a:prstGeom>
          <a:solidFill>
            <a:srgbClr val="027A82"/>
          </a:solidFill>
          <a:ln/>
        </p:spPr>
      </p:sp>
      <p:sp>
        <p:nvSpPr>
          <p:cNvPr id="19" name="Shape 17"/>
          <p:cNvSpPr/>
          <p:nvPr/>
        </p:nvSpPr>
        <p:spPr>
          <a:xfrm>
            <a:off x="5678424" y="2240280"/>
            <a:ext cx="822960" cy="822960"/>
          </a:xfrm>
          <a:prstGeom prst="ellipse">
            <a:avLst/>
          </a:prstGeom>
          <a:solidFill>
            <a:srgbClr val="027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678424" y="222199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🧫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184648" y="32461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Histopathology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184648" y="4206240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 · BreaKHis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96912" y="182880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96912" y="1828800"/>
            <a:ext cx="2084832" cy="109728"/>
          </a:xfrm>
          <a:prstGeom prst="roundRect">
            <a:avLst/>
          </a:prstGeom>
          <a:solidFill>
            <a:srgbClr val="026174"/>
          </a:solidFill>
          <a:ln/>
        </p:spPr>
      </p:sp>
      <p:sp>
        <p:nvSpPr>
          <p:cNvPr id="25" name="Shape 23"/>
          <p:cNvSpPr/>
          <p:nvPr/>
        </p:nvSpPr>
        <p:spPr>
          <a:xfrm>
            <a:off x="7927848" y="2240280"/>
            <a:ext cx="822960" cy="822960"/>
          </a:xfrm>
          <a:prstGeom prst="ellipse">
            <a:avLst/>
          </a:prstGeom>
          <a:solidFill>
            <a:srgbClr val="026174"/>
          </a:solidFill>
          <a:ln/>
        </p:spPr>
      </p:sp>
      <p:sp>
        <p:nvSpPr>
          <p:cNvPr id="26" name="Text 24"/>
          <p:cNvSpPr/>
          <p:nvPr/>
        </p:nvSpPr>
        <p:spPr>
          <a:xfrm>
            <a:off x="7927848" y="222199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✍️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434072" y="32461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OCR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434072" y="4206240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 + LoRA · RxHandBD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546336" y="182880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46336" y="1828800"/>
            <a:ext cx="2084832" cy="109728"/>
          </a:xfrm>
          <a:prstGeom prst="roundRect">
            <a:avLst/>
          </a:prstGeom>
          <a:solidFill>
            <a:srgbClr val="005F82"/>
          </a:solidFill>
          <a:ln/>
        </p:spPr>
      </p:sp>
      <p:sp>
        <p:nvSpPr>
          <p:cNvPr id="31" name="Shape 29"/>
          <p:cNvSpPr/>
          <p:nvPr/>
        </p:nvSpPr>
        <p:spPr>
          <a:xfrm>
            <a:off x="10177272" y="2240280"/>
            <a:ext cx="822960" cy="822960"/>
          </a:xfrm>
          <a:prstGeom prst="ellipse">
            <a:avLst/>
          </a:prstGeom>
          <a:solidFill>
            <a:srgbClr val="005F82"/>
          </a:solidFill>
          <a:ln/>
        </p:spPr>
      </p:sp>
      <p:sp>
        <p:nvSpPr>
          <p:cNvPr id="32" name="Text 30"/>
          <p:cNvSpPr/>
          <p:nvPr/>
        </p:nvSpPr>
        <p:spPr>
          <a:xfrm>
            <a:off x="10177272" y="222199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9683496" y="324612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LLM &amp; Multi-Agent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683496" y="4206240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 LoRA/GPTQ · LangGraph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             Module 02              Module 03              Module 04              Module 05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AI Architecture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84832" cy="502920"/>
          </a:xfrm>
          <a:prstGeom prst="roundRect">
            <a:avLst>
              <a:gd name="adj" fmla="val 14545"/>
            </a:avLst>
          </a:prstGeom>
          <a:solidFill>
            <a:srgbClr val="24304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Photo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98064" y="1691640"/>
            <a:ext cx="2084832" cy="502920"/>
          </a:xfrm>
          <a:prstGeom prst="roundRect">
            <a:avLst>
              <a:gd name="adj" fmla="val 14545"/>
            </a:avLst>
          </a:prstGeom>
          <a:solidFill>
            <a:srgbClr val="243040"/>
          </a:solidFill>
          <a:ln/>
        </p:spPr>
      </p:sp>
      <p:sp>
        <p:nvSpPr>
          <p:cNvPr id="7" name="Text 5"/>
          <p:cNvSpPr/>
          <p:nvPr/>
        </p:nvSpPr>
        <p:spPr>
          <a:xfrm>
            <a:off x="2798064" y="169164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47488" y="1691640"/>
            <a:ext cx="2084832" cy="502920"/>
          </a:xfrm>
          <a:prstGeom prst="roundRect">
            <a:avLst>
              <a:gd name="adj" fmla="val 14545"/>
            </a:avLst>
          </a:prstGeom>
          <a:solidFill>
            <a:srgbClr val="243040"/>
          </a:solidFill>
          <a:ln/>
        </p:spPr>
      </p:sp>
      <p:sp>
        <p:nvSpPr>
          <p:cNvPr id="9" name="Text 7"/>
          <p:cNvSpPr/>
          <p:nvPr/>
        </p:nvSpPr>
        <p:spPr>
          <a:xfrm>
            <a:off x="5047488" y="169164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Histology Slide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296912" y="1691640"/>
            <a:ext cx="2084832" cy="502920"/>
          </a:xfrm>
          <a:prstGeom prst="roundRect">
            <a:avLst>
              <a:gd name="adj" fmla="val 14545"/>
            </a:avLst>
          </a:prstGeom>
          <a:solidFill>
            <a:srgbClr val="243040"/>
          </a:solidFill>
          <a:ln/>
        </p:spPr>
      </p:sp>
      <p:sp>
        <p:nvSpPr>
          <p:cNvPr id="11" name="Text 9"/>
          <p:cNvSpPr/>
          <p:nvPr/>
        </p:nvSpPr>
        <p:spPr>
          <a:xfrm>
            <a:off x="7296912" y="169164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 Image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546336" y="1691640"/>
            <a:ext cx="2084832" cy="502920"/>
          </a:xfrm>
          <a:prstGeom prst="roundRect">
            <a:avLst>
              <a:gd name="adj" fmla="val 14545"/>
            </a:avLst>
          </a:prstGeom>
          <a:solidFill>
            <a:srgbClr val="243040"/>
          </a:solidFill>
          <a:ln/>
        </p:spPr>
      </p:sp>
      <p:sp>
        <p:nvSpPr>
          <p:cNvPr id="13" name="Text 11"/>
          <p:cNvSpPr/>
          <p:nvPr/>
        </p:nvSpPr>
        <p:spPr>
          <a:xfrm>
            <a:off x="9546336" y="169164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Text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286000"/>
            <a:ext cx="822960" cy="365760"/>
          </a:xfrm>
          <a:prstGeom prst="downArrow">
            <a:avLst/>
          </a:prstGeom>
          <a:solidFill>
            <a:srgbClr val="0077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7889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384653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Model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200400"/>
            <a:ext cx="2084832" cy="548640"/>
          </a:xfrm>
          <a:prstGeom prst="roundRect">
            <a:avLst>
              <a:gd name="adj" fmla="val 13333"/>
            </a:avLst>
          </a:prstGeom>
          <a:solidFill>
            <a:srgbClr val="004A6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(Skin)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98648" y="3200400"/>
            <a:ext cx="2084832" cy="548640"/>
          </a:xfrm>
          <a:prstGeom prst="roundRect">
            <a:avLst>
              <a:gd name="adj" fmla="val 13333"/>
            </a:avLst>
          </a:prstGeom>
          <a:solidFill>
            <a:srgbClr val="004A66"/>
          </a:solidFill>
          <a:ln/>
        </p:spPr>
      </p:sp>
      <p:sp>
        <p:nvSpPr>
          <p:cNvPr id="20" name="Text 18"/>
          <p:cNvSpPr/>
          <p:nvPr/>
        </p:nvSpPr>
        <p:spPr>
          <a:xfrm>
            <a:off x="2898648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ResNet50+LoRA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(X-Ray)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0056" y="3200400"/>
            <a:ext cx="2084832" cy="548640"/>
          </a:xfrm>
          <a:prstGeom prst="roundRect">
            <a:avLst>
              <a:gd name="adj" fmla="val 13333"/>
            </a:avLst>
          </a:prstGeom>
          <a:solidFill>
            <a:srgbClr val="004A66"/>
          </a:solidFill>
          <a:ln/>
        </p:spPr>
      </p:sp>
      <p:sp>
        <p:nvSpPr>
          <p:cNvPr id="22" name="Text 20"/>
          <p:cNvSpPr/>
          <p:nvPr/>
        </p:nvSpPr>
        <p:spPr>
          <a:xfrm>
            <a:off x="5020056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(Histopathology)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41464" y="3200400"/>
            <a:ext cx="2084832" cy="548640"/>
          </a:xfrm>
          <a:prstGeom prst="roundRect">
            <a:avLst>
              <a:gd name="adj" fmla="val 13333"/>
            </a:avLst>
          </a:prstGeom>
          <a:solidFill>
            <a:srgbClr val="004A66"/>
          </a:solidFill>
          <a:ln/>
        </p:spPr>
      </p:sp>
      <p:sp>
        <p:nvSpPr>
          <p:cNvPr id="24" name="Text 22"/>
          <p:cNvSpPr/>
          <p:nvPr/>
        </p:nvSpPr>
        <p:spPr>
          <a:xfrm>
            <a:off x="7141464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TrOCR+LoRA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(Rx OCR)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262872" y="3200400"/>
            <a:ext cx="2084832" cy="548640"/>
          </a:xfrm>
          <a:prstGeom prst="roundRect">
            <a:avLst>
              <a:gd name="adj" fmla="val 13333"/>
            </a:avLst>
          </a:prstGeom>
          <a:solidFill>
            <a:srgbClr val="004A66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 LoRA/GPTQ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(Clinical LLM)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0" y="3950208"/>
            <a:ext cx="822960" cy="320040"/>
          </a:xfrm>
          <a:prstGeom prst="downArrow">
            <a:avLst/>
          </a:prstGeom>
          <a:solidFill>
            <a:srgbClr val="0077A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37083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004A66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3708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Layer  —  LangGraph FSM · Triage → Semantic → Reasoning → Emergency → Report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0" y="5394960"/>
            <a:ext cx="822960" cy="292608"/>
          </a:xfrm>
          <a:prstGeom prst="downArrow">
            <a:avLst/>
          </a:prstGeom>
          <a:solidFill>
            <a:srgbClr val="0077A8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5779008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7790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 →  Bilingual Structured Report (JSON / PDF)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JOURNEY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19456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6" name="Text 4"/>
          <p:cNvSpPr/>
          <p:nvPr/>
        </p:nvSpPr>
        <p:spPr>
          <a:xfrm>
            <a:off x="1271016" y="2176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42900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or clinician submits an image (skin, X-ray, histology, prescription) or free-text symptoms.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50692"/>
            <a:ext cx="128016" cy="219456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0" name="Shape 8"/>
          <p:cNvSpPr/>
          <p:nvPr/>
        </p:nvSpPr>
        <p:spPr>
          <a:xfrm>
            <a:off x="2798064" y="192024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0440" y="219456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176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35224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35224" y="342900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triage node classifies the case and picks the right specialised model(s).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1184" y="3250692"/>
            <a:ext cx="128016" cy="219456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6" name="Shape 14"/>
          <p:cNvSpPr/>
          <p:nvPr/>
        </p:nvSpPr>
        <p:spPr>
          <a:xfrm>
            <a:off x="5047488" y="192024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9864" y="219456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8" name="Text 16"/>
          <p:cNvSpPr/>
          <p:nvPr/>
        </p:nvSpPr>
        <p:spPr>
          <a:xfrm>
            <a:off x="5769864" y="2176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84648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84648" y="342900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vision model or the clinical LLM produces a prediction with confidence scores.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50608" y="3250692"/>
            <a:ext cx="128016" cy="219456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6912" y="192024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19288" y="219456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19288" y="2176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434072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342900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multi-agent layer applies clinical logic, SOCRATES follow-ups and an emergency check.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00032" y="3250692"/>
            <a:ext cx="128016" cy="219456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8" name="Shape 26"/>
          <p:cNvSpPr/>
          <p:nvPr/>
        </p:nvSpPr>
        <p:spPr>
          <a:xfrm>
            <a:off x="9546336" y="192024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68712" y="219456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30" name="Text 28"/>
          <p:cNvSpPr/>
          <p:nvPr/>
        </p:nvSpPr>
        <p:spPr>
          <a:xfrm>
            <a:off x="10268712" y="2176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683496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83496" y="3429000"/>
            <a:ext cx="1810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bilingual, structured report is generated and returned through the FastAPI service.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DERMATOLOGY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Disease Classification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ResNet50, two-stage fine-tuning on the HAM10000 dermoscopy dataset.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ResNet50 (ImageNet-pretrained), new dropout(0.35) + linear head over 7 lesion classes.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fine-tuning: Stage 1 trains only the classifier head (6 epochs); Stage 2 unfreezes layer3/layer4 for deep fine-tuning (24 epochs).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optimiser with a cosine-annealed learning-rate schedule per stage; label smoothing (0.05) on cross-entropy.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expanded from ~10k to 42,000 images via targeted augmentation to correct severe class imbalance across the 7 diagnostic categories.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train/validation split; early stopping on weighted F1 with patience of 10 epochs.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920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Clinical-Grade Performance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98.18%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30936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0.9855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04672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0.9996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78408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80760" y="393192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38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Coverage (HAM10000)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43708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Melanoma, Melanocytic Nevi, Basal Cell Carcinoma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Actinic Keratoses, Benign Keratosis-like Lesions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Dermatofibroma, Vascular Lesions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RADIOLOGY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Pneumonia Detection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with LoRA adapters, patient-level leakage-safe evaluation.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ResNet50, binary head (NORMAL vs. PNEUMONIA); LoRA (r=8, α=16) applied only to layer3 / layer4 conv layers.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520K of 24M parameters are trainable (2.16%) — the rest of the backbone stays frozen.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GroupShuffleSplit prevents the same patient's images appearing in both train and test.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264 overlapping patients were detected and removed from the official test set (624 → 208 images) to eliminate data leakage.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loss handles the 2.9× NORMAL/PNEUMONIA imbalance; cosine LR schedule with warmup.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920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Test Performance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30936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0.964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04672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978408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 Recall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80760" y="393192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38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Recall Matters Here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43708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threshold tuned for screening: 100% pneumonia sensitivity at 70.3% specificity.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overlays visualise the lung regions driving each prediction for clinician trust.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PATHOLOGY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Histopathology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 transfer learning on the BreaKHis microscopy dataset.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DenseNet121 (ImageNet-pretrained, frozen), global-average pooling + dropout(0.3) + sigmoid head for benign vs. malignant.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7,909 histology images across 8 tumour subtypes, split at the patient level: 4,993 train / 1,161 val / 1,755 test.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weights (benign 1.71× / malignant 0.71×) compensate for the benign/malignant imbalance in training.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with ReduceLROnPlateau; best checkpoint restored automatically when validation loss stops improving.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920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Performance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81.7%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30936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04672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AUC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7,909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78408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80760" y="393192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38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for This Module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43708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EfficientNet-B5 fine-tuning stage planned on top of the DenseNet121 baseline.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Magnification-aware evaluation (40×/100×/200×/400×) to report subtype-level accuracy.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PHARMACY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Prescription OCR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 + LoRA fine-tuning on RxHandBD, with lexicon-based post-correction.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microsoft/trocr-base-handwritten (Vision Encoder-Decoder) fine-tuned on 5,578 handwritten prescription word images (RxHandBD).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(r=24, α=48) applied to the decoder's q/k/v/out-projection layers; mixed-precision (bf16/fp16) training.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LR schedule with warmup; monitors validation loss, exact-match accuracy, CER and WER every epoch.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Lexicon-based fuzzy post-correction (RapidFuzz) snaps near-miss predictions to known drug names — the lexicon is built only from the training split to avoid test-time leakage.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920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Active fine-tuning &amp; iteration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9360" y="2788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tracked via CER / WER / exact-match accuracy each epoch; hyperparameters recently reset after a checkpoint-management pass.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393192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384653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Fixes Along the Way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3708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LoRA target modules from BERT-style to BART-style naming (q_proj / v_proj).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a torchao/PEFT version conflict; hardened the checkpoint save path with safetensors.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REASONING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LLM &amp; Multi-Agent Reasoning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LLaMA-2-7B fine-tuned with LoRA + GPTQ, orchestrated by a 5-node LangGraph.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4-Stage Curriculum Fine-Tuning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384048" cy="384048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267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240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Foundation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325880" y="2514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LLaMA-2-7B base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108960"/>
            <a:ext cx="384048" cy="384048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090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3063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Injection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25880" y="3337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(16M) + Clinical Protocols (36k)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384048" cy="384048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13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862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Training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QA: 100k doctor-patient pairs (LoRA adapters)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754880"/>
            <a:ext cx="384048" cy="384048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736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4709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GPTQ Quantisation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325880" y="4983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4-bit: 26GB → 13GB, ~5.9s inference on a Tesla T4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80760" y="1783080"/>
            <a:ext cx="5532120" cy="2606040"/>
          </a:xfrm>
          <a:prstGeom prst="roundRect">
            <a:avLst>
              <a:gd name="adj" fmla="val 3158"/>
            </a:avLst>
          </a:prstGeom>
          <a:solidFill>
            <a:srgbClr val="38465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5-Node Multi-Agent 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224028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Node — keyword detection &amp; FSM state management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Node — LLM-driven validation for NLU gaps (SBERT 82.2% vs. TF-IDF 32%)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Node — clinical logic &amp; SOCRATES follow-up questions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Node — real-time critical-symptom escalation branch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Node — bilingual structured report generation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4526280"/>
            <a:ext cx="5532120" cy="1417320"/>
          </a:xfrm>
          <a:prstGeom prst="roundRect">
            <a:avLst>
              <a:gd name="adj" fmla="val 5806"/>
            </a:avLst>
          </a:prstGeom>
          <a:solidFill>
            <a:srgbClr val="004A66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4663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309360" y="5120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 Accuracy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4663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~5.9s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046720" y="5120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784080" y="4663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784080" y="5120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IT WITH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Technologies &amp;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🖼️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508760" y="246888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1508760" y="24688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87168" y="2468880"/>
            <a:ext cx="955548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11" name="Text 9"/>
          <p:cNvSpPr/>
          <p:nvPr/>
        </p:nvSpPr>
        <p:spPr>
          <a:xfrm>
            <a:off x="2487168" y="2468880"/>
            <a:ext cx="9555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TorchVision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552444" y="246888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13" name="Text 11"/>
          <p:cNvSpPr/>
          <p:nvPr/>
        </p:nvSpPr>
        <p:spPr>
          <a:xfrm>
            <a:off x="3552444" y="24688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30852" y="2468880"/>
            <a:ext cx="955548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0852" y="2468880"/>
            <a:ext cx="9555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2889504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288950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22376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&amp; OCR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223760" y="2468880"/>
            <a:ext cx="217170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0" y="2468880"/>
            <a:ext cx="21717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Transformers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505188" y="246888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25" name="Text 23"/>
          <p:cNvSpPr/>
          <p:nvPr/>
        </p:nvSpPr>
        <p:spPr>
          <a:xfrm>
            <a:off x="9505188" y="24688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0483596" y="246888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27" name="Text 25"/>
          <p:cNvSpPr/>
          <p:nvPr/>
        </p:nvSpPr>
        <p:spPr>
          <a:xfrm>
            <a:off x="10483596" y="24688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23760" y="2889504"/>
            <a:ext cx="130302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29" name="Text 27"/>
          <p:cNvSpPr/>
          <p:nvPr/>
        </p:nvSpPr>
        <p:spPr>
          <a:xfrm>
            <a:off x="7223760" y="2889504"/>
            <a:ext cx="13030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jiwer (CER/WER)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50876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Fine-Tuning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08760" y="4617720"/>
            <a:ext cx="955548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35" name="Text 33"/>
          <p:cNvSpPr/>
          <p:nvPr/>
        </p:nvSpPr>
        <p:spPr>
          <a:xfrm>
            <a:off x="1508760" y="4617720"/>
            <a:ext cx="9555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PEFT / LoRA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574036" y="4617720"/>
            <a:ext cx="1997964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37" name="Text 35"/>
          <p:cNvSpPr/>
          <p:nvPr/>
        </p:nvSpPr>
        <p:spPr>
          <a:xfrm>
            <a:off x="2574036" y="4617720"/>
            <a:ext cx="1997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GPTQ 4-bit Quantisation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08760" y="5038344"/>
            <a:ext cx="1042416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39" name="Text 37"/>
          <p:cNvSpPr/>
          <p:nvPr/>
        </p:nvSpPr>
        <p:spPr>
          <a:xfrm>
            <a:off x="1508760" y="5038344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bitsandbytes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41" name="Shape 39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42" name="Text 40"/>
          <p:cNvSpPr/>
          <p:nvPr/>
        </p:nvSpPr>
        <p:spPr>
          <a:xfrm>
            <a:off x="6492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22376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&amp; Serving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23760" y="461772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45" name="Text 43"/>
          <p:cNvSpPr/>
          <p:nvPr/>
        </p:nvSpPr>
        <p:spPr>
          <a:xfrm>
            <a:off x="72237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202168" y="461772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47" name="Text 45"/>
          <p:cNvSpPr/>
          <p:nvPr/>
        </p:nvSpPr>
        <p:spPr>
          <a:xfrm>
            <a:off x="8202168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180576" y="461772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49" name="Text 47"/>
          <p:cNvSpPr/>
          <p:nvPr/>
        </p:nvSpPr>
        <p:spPr>
          <a:xfrm>
            <a:off x="9180576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0158984" y="461772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004A6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58984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Models Comparison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322576" cy="502920"/>
          </a:xfrm>
          <a:prstGeom prst="roundRect">
            <a:avLst>
              <a:gd name="adj" fmla="val 16364"/>
            </a:avLst>
          </a:prstGeom>
          <a:solidFill>
            <a:srgbClr val="004A6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926080" y="1828800"/>
            <a:ext cx="2093976" cy="502920"/>
          </a:xfrm>
          <a:prstGeom prst="roundRect">
            <a:avLst>
              <a:gd name="adj" fmla="val 16364"/>
            </a:avLst>
          </a:prstGeom>
          <a:solidFill>
            <a:srgbClr val="004A66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82880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74920" y="1828800"/>
            <a:ext cx="2093976" cy="502920"/>
          </a:xfrm>
          <a:prstGeom prst="roundRect">
            <a:avLst>
              <a:gd name="adj" fmla="val 16364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5074920" y="182880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2093976" cy="502920"/>
          </a:xfrm>
          <a:prstGeom prst="roundRect">
            <a:avLst>
              <a:gd name="adj" fmla="val 16364"/>
            </a:avLst>
          </a:prstGeom>
          <a:solidFill>
            <a:srgbClr val="004A6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182880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 Trained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372600" y="1828800"/>
            <a:ext cx="2185416" cy="502920"/>
          </a:xfrm>
          <a:prstGeom prst="roundRect">
            <a:avLst>
              <a:gd name="adj" fmla="val 16364"/>
            </a:avLst>
          </a:prstGeom>
          <a:solidFill>
            <a:srgbClr val="004A66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1828800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Metric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23225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37744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Disease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926080" y="2377440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2999232" y="237744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74920" y="2377440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19" name="Text 17"/>
          <p:cNvSpPr/>
          <p:nvPr/>
        </p:nvSpPr>
        <p:spPr>
          <a:xfrm>
            <a:off x="5148072" y="237744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2-stage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223760" y="2377440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21" name="Text 19"/>
          <p:cNvSpPr/>
          <p:nvPr/>
        </p:nvSpPr>
        <p:spPr>
          <a:xfrm>
            <a:off x="7296912" y="237744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~24M (staged)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372600" y="2377440"/>
            <a:ext cx="218541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23" name="Text 21"/>
          <p:cNvSpPr/>
          <p:nvPr/>
        </p:nvSpPr>
        <p:spPr>
          <a:xfrm>
            <a:off x="9445752" y="2377440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98.18% acc.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090672"/>
            <a:ext cx="23225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309067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926080" y="3090672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27" name="Text 25"/>
          <p:cNvSpPr/>
          <p:nvPr/>
        </p:nvSpPr>
        <p:spPr>
          <a:xfrm>
            <a:off x="2999232" y="309067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74920" y="3090672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29" name="Text 27"/>
          <p:cNvSpPr/>
          <p:nvPr/>
        </p:nvSpPr>
        <p:spPr>
          <a:xfrm>
            <a:off x="5148072" y="309067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r=8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223760" y="3090672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31" name="Text 29"/>
          <p:cNvSpPr/>
          <p:nvPr/>
        </p:nvSpPr>
        <p:spPr>
          <a:xfrm>
            <a:off x="7296912" y="309067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520K (2.2%)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372600" y="3090672"/>
            <a:ext cx="218541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33" name="Text 31"/>
          <p:cNvSpPr/>
          <p:nvPr/>
        </p:nvSpPr>
        <p:spPr>
          <a:xfrm>
            <a:off x="9445752" y="3090672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0.964 ROC-AUC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803904"/>
            <a:ext cx="23225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35" name="Text 33"/>
          <p:cNvSpPr/>
          <p:nvPr/>
        </p:nvSpPr>
        <p:spPr>
          <a:xfrm>
            <a:off x="621792" y="38039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926080" y="3803904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37" name="Text 35"/>
          <p:cNvSpPr/>
          <p:nvPr/>
        </p:nvSpPr>
        <p:spPr>
          <a:xfrm>
            <a:off x="2999232" y="380390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74920" y="3803904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39" name="Text 37"/>
          <p:cNvSpPr/>
          <p:nvPr/>
        </p:nvSpPr>
        <p:spPr>
          <a:xfrm>
            <a:off x="5148072" y="380390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+ FT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223760" y="3803904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41" name="Text 39"/>
          <p:cNvSpPr/>
          <p:nvPr/>
        </p:nvSpPr>
        <p:spPr>
          <a:xfrm>
            <a:off x="7296912" y="380390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~1M (head)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372600" y="3803904"/>
            <a:ext cx="218541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43" name="Text 41"/>
          <p:cNvSpPr/>
          <p:nvPr/>
        </p:nvSpPr>
        <p:spPr>
          <a:xfrm>
            <a:off x="9445752" y="3803904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81.7% val acc.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517136"/>
            <a:ext cx="23225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451713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OCR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926080" y="4517136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47" name="Text 45"/>
          <p:cNvSpPr/>
          <p:nvPr/>
        </p:nvSpPr>
        <p:spPr>
          <a:xfrm>
            <a:off x="2999232" y="451713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 (ViT+GPT2)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074920" y="4517136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49" name="Text 47"/>
          <p:cNvSpPr/>
          <p:nvPr/>
        </p:nvSpPr>
        <p:spPr>
          <a:xfrm>
            <a:off x="5148072" y="451713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r=24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223760" y="4517136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51" name="Text 49"/>
          <p:cNvSpPr/>
          <p:nvPr/>
        </p:nvSpPr>
        <p:spPr>
          <a:xfrm>
            <a:off x="7296912" y="451713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training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4517136"/>
            <a:ext cx="2185416" cy="658368"/>
          </a:xfrm>
          <a:prstGeom prst="roundRect">
            <a:avLst>
              <a:gd name="adj" fmla="val 12500"/>
            </a:avLst>
          </a:prstGeom>
          <a:solidFill>
            <a:srgbClr val="243040"/>
          </a:solidFill>
          <a:ln/>
        </p:spPr>
      </p:sp>
      <p:sp>
        <p:nvSpPr>
          <p:cNvPr id="53" name="Text 51"/>
          <p:cNvSpPr/>
          <p:nvPr/>
        </p:nvSpPr>
        <p:spPr>
          <a:xfrm>
            <a:off x="9445752" y="4517136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CER/WER (tracking)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5230368"/>
            <a:ext cx="23225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55" name="Text 53"/>
          <p:cNvSpPr/>
          <p:nvPr/>
        </p:nvSpPr>
        <p:spPr>
          <a:xfrm>
            <a:off x="621792" y="5230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LLM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926080" y="5230368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57" name="Text 55"/>
          <p:cNvSpPr/>
          <p:nvPr/>
        </p:nvSpPr>
        <p:spPr>
          <a:xfrm>
            <a:off x="2999232" y="523036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LLaMA-2-7B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074920" y="5230368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59" name="Text 57"/>
          <p:cNvSpPr/>
          <p:nvPr/>
        </p:nvSpPr>
        <p:spPr>
          <a:xfrm>
            <a:off x="5148072" y="523036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+ GPTQ 4-bit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223760" y="5230368"/>
            <a:ext cx="209397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61" name="Text 59"/>
          <p:cNvSpPr/>
          <p:nvPr/>
        </p:nvSpPr>
        <p:spPr>
          <a:xfrm>
            <a:off x="7296912" y="523036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~13GB (quantised)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372600" y="5230368"/>
            <a:ext cx="2185416" cy="658368"/>
          </a:xfrm>
          <a:prstGeom prst="roundRect">
            <a:avLst>
              <a:gd name="adj" fmla="val 12500"/>
            </a:avLst>
          </a:prstGeom>
          <a:solidFill>
            <a:srgbClr val="384653"/>
          </a:solidFill>
          <a:ln/>
        </p:spPr>
      </p:sp>
      <p:sp>
        <p:nvSpPr>
          <p:cNvPr id="63" name="Text 61"/>
          <p:cNvSpPr/>
          <p:nvPr/>
        </p:nvSpPr>
        <p:spPr>
          <a:xfrm>
            <a:off x="9445752" y="5230368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82.2% SBERT acc.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RECIPE, FIVE MODELS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follows the same disciplined, reproducible loop.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27152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11784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7" name="Text 5"/>
          <p:cNvSpPr/>
          <p:nvPr/>
        </p:nvSpPr>
        <p:spPr>
          <a:xfrm>
            <a:off x="1011784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2872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7624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0" name="Shape 8"/>
          <p:cNvSpPr/>
          <p:nvPr/>
        </p:nvSpPr>
        <p:spPr>
          <a:xfrm>
            <a:off x="2136496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21128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2" name="Text 10"/>
          <p:cNvSpPr/>
          <p:nvPr/>
        </p:nvSpPr>
        <p:spPr>
          <a:xfrm>
            <a:off x="2621128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82216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Split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26968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5" name="Shape 13"/>
          <p:cNvSpPr/>
          <p:nvPr/>
        </p:nvSpPr>
        <p:spPr>
          <a:xfrm>
            <a:off x="3745840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30472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7" name="Text 15"/>
          <p:cNvSpPr/>
          <p:nvPr/>
        </p:nvSpPr>
        <p:spPr>
          <a:xfrm>
            <a:off x="4230472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91560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36312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0" name="Shape 18"/>
          <p:cNvSpPr/>
          <p:nvPr/>
        </p:nvSpPr>
        <p:spPr>
          <a:xfrm>
            <a:off x="5355184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39816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2" name="Text 20"/>
          <p:cNvSpPr/>
          <p:nvPr/>
        </p:nvSpPr>
        <p:spPr>
          <a:xfrm>
            <a:off x="5839816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00904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(Full or LoRA)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45656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5" name="Shape 23"/>
          <p:cNvSpPr/>
          <p:nvPr/>
        </p:nvSpPr>
        <p:spPr>
          <a:xfrm>
            <a:off x="6964528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49160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7" name="Text 25"/>
          <p:cNvSpPr/>
          <p:nvPr/>
        </p:nvSpPr>
        <p:spPr>
          <a:xfrm>
            <a:off x="7449160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10248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Early-Stop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455000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30" name="Shape 28"/>
          <p:cNvSpPr/>
          <p:nvPr/>
        </p:nvSpPr>
        <p:spPr>
          <a:xfrm>
            <a:off x="8573872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058504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32" name="Text 30"/>
          <p:cNvSpPr/>
          <p:nvPr/>
        </p:nvSpPr>
        <p:spPr>
          <a:xfrm>
            <a:off x="9058504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619592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064344" y="3003804"/>
            <a:ext cx="109728" cy="164592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83216" y="2377440"/>
            <a:ext cx="1481328" cy="1417320"/>
          </a:xfrm>
          <a:prstGeom prst="roundRect">
            <a:avLst>
              <a:gd name="adj" fmla="val 5806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667848" y="2542032"/>
            <a:ext cx="512064" cy="512064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37" name="Text 35"/>
          <p:cNvSpPr/>
          <p:nvPr/>
        </p:nvSpPr>
        <p:spPr>
          <a:xfrm>
            <a:off x="10667848" y="252374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228936" y="315468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737"/>
            </a:avLst>
          </a:prstGeom>
          <a:solidFill>
            <a:srgbClr val="243040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5262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seeds (Python / NumPy / PyTorch / CUDA) and deterministic cuDNN for reproducibility across every module.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Mixed-precision (AMP / bf16) training and cosine learning-rate schedules with warmup reduce GPU time without hurting accuracy.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Best-checkpoint selection is always driven by a held-out validation metric — never the final epoch — with automatic early stopping.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TRAINED 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Overview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191256" cy="457200"/>
          </a:xfrm>
          <a:prstGeom prst="roundRect">
            <a:avLst>
              <a:gd name="adj" fmla="val 18000"/>
            </a:avLst>
          </a:prstGeom>
          <a:solidFill>
            <a:srgbClr val="004A6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794760" y="1828800"/>
            <a:ext cx="2093976" cy="457200"/>
          </a:xfrm>
          <a:prstGeom prst="roundRect">
            <a:avLst>
              <a:gd name="adj" fmla="val 18000"/>
            </a:avLst>
          </a:prstGeom>
          <a:solidFill>
            <a:srgbClr val="004A66"/>
          </a:solidFill>
          <a:ln/>
        </p:spPr>
      </p:sp>
      <p:sp>
        <p:nvSpPr>
          <p:cNvPr id="7" name="Text 5"/>
          <p:cNvSpPr/>
          <p:nvPr/>
        </p:nvSpPr>
        <p:spPr>
          <a:xfrm>
            <a:off x="3794760" y="1828800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1828800"/>
            <a:ext cx="2825496" cy="457200"/>
          </a:xfrm>
          <a:prstGeom prst="roundRect">
            <a:avLst>
              <a:gd name="adj" fmla="val 18000"/>
            </a:avLst>
          </a:prstGeom>
          <a:solidFill>
            <a:srgbClr val="004A6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0" y="1828800"/>
            <a:ext cx="2825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23960" y="1828800"/>
            <a:ext cx="2734056" cy="457200"/>
          </a:xfrm>
          <a:prstGeom prst="roundRect">
            <a:avLst>
              <a:gd name="adj" fmla="val 18000"/>
            </a:avLst>
          </a:prstGeom>
          <a:solidFill>
            <a:srgbClr val="004A66"/>
          </a:solidFill>
          <a:ln/>
        </p:spPr>
      </p:sp>
      <p:sp>
        <p:nvSpPr>
          <p:cNvPr id="11" name="Text 9"/>
          <p:cNvSpPr/>
          <p:nvPr/>
        </p:nvSpPr>
        <p:spPr>
          <a:xfrm>
            <a:off x="8823960" y="1828800"/>
            <a:ext cx="2734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31912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3172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HAM10000 (balanced)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2331720"/>
            <a:ext cx="209397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15" name="Text 13"/>
          <p:cNvSpPr/>
          <p:nvPr/>
        </p:nvSpPr>
        <p:spPr>
          <a:xfrm>
            <a:off x="3886200" y="2331720"/>
            <a:ext cx="192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Dermoscopy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331720"/>
            <a:ext cx="282549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2331720"/>
            <a:ext cx="2660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~42,000 imgs (expanded)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23960" y="2331720"/>
            <a:ext cx="27340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19" name="Text 17"/>
          <p:cNvSpPr/>
          <p:nvPr/>
        </p:nvSpPr>
        <p:spPr>
          <a:xfrm>
            <a:off x="8915400" y="2331720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7-class skin lesion classification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154680"/>
            <a:ext cx="319125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Chest X-Ray Pneumonia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3154680"/>
            <a:ext cx="209397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23" name="Text 21"/>
          <p:cNvSpPr/>
          <p:nvPr/>
        </p:nvSpPr>
        <p:spPr>
          <a:xfrm>
            <a:off x="3886200" y="3154680"/>
            <a:ext cx="192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43600" y="3154680"/>
            <a:ext cx="282549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0" y="3154680"/>
            <a:ext cx="2660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5,232 pool + 208 leakage-safe test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823960" y="3154680"/>
            <a:ext cx="273405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27" name="Text 25"/>
          <p:cNvSpPr/>
          <p:nvPr/>
        </p:nvSpPr>
        <p:spPr>
          <a:xfrm>
            <a:off x="8915400" y="3154680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pneumonia detection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977640"/>
            <a:ext cx="31912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77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BreaKHis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94760" y="3977640"/>
            <a:ext cx="209397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31" name="Text 29"/>
          <p:cNvSpPr/>
          <p:nvPr/>
        </p:nvSpPr>
        <p:spPr>
          <a:xfrm>
            <a:off x="3886200" y="3977640"/>
            <a:ext cx="192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43600" y="3977640"/>
            <a:ext cx="282549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33" name="Text 31"/>
          <p:cNvSpPr/>
          <p:nvPr/>
        </p:nvSpPr>
        <p:spPr>
          <a:xfrm>
            <a:off x="6035040" y="3977640"/>
            <a:ext cx="2660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7,909 images, 8 subtypes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23960" y="3977640"/>
            <a:ext cx="27340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35" name="Text 33"/>
          <p:cNvSpPr/>
          <p:nvPr/>
        </p:nvSpPr>
        <p:spPr>
          <a:xfrm>
            <a:off x="8915400" y="3977640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benign/malignant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4800600"/>
            <a:ext cx="319125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480060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RxHandBD-ML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794760" y="4800600"/>
            <a:ext cx="209397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39" name="Text 37"/>
          <p:cNvSpPr/>
          <p:nvPr/>
        </p:nvSpPr>
        <p:spPr>
          <a:xfrm>
            <a:off x="3886200" y="4800600"/>
            <a:ext cx="192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Handwriting / Pharmacy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943600" y="4800600"/>
            <a:ext cx="282549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41" name="Text 39"/>
          <p:cNvSpPr/>
          <p:nvPr/>
        </p:nvSpPr>
        <p:spPr>
          <a:xfrm>
            <a:off x="6035040" y="4800600"/>
            <a:ext cx="2660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5,578 word images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823960" y="4800600"/>
            <a:ext cx="2734056" cy="777240"/>
          </a:xfrm>
          <a:prstGeom prst="roundRect">
            <a:avLst>
              <a:gd name="adj" fmla="val 10588"/>
            </a:avLst>
          </a:prstGeom>
          <a:solidFill>
            <a:srgbClr val="243040"/>
          </a:solidFill>
          <a:ln/>
        </p:spPr>
      </p:sp>
      <p:sp>
        <p:nvSpPr>
          <p:cNvPr id="43" name="Text 41"/>
          <p:cNvSpPr/>
          <p:nvPr/>
        </p:nvSpPr>
        <p:spPr>
          <a:xfrm>
            <a:off x="8915400" y="4800600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text recognition (OCR)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623560"/>
            <a:ext cx="31912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562356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+ Clinical Protocols + Medical QA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794760" y="5623560"/>
            <a:ext cx="209397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47" name="Text 45"/>
          <p:cNvSpPr/>
          <p:nvPr/>
        </p:nvSpPr>
        <p:spPr>
          <a:xfrm>
            <a:off x="3886200" y="5623560"/>
            <a:ext cx="192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NLP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943600" y="5623560"/>
            <a:ext cx="282549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49" name="Text 47"/>
          <p:cNvSpPr/>
          <p:nvPr/>
        </p:nvSpPr>
        <p:spPr>
          <a:xfrm>
            <a:off x="6035040" y="5623560"/>
            <a:ext cx="2660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+ 36k + 100k pairs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823960" y="5623560"/>
            <a:ext cx="2734056" cy="777240"/>
          </a:xfrm>
          <a:prstGeom prst="roundRect">
            <a:avLst>
              <a:gd name="adj" fmla="val 10588"/>
            </a:avLst>
          </a:prstGeom>
          <a:solidFill>
            <a:srgbClr val="384653"/>
          </a:solidFill>
          <a:ln/>
        </p:spPr>
      </p:sp>
      <p:sp>
        <p:nvSpPr>
          <p:cNvPr id="51" name="Text 49"/>
          <p:cNvSpPr/>
          <p:nvPr/>
        </p:nvSpPr>
        <p:spPr>
          <a:xfrm>
            <a:off x="8915400" y="5623560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LLM fine-tuning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SPLITS RIGHT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&amp; Leakage Prevention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and histopathology data are split by patient ID, not by image — so no patient's scans appear in both train and test.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🕵️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23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Audit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chest X-ray, 264 overlapping patients were found between the official train/val pool and test set and removed (624 → 208 test images).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weights (BreaKHis, X-Ray) and dataset expansion via augmentation (HAM10000, 10k → 42k) correct label imbalance before training.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Skin-lesion train/validation split is stratified by class so every diagnostic category is represented proportionally.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MOST OF LIMITED DATA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Techniques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38465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38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Disease (ResNet50)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97680" y="193852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resized crop, horizontal &amp; vertical flip, ±25° rotation, colour jitter (brightness/contrast/saturation/hue)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24304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81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(ResNet50+LoRA)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308152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flip, ±10° rotation, colour jitter (brightness/contrast) — kept mild to preserve diagnostic texture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3846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224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OCR (TrOCR)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422452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PIL-level geometric &amp; photometric augmentation — intentionally reduced after early trials over-distorted characters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24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67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Histopathology (DenseNet121)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536752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sampling in lieu of aggressive image augmentation, to preserve subtle tissue texture cues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BACKBONE STRATEGY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Skin, X-ray and histopathology modules all follow the same transfer-learning flow.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372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3688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7365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8" name="Shape 6"/>
          <p:cNvSpPr/>
          <p:nvPr/>
        </p:nvSpPr>
        <p:spPr>
          <a:xfrm>
            <a:off x="243824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140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&amp;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4817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1" name="Shape 9"/>
          <p:cNvSpPr/>
          <p:nvPr/>
        </p:nvSpPr>
        <p:spPr>
          <a:xfrm>
            <a:off x="431276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592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(train only)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2269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4" name="Shape 12"/>
          <p:cNvSpPr/>
          <p:nvPr/>
        </p:nvSpPr>
        <p:spPr>
          <a:xfrm>
            <a:off x="618728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004A6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6044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Backbone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9721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180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496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7173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0" name="Shape 18"/>
          <p:cNvSpPr/>
          <p:nvPr/>
        </p:nvSpPr>
        <p:spPr>
          <a:xfrm>
            <a:off x="993632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09480" y="2103120"/>
            <a:ext cx="1545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11064240" cy="2057400"/>
          </a:xfrm>
          <a:prstGeom prst="roundRect">
            <a:avLst>
              <a:gd name="adj" fmla="val 4000"/>
            </a:avLst>
          </a:prstGeom>
          <a:solidFill>
            <a:srgbClr val="24304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Choice Per Module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48056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for skin lesions (full staged fine-tune) and chest X-rays (frozen backbone + LoRA adapters on layer3/layer4).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 for histopathology — dense connections help propagate fine-grained texture features from tissue slides.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backbone starts from ImageNet weights: faster convergence and better performance on our comparatively small medical datasets.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DOCTOR'S HANDWRITING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TrOCR's vision-encoder / text-decoder architecture, fine-tuned with LoRA.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372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859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Image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7365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8" name="Shape 6"/>
          <p:cNvSpPr/>
          <p:nvPr/>
        </p:nvSpPr>
        <p:spPr>
          <a:xfrm>
            <a:off x="243824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004A6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9311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4817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1" name="Shape 9"/>
          <p:cNvSpPr/>
          <p:nvPr/>
        </p:nvSpPr>
        <p:spPr>
          <a:xfrm>
            <a:off x="431276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004A6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6763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GPT-2-style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(+LoRA)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2269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4" name="Shape 12"/>
          <p:cNvSpPr/>
          <p:nvPr/>
        </p:nvSpPr>
        <p:spPr>
          <a:xfrm>
            <a:off x="618728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4215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Text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89721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180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1667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Fuzzy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771736" y="268833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20" name="Shape 18"/>
          <p:cNvSpPr/>
          <p:nvPr/>
        </p:nvSpPr>
        <p:spPr>
          <a:xfrm>
            <a:off x="9936328" y="210312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991192" y="2103120"/>
            <a:ext cx="1581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Name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11064240" cy="2057400"/>
          </a:xfrm>
          <a:prstGeom prst="roundRect">
            <a:avLst>
              <a:gd name="adj" fmla="val 4000"/>
            </a:avLst>
          </a:prstGeom>
          <a:solidFill>
            <a:srgbClr val="24304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Lexicon Correction Matters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48056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names are not dictionary words, so a generic language model has no prior to fall back on for small character-level slips.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 matches near-miss predictions (e.g. "Nexcitae") to the closest valid name in a lexicon built only from the training split.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tracked with CER, WER and exact-match accuracy per epoch — not accuracy alone — since single-character errors matter clinically.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MODULE, ONE 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Dashboard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97480" cy="3794760"/>
          </a:xfrm>
          <a:prstGeom prst="roundRect">
            <a:avLst>
              <a:gd name="adj" fmla="val 3051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965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Disease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0.9855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3977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4480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4892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10712" y="1783080"/>
            <a:ext cx="2697480" cy="3794760"/>
          </a:xfrm>
          <a:prstGeom prst="roundRect">
            <a:avLst>
              <a:gd name="adj" fmla="val 3051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47872" y="1965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7872" y="2651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47872" y="3063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47872" y="3977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47872" y="4480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547872" y="4892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2784" y="1783080"/>
            <a:ext cx="2697480" cy="3794760"/>
          </a:xfrm>
          <a:prstGeom prst="roundRect">
            <a:avLst>
              <a:gd name="adj" fmla="val 3051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9944" y="1965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9944" y="2651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81.7%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9944" y="3063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9944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9944" y="3977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AUC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9944" y="4480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7,909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09944" y="4892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134856" y="1783080"/>
            <a:ext cx="2697480" cy="3794760"/>
          </a:xfrm>
          <a:prstGeom prst="roundRect">
            <a:avLst>
              <a:gd name="adj" fmla="val 3051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272016" y="1965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LLM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272016" y="2651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82.2%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272016" y="3063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 Acc.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272016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~5.9s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272016" y="3977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272016" y="4480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272016" y="4892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NUMBERS, SIDE BY SIDE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Comparison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metrics are not directly comparable across tasks (accuracy vs. semantic-similarity accuracy) — shown together for a single-glance overview only.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IN PRACTICE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Clinical Impact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🩺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First-Read Triage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and X-ray models return a probability-scored assessment in seconds instead of a specialist queue.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93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🧾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23760" y="1984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Prescription Handling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35000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lexicon correction turns ambiguous handwriting into a validated drug name before it reaches a pharmacist.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Reporting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report ships in English and Arabic, widening access for non-English-speaking patients.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38465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Emergency-Aware Reasoning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4498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multi-agent Emergency Node can flag a case for immediate escalation rather than waiting on the full pipeline.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NOTEBOOK TO SERVICE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 Workflow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372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1859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/ Web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73656" y="236829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7" name="Shape 5"/>
          <p:cNvSpPr/>
          <p:nvPr/>
        </p:nvSpPr>
        <p:spPr>
          <a:xfrm>
            <a:off x="243824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9311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48176" y="236829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0" name="Shape 8"/>
          <p:cNvSpPr/>
          <p:nvPr/>
        </p:nvSpPr>
        <p:spPr>
          <a:xfrm>
            <a:off x="431276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004A6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6763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22696" y="236829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3" name="Shape 11"/>
          <p:cNvSpPr/>
          <p:nvPr/>
        </p:nvSpPr>
        <p:spPr>
          <a:xfrm>
            <a:off x="618728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004A66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4215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Model(s)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97216" y="236829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180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1667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Parser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771736" y="2368296"/>
            <a:ext cx="146304" cy="201168"/>
          </a:xfrm>
          <a:prstGeom prst="rightArrow">
            <a:avLst/>
          </a:prstGeom>
          <a:solidFill>
            <a:srgbClr val="95CCDA"/>
          </a:solidFill>
          <a:ln/>
        </p:spPr>
      </p:sp>
      <p:sp>
        <p:nvSpPr>
          <p:cNvPr id="19" name="Shape 17"/>
          <p:cNvSpPr/>
          <p:nvPr/>
        </p:nvSpPr>
        <p:spPr>
          <a:xfrm>
            <a:off x="9936328" y="1828800"/>
            <a:ext cx="1691640" cy="1280160"/>
          </a:xfrm>
          <a:prstGeom prst="roundRect">
            <a:avLst>
              <a:gd name="adj" fmla="val 6429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991192" y="1828800"/>
            <a:ext cx="1581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PDF Report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772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Infrastructure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772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Pydantic + LangChain handle async clinical API requests.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</p:spPr>
      </p:sp>
      <p:sp>
        <p:nvSpPr>
          <p:cNvPr id="27" name="Shape 25"/>
          <p:cNvSpPr/>
          <p:nvPr/>
        </p:nvSpPr>
        <p:spPr>
          <a:xfrm>
            <a:off x="4526280" y="38404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28" name="Text 26"/>
          <p:cNvSpPr/>
          <p:nvPr/>
        </p:nvSpPr>
        <p:spPr>
          <a:xfrm>
            <a:off x="452628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2628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Reliability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52628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hallucination rate observed; the Emergency Node adds a real-time safety net.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384653"/>
          </a:solidFill>
          <a:ln/>
        </p:spPr>
      </p:sp>
      <p:sp>
        <p:nvSpPr>
          <p:cNvPr id="32" name="Shape 30"/>
          <p:cNvSpPr/>
          <p:nvPr/>
        </p:nvSpPr>
        <p:spPr>
          <a:xfrm>
            <a:off x="8275320" y="3840480"/>
            <a:ext cx="548640" cy="54864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33" name="Text 31"/>
          <p:cNvSpPr/>
          <p:nvPr/>
        </p:nvSpPr>
        <p:spPr>
          <a:xfrm>
            <a:off x="827532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827532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Stack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27532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Pydantic-validated, async-first design is ready for containerised cloud deployment.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GOT IN OUR WAY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 Learned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69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in HAM10000 and BreaKHis required targeted augmentation and class-weighted losses.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data leakage in the chest X-ray test set was silently inflating early accuracy figures until we audited it.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PEFT / torchao version conflicts and LoRA target-module naming mismatches (BERT- vs. BART-style) blocked training runs more than once.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TrOCR's non-dictionary vocabulary (drug names) made raw model accuracy an unreliable success signal on its own.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38465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split by patient, not by image, for any medical imaging dataset — leakage is easy to miss and easy to fix.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LoRA/PEFT dramatically lowers the cost of specialising large backbones, but exact target-module names must match the architecture family.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task-appropriate metrics (CER/WER for OCR, balanced accuracy for imbalanced classes) rather than accuracy alone.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remove a pinned `pip install` line without verifying it is truly redundant — version drift breaks training silently.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MEDINOVA-AI GOES NEXT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🧫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OCR Fine-Tuning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TrOCR training run and report final CER/WER/exact-match on the held-out RxHandBD test set.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10" name="Shape 8"/>
          <p:cNvSpPr/>
          <p:nvPr/>
        </p:nvSpPr>
        <p:spPr>
          <a:xfrm>
            <a:off x="4480560" y="19659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🔬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8056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 Upgrade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0560" y="2971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EfficientNet-B5 on BreaKHis and compare against the DenseNet121 baseline at native resolution.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0" y="19659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Client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0" y="2971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 lightweight mobile app so patients can submit images directly into the pipeline.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4343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🗣️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31520" y="4937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More Languages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1520" y="5349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bilingual report generator with voice input and additional regional languages.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0" y="416052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25" name="Shape 23"/>
          <p:cNvSpPr/>
          <p:nvPr/>
        </p:nvSpPr>
        <p:spPr>
          <a:xfrm>
            <a:off x="4480560" y="4343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🏥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480560" y="4937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Study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80560" y="5349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a clinical site for a prospective evaluation against specialist ground truth.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46720" y="416052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384653"/>
          </a:solidFill>
          <a:ln/>
        </p:spPr>
      </p:sp>
      <p:sp>
        <p:nvSpPr>
          <p:cNvPr id="30" name="Shape 28"/>
          <p:cNvSpPr/>
          <p:nvPr/>
        </p:nvSpPr>
        <p:spPr>
          <a:xfrm>
            <a:off x="8229600" y="4343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29600" y="4937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/ Privacy-Preserving Training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0" y="5349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federated learning so future fine-tuning does not require centralising patient images.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04A6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0077A8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IT TOGETHER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5669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 shows that five independently fine-tuned, efficiently trained models — spanning dermatology, radiology, histopathology, OCR and clinical reasoning — can be unified into a single, bilingual, multi-agent diagnostic assistant.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3611880" cy="2377440"/>
          </a:xfrm>
          <a:prstGeom prst="roundRect">
            <a:avLst>
              <a:gd name="adj" fmla="val 3462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34540" y="347472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9" name="Text 7"/>
          <p:cNvSpPr/>
          <p:nvPr/>
        </p:nvSpPr>
        <p:spPr>
          <a:xfrm>
            <a:off x="2034540" y="34564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✓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models, one platform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4800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OCR and language reasoning share a single orchestration layer.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200400"/>
            <a:ext cx="3611880" cy="2377440"/>
          </a:xfrm>
          <a:prstGeom prst="roundRect">
            <a:avLst>
              <a:gd name="adj" fmla="val 3462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29300" y="347472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4" name="Text 12"/>
          <p:cNvSpPr/>
          <p:nvPr/>
        </p:nvSpPr>
        <p:spPr>
          <a:xfrm>
            <a:off x="5829300" y="34564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✓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26280" y="42976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by design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26280" y="4800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seeds, patient-level splits and PEFT keep every result auditable.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200400"/>
            <a:ext cx="3611880" cy="2377440"/>
          </a:xfrm>
          <a:prstGeom prst="roundRect">
            <a:avLst>
              <a:gd name="adj" fmla="val 3462"/>
            </a:avLst>
          </a:prstGeom>
          <a:solidFill>
            <a:srgbClr val="38465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24060" y="3474720"/>
            <a:ext cx="640080" cy="640080"/>
          </a:xfrm>
          <a:prstGeom prst="ellipse">
            <a:avLst/>
          </a:prstGeom>
          <a:solidFill>
            <a:srgbClr val="0077A8"/>
          </a:solidFill>
          <a:ln/>
        </p:spPr>
      </p:sp>
      <p:sp>
        <p:nvSpPr>
          <p:cNvPr id="19" name="Text 17"/>
          <p:cNvSpPr/>
          <p:nvPr/>
        </p:nvSpPr>
        <p:spPr>
          <a:xfrm>
            <a:off x="9624060" y="34564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✓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321040" y="42976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keep growing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21040" y="4800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roadmap extends accuracy, coverage and clinical validation.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E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04A6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0077A8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468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66928" y="34290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5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MediNova-AI  ·  Fady Yousef, Salma Samak, Rokia Hassan, Fares Waleed, Alaa Abdelhakeem, Afnan Magdy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2026-07-10T22:52:05Z</dcterms:created>
  <dcterms:modified xsi:type="dcterms:W3CDTF">2026-07-10T22:52:05Z</dcterms:modified>
</cp:coreProperties>
</file>